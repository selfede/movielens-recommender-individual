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Ratings</c:v>
                </c:pt>
              </c:strCache>
            </c:strRef>
          </c:tx>
          <c:spPr>
            <a:solidFill>
              <a:srgbClr val="E5091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0.5</c:v>
                  </c:pt>
                  <c:pt idx="1">
                    <c:v>1</c:v>
                  </c:pt>
                  <c:pt idx="2">
                    <c:v>1.5</c:v>
                  </c:pt>
                  <c:pt idx="3">
                    <c:v>2</c:v>
                  </c:pt>
                  <c:pt idx="4">
                    <c:v>2.5</c:v>
                  </c:pt>
                  <c:pt idx="5">
                    <c:v>3</c:v>
                  </c:pt>
                  <c:pt idx="6">
                    <c:v>3.5</c:v>
                  </c:pt>
                  <c:pt idx="7">
                    <c:v>4</c:v>
                  </c:pt>
                  <c:pt idx="8">
                    <c:v>4.5</c:v>
                  </c:pt>
                  <c:pt idx="9">
                    <c:v>5</c:v>
                  </c:pt>
                </c:lvl>
              </c:multiLvlStrCache>
            </c:multiLvlStrRef>
          </c:cat>
          <c:val>
            <c:numRef>
              <c:f>Sheet1!$B$2:$B$11</c:f>
              <c:numCache>
                <c:formatCode>General</c:formatCode>
                <c:ptCount val="10"/>
                <c:pt idx="0">
                  <c:v>1370</c:v>
                </c:pt>
                <c:pt idx="1">
                  <c:v>2811</c:v>
                </c:pt>
                <c:pt idx="2">
                  <c:v>1791</c:v>
                </c:pt>
                <c:pt idx="3">
                  <c:v>7551</c:v>
                </c:pt>
                <c:pt idx="4">
                  <c:v>5765</c:v>
                </c:pt>
                <c:pt idx="5">
                  <c:v>20047</c:v>
                </c:pt>
                <c:pt idx="6">
                  <c:v>13136</c:v>
                </c:pt>
                <c:pt idx="7">
                  <c:v>26818</c:v>
                </c:pt>
                <c:pt idx="8">
                  <c:v>12674</c:v>
                </c:pt>
                <c:pt idx="9">
                  <c:v>13211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B3B3B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A2A2A"/>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B3B3B3"/>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1E1E1E"/>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B3B3B3"/>
                </a:solidFill>
                <a:latin typeface="Arial"/>
              </a:defRPr>
            </a:pPr>
            <a:r>
              <a:rPr sz="1000" b="0" i="0" u="none" strike="noStrike">
                <a:solidFill>
                  <a:srgbClr val="B3B3B3"/>
                </a:solidFill>
                <a:latin typeface="Arial"/>
              </a:rPr>
              <a:t>Top 10 Users by Ratings Given</a:t>
            </a:r>
          </a:p>
        </c:rich>
      </c:tx>
      <c:layout/>
      <c:overlay val="0"/>
    </c:title>
    <c:autoTitleDeleted val="0"/>
    <c:plotArea>
      <c:layout/>
      <c:barChart>
        <c:barDir val="bar"/>
        <c:grouping val="clustered"/>
        <c:varyColors val="0"/>
        <c:ser>
          <c:idx val="0"/>
          <c:order val="0"/>
          <c:tx>
            <c:strRef>
              <c:f>Sheet1!$B$1</c:f>
              <c:strCache>
                <c:ptCount val="1"/>
                <c:pt idx="0">
                  <c:v>Ratings given</c:v>
                </c:pt>
              </c:strCache>
            </c:strRef>
          </c:tx>
          <c:spPr>
            <a:solidFill>
              <a:srgbClr val="E5091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U414</c:v>
                  </c:pt>
                  <c:pt idx="1">
                    <c:v>U599</c:v>
                  </c:pt>
                  <c:pt idx="2">
                    <c:v>U474</c:v>
                  </c:pt>
                  <c:pt idx="3">
                    <c:v>U448</c:v>
                  </c:pt>
                  <c:pt idx="4">
                    <c:v>U274</c:v>
                  </c:pt>
                  <c:pt idx="5">
                    <c:v>U564</c:v>
                  </c:pt>
                  <c:pt idx="6">
                    <c:v>U62</c:v>
                  </c:pt>
                  <c:pt idx="7">
                    <c:v>U547</c:v>
                  </c:pt>
                  <c:pt idx="8">
                    <c:v>U294</c:v>
                  </c:pt>
                  <c:pt idx="9">
                    <c:v>U380</c:v>
                  </c:pt>
                </c:lvl>
              </c:multiLvlStrCache>
            </c:multiLvlStrRef>
          </c:cat>
          <c:val>
            <c:numRef>
              <c:f>Sheet1!$B$2:$B$11</c:f>
              <c:numCache>
                <c:formatCode>General</c:formatCode>
                <c:ptCount val="10"/>
                <c:pt idx="0">
                  <c:v>2698</c:v>
                </c:pt>
                <c:pt idx="1">
                  <c:v>2478</c:v>
                </c:pt>
                <c:pt idx="2">
                  <c:v>2108</c:v>
                </c:pt>
                <c:pt idx="3">
                  <c:v>1864</c:v>
                </c:pt>
                <c:pt idx="4">
                  <c:v>1646</c:v>
                </c:pt>
                <c:pt idx="5">
                  <c:v>1594</c:v>
                </c:pt>
                <c:pt idx="6">
                  <c:v>1582</c:v>
                </c:pt>
                <c:pt idx="7">
                  <c:v>1520</c:v>
                </c:pt>
                <c:pt idx="8">
                  <c:v>1480</c:v>
                </c:pt>
                <c:pt idx="9">
                  <c:v>1458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B3B3B3"/>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2A2A2A"/>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200" b="0" i="0" u="none" strike="noStrike">
                <a:solidFill>
                  <a:srgbClr val="B3B3B3"/>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1E1E1E"/>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B3B3B3"/>
                </a:solidFill>
                <a:latin typeface="Arial"/>
              </a:defRPr>
            </a:pPr>
            <a:r>
              <a:rPr sz="1000" b="0" i="0" u="none" strike="noStrike">
                <a:solidFill>
                  <a:srgbClr val="B3B3B3"/>
                </a:solidFill>
                <a:latin typeface="Arial"/>
              </a:rPr>
              <a:t>Top 10 Most Rated Movies</a:t>
            </a:r>
          </a:p>
        </c:rich>
      </c:tx>
      <c:layout/>
      <c:overlay val="0"/>
    </c:title>
    <c:autoTitleDeleted val="0"/>
    <c:plotArea>
      <c:layout/>
      <c:barChart>
        <c:barDir val="bar"/>
        <c:grouping val="clustered"/>
        <c:varyColors val="0"/>
        <c:ser>
          <c:idx val="0"/>
          <c:order val="0"/>
          <c:tx>
            <c:strRef>
              <c:f>Sheet1!$B$1</c:f>
              <c:strCache>
                <c:ptCount val="1"/>
                <c:pt idx="0">
                  <c:v>Rating count</c:v>
                </c:pt>
              </c:strCache>
            </c:strRef>
          </c:tx>
          <c:spPr>
            <a:solidFill>
              <a:srgbClr val="B2071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Forrest Gump</c:v>
                  </c:pt>
                  <c:pt idx="1">
                    <c:v>Shawshank Red.</c:v>
                  </c:pt>
                  <c:pt idx="2">
                    <c:v>Pulp Fiction</c:v>
                  </c:pt>
                  <c:pt idx="3">
                    <c:v>Silence/Lambs</c:v>
                  </c:pt>
                  <c:pt idx="4">
                    <c:v>Matrix, The</c:v>
                  </c:pt>
                  <c:pt idx="5">
                    <c:v>Star Wars IV</c:v>
                  </c:pt>
                  <c:pt idx="6">
                    <c:v>Jurassic Park</c:v>
                  </c:pt>
                  <c:pt idx="7">
                    <c:v>Braveheart</c:v>
                  </c:pt>
                  <c:pt idx="8">
                    <c:v>Terminator 2</c:v>
                  </c:pt>
                  <c:pt idx="9">
                    <c:v>Schindler's L.</c:v>
                  </c:pt>
                </c:lvl>
              </c:multiLvlStrCache>
            </c:multiLvlStrRef>
          </c:cat>
          <c:val>
            <c:numRef>
              <c:f>Sheet1!$B$2:$B$11</c:f>
              <c:numCache>
                <c:formatCode>General</c:formatCode>
                <c:ptCount val="10"/>
                <c:pt idx="0">
                  <c:v>329</c:v>
                </c:pt>
                <c:pt idx="1">
                  <c:v>317</c:v>
                </c:pt>
                <c:pt idx="2">
                  <c:v>307</c:v>
                </c:pt>
                <c:pt idx="3">
                  <c:v>279</c:v>
                </c:pt>
                <c:pt idx="4">
                  <c:v>278</c:v>
                </c:pt>
                <c:pt idx="5">
                  <c:v>251</c:v>
                </c:pt>
                <c:pt idx="6">
                  <c:v>238</c:v>
                </c:pt>
                <c:pt idx="7">
                  <c:v>237</c:v>
                </c:pt>
                <c:pt idx="8">
                  <c:v>235</c:v>
                </c:pt>
                <c:pt idx="9">
                  <c:v>234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B3B3B3"/>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2A2A2A"/>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200" b="0" i="0" u="none" strike="noStrike">
                <a:solidFill>
                  <a:srgbClr val="B3B3B3"/>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1E1E1E"/>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50914"/>
          </a:solidFill>
          <a:ln w="12700">
            <a:solidFill>
              <a:srgbClr val="E50914"/>
            </a:solidFill>
            <a:prstDash val="solid"/>
          </a:ln>
        </p:spPr>
      </p:sp>
      <p:sp>
        <p:nvSpPr>
          <p:cNvPr id="3" name="Shape 1"/>
          <p:cNvSpPr/>
          <p:nvPr/>
        </p:nvSpPr>
        <p:spPr>
          <a:xfrm>
            <a:off x="0" y="5088636"/>
            <a:ext cx="9144000" cy="54864"/>
          </a:xfrm>
          <a:prstGeom prst="rect">
            <a:avLst/>
          </a:prstGeom>
          <a:solidFill>
            <a:srgbClr val="E50914"/>
          </a:solidFill>
          <a:ln w="12700">
            <a:solidFill>
              <a:srgbClr val="E50914"/>
            </a:solidFill>
            <a:prstDash val="solid"/>
          </a:ln>
        </p:spPr>
      </p:sp>
      <p:sp>
        <p:nvSpPr>
          <p:cNvPr id="4" name="Shape 2"/>
          <p:cNvSpPr/>
          <p:nvPr/>
        </p:nvSpPr>
        <p:spPr>
          <a:xfrm>
            <a:off x="164592" y="274320"/>
            <a:ext cx="201168" cy="320040"/>
          </a:xfrm>
          <a:prstGeom prst="roundRect">
            <a:avLst>
              <a:gd name="adj" fmla="val 18182"/>
            </a:avLst>
          </a:prstGeom>
          <a:solidFill>
            <a:srgbClr val="2A2A2A"/>
          </a:solidFill>
          <a:ln w="12700">
            <a:solidFill>
              <a:srgbClr val="333333"/>
            </a:solidFill>
            <a:prstDash val="solid"/>
          </a:ln>
        </p:spPr>
      </p:sp>
      <p:sp>
        <p:nvSpPr>
          <p:cNvPr id="5" name="Shape 3"/>
          <p:cNvSpPr/>
          <p:nvPr/>
        </p:nvSpPr>
        <p:spPr>
          <a:xfrm>
            <a:off x="8778240" y="274320"/>
            <a:ext cx="201168" cy="320040"/>
          </a:xfrm>
          <a:prstGeom prst="roundRect">
            <a:avLst>
              <a:gd name="adj" fmla="val 18182"/>
            </a:avLst>
          </a:prstGeom>
          <a:solidFill>
            <a:srgbClr val="2A2A2A"/>
          </a:solidFill>
          <a:ln w="12700">
            <a:solidFill>
              <a:srgbClr val="333333"/>
            </a:solidFill>
            <a:prstDash val="solid"/>
          </a:ln>
        </p:spPr>
      </p:sp>
      <p:sp>
        <p:nvSpPr>
          <p:cNvPr id="6" name="Shape 4"/>
          <p:cNvSpPr/>
          <p:nvPr/>
        </p:nvSpPr>
        <p:spPr>
          <a:xfrm>
            <a:off x="164592" y="804672"/>
            <a:ext cx="201168" cy="320040"/>
          </a:xfrm>
          <a:prstGeom prst="roundRect">
            <a:avLst>
              <a:gd name="adj" fmla="val 18182"/>
            </a:avLst>
          </a:prstGeom>
          <a:solidFill>
            <a:srgbClr val="2A2A2A"/>
          </a:solidFill>
          <a:ln w="12700">
            <a:solidFill>
              <a:srgbClr val="333333"/>
            </a:solidFill>
            <a:prstDash val="solid"/>
          </a:ln>
        </p:spPr>
      </p:sp>
      <p:sp>
        <p:nvSpPr>
          <p:cNvPr id="7" name="Shape 5"/>
          <p:cNvSpPr/>
          <p:nvPr/>
        </p:nvSpPr>
        <p:spPr>
          <a:xfrm>
            <a:off x="8778240" y="804672"/>
            <a:ext cx="201168" cy="320040"/>
          </a:xfrm>
          <a:prstGeom prst="roundRect">
            <a:avLst>
              <a:gd name="adj" fmla="val 18182"/>
            </a:avLst>
          </a:prstGeom>
          <a:solidFill>
            <a:srgbClr val="2A2A2A"/>
          </a:solidFill>
          <a:ln w="12700">
            <a:solidFill>
              <a:srgbClr val="333333"/>
            </a:solidFill>
            <a:prstDash val="solid"/>
          </a:ln>
        </p:spPr>
      </p:sp>
      <p:sp>
        <p:nvSpPr>
          <p:cNvPr id="8" name="Shape 6"/>
          <p:cNvSpPr/>
          <p:nvPr/>
        </p:nvSpPr>
        <p:spPr>
          <a:xfrm>
            <a:off x="164592" y="1335024"/>
            <a:ext cx="201168" cy="320040"/>
          </a:xfrm>
          <a:prstGeom prst="roundRect">
            <a:avLst>
              <a:gd name="adj" fmla="val 18182"/>
            </a:avLst>
          </a:prstGeom>
          <a:solidFill>
            <a:srgbClr val="2A2A2A"/>
          </a:solidFill>
          <a:ln w="12700">
            <a:solidFill>
              <a:srgbClr val="333333"/>
            </a:solidFill>
            <a:prstDash val="solid"/>
          </a:ln>
        </p:spPr>
      </p:sp>
      <p:sp>
        <p:nvSpPr>
          <p:cNvPr id="9" name="Shape 7"/>
          <p:cNvSpPr/>
          <p:nvPr/>
        </p:nvSpPr>
        <p:spPr>
          <a:xfrm>
            <a:off x="8778240" y="1335024"/>
            <a:ext cx="201168" cy="320040"/>
          </a:xfrm>
          <a:prstGeom prst="roundRect">
            <a:avLst>
              <a:gd name="adj" fmla="val 18182"/>
            </a:avLst>
          </a:prstGeom>
          <a:solidFill>
            <a:srgbClr val="2A2A2A"/>
          </a:solidFill>
          <a:ln w="12700">
            <a:solidFill>
              <a:srgbClr val="333333"/>
            </a:solidFill>
            <a:prstDash val="solid"/>
          </a:ln>
        </p:spPr>
      </p:sp>
      <p:sp>
        <p:nvSpPr>
          <p:cNvPr id="10" name="Shape 8"/>
          <p:cNvSpPr/>
          <p:nvPr/>
        </p:nvSpPr>
        <p:spPr>
          <a:xfrm>
            <a:off x="164592" y="1865376"/>
            <a:ext cx="201168" cy="320040"/>
          </a:xfrm>
          <a:prstGeom prst="roundRect">
            <a:avLst>
              <a:gd name="adj" fmla="val 18182"/>
            </a:avLst>
          </a:prstGeom>
          <a:solidFill>
            <a:srgbClr val="2A2A2A"/>
          </a:solidFill>
          <a:ln w="12700">
            <a:solidFill>
              <a:srgbClr val="333333"/>
            </a:solidFill>
            <a:prstDash val="solid"/>
          </a:ln>
        </p:spPr>
      </p:sp>
      <p:sp>
        <p:nvSpPr>
          <p:cNvPr id="11" name="Shape 9"/>
          <p:cNvSpPr/>
          <p:nvPr/>
        </p:nvSpPr>
        <p:spPr>
          <a:xfrm>
            <a:off x="8778240" y="1865376"/>
            <a:ext cx="201168" cy="320040"/>
          </a:xfrm>
          <a:prstGeom prst="roundRect">
            <a:avLst>
              <a:gd name="adj" fmla="val 18182"/>
            </a:avLst>
          </a:prstGeom>
          <a:solidFill>
            <a:srgbClr val="2A2A2A"/>
          </a:solidFill>
          <a:ln w="12700">
            <a:solidFill>
              <a:srgbClr val="333333"/>
            </a:solidFill>
            <a:prstDash val="solid"/>
          </a:ln>
        </p:spPr>
      </p:sp>
      <p:sp>
        <p:nvSpPr>
          <p:cNvPr id="12" name="Shape 10"/>
          <p:cNvSpPr/>
          <p:nvPr/>
        </p:nvSpPr>
        <p:spPr>
          <a:xfrm>
            <a:off x="164592" y="2395728"/>
            <a:ext cx="201168" cy="320040"/>
          </a:xfrm>
          <a:prstGeom prst="roundRect">
            <a:avLst>
              <a:gd name="adj" fmla="val 18182"/>
            </a:avLst>
          </a:prstGeom>
          <a:solidFill>
            <a:srgbClr val="2A2A2A"/>
          </a:solidFill>
          <a:ln w="12700">
            <a:solidFill>
              <a:srgbClr val="333333"/>
            </a:solidFill>
            <a:prstDash val="solid"/>
          </a:ln>
        </p:spPr>
      </p:sp>
      <p:sp>
        <p:nvSpPr>
          <p:cNvPr id="13" name="Shape 11"/>
          <p:cNvSpPr/>
          <p:nvPr/>
        </p:nvSpPr>
        <p:spPr>
          <a:xfrm>
            <a:off x="8778240" y="2395728"/>
            <a:ext cx="201168" cy="320040"/>
          </a:xfrm>
          <a:prstGeom prst="roundRect">
            <a:avLst>
              <a:gd name="adj" fmla="val 18182"/>
            </a:avLst>
          </a:prstGeom>
          <a:solidFill>
            <a:srgbClr val="2A2A2A"/>
          </a:solidFill>
          <a:ln w="12700">
            <a:solidFill>
              <a:srgbClr val="333333"/>
            </a:solidFill>
            <a:prstDash val="solid"/>
          </a:ln>
        </p:spPr>
      </p:sp>
      <p:sp>
        <p:nvSpPr>
          <p:cNvPr id="14" name="Shape 12"/>
          <p:cNvSpPr/>
          <p:nvPr/>
        </p:nvSpPr>
        <p:spPr>
          <a:xfrm>
            <a:off x="164592" y="2926080"/>
            <a:ext cx="201168" cy="320040"/>
          </a:xfrm>
          <a:prstGeom prst="roundRect">
            <a:avLst>
              <a:gd name="adj" fmla="val 18182"/>
            </a:avLst>
          </a:prstGeom>
          <a:solidFill>
            <a:srgbClr val="2A2A2A"/>
          </a:solidFill>
          <a:ln w="12700">
            <a:solidFill>
              <a:srgbClr val="333333"/>
            </a:solidFill>
            <a:prstDash val="solid"/>
          </a:ln>
        </p:spPr>
      </p:sp>
      <p:sp>
        <p:nvSpPr>
          <p:cNvPr id="15" name="Shape 13"/>
          <p:cNvSpPr/>
          <p:nvPr/>
        </p:nvSpPr>
        <p:spPr>
          <a:xfrm>
            <a:off x="8778240" y="2926080"/>
            <a:ext cx="201168" cy="320040"/>
          </a:xfrm>
          <a:prstGeom prst="roundRect">
            <a:avLst>
              <a:gd name="adj" fmla="val 18182"/>
            </a:avLst>
          </a:prstGeom>
          <a:solidFill>
            <a:srgbClr val="2A2A2A"/>
          </a:solidFill>
          <a:ln w="12700">
            <a:solidFill>
              <a:srgbClr val="333333"/>
            </a:solidFill>
            <a:prstDash val="solid"/>
          </a:ln>
        </p:spPr>
      </p:sp>
      <p:sp>
        <p:nvSpPr>
          <p:cNvPr id="16" name="Shape 14"/>
          <p:cNvSpPr/>
          <p:nvPr/>
        </p:nvSpPr>
        <p:spPr>
          <a:xfrm>
            <a:off x="164592" y="3456432"/>
            <a:ext cx="201168" cy="320040"/>
          </a:xfrm>
          <a:prstGeom prst="roundRect">
            <a:avLst>
              <a:gd name="adj" fmla="val 18182"/>
            </a:avLst>
          </a:prstGeom>
          <a:solidFill>
            <a:srgbClr val="2A2A2A"/>
          </a:solidFill>
          <a:ln w="12700">
            <a:solidFill>
              <a:srgbClr val="333333"/>
            </a:solidFill>
            <a:prstDash val="solid"/>
          </a:ln>
        </p:spPr>
      </p:sp>
      <p:sp>
        <p:nvSpPr>
          <p:cNvPr id="17" name="Shape 15"/>
          <p:cNvSpPr/>
          <p:nvPr/>
        </p:nvSpPr>
        <p:spPr>
          <a:xfrm>
            <a:off x="8778240" y="3456432"/>
            <a:ext cx="201168" cy="320040"/>
          </a:xfrm>
          <a:prstGeom prst="roundRect">
            <a:avLst>
              <a:gd name="adj" fmla="val 18182"/>
            </a:avLst>
          </a:prstGeom>
          <a:solidFill>
            <a:srgbClr val="2A2A2A"/>
          </a:solidFill>
          <a:ln w="12700">
            <a:solidFill>
              <a:srgbClr val="333333"/>
            </a:solidFill>
            <a:prstDash val="solid"/>
          </a:ln>
        </p:spPr>
      </p:sp>
      <p:sp>
        <p:nvSpPr>
          <p:cNvPr id="18" name="Shape 16"/>
          <p:cNvSpPr/>
          <p:nvPr/>
        </p:nvSpPr>
        <p:spPr>
          <a:xfrm>
            <a:off x="164592" y="3986784"/>
            <a:ext cx="201168" cy="320040"/>
          </a:xfrm>
          <a:prstGeom prst="roundRect">
            <a:avLst>
              <a:gd name="adj" fmla="val 18182"/>
            </a:avLst>
          </a:prstGeom>
          <a:solidFill>
            <a:srgbClr val="2A2A2A"/>
          </a:solidFill>
          <a:ln w="12700">
            <a:solidFill>
              <a:srgbClr val="333333"/>
            </a:solidFill>
            <a:prstDash val="solid"/>
          </a:ln>
        </p:spPr>
      </p:sp>
      <p:sp>
        <p:nvSpPr>
          <p:cNvPr id="19" name="Shape 17"/>
          <p:cNvSpPr/>
          <p:nvPr/>
        </p:nvSpPr>
        <p:spPr>
          <a:xfrm>
            <a:off x="8778240" y="3986784"/>
            <a:ext cx="201168" cy="320040"/>
          </a:xfrm>
          <a:prstGeom prst="roundRect">
            <a:avLst>
              <a:gd name="adj" fmla="val 18182"/>
            </a:avLst>
          </a:prstGeom>
          <a:solidFill>
            <a:srgbClr val="2A2A2A"/>
          </a:solidFill>
          <a:ln w="12700">
            <a:solidFill>
              <a:srgbClr val="333333"/>
            </a:solidFill>
            <a:prstDash val="solid"/>
          </a:ln>
        </p:spPr>
      </p:sp>
      <p:sp>
        <p:nvSpPr>
          <p:cNvPr id="20" name="Shape 18"/>
          <p:cNvSpPr/>
          <p:nvPr/>
        </p:nvSpPr>
        <p:spPr>
          <a:xfrm>
            <a:off x="164592" y="4517136"/>
            <a:ext cx="201168" cy="320040"/>
          </a:xfrm>
          <a:prstGeom prst="roundRect">
            <a:avLst>
              <a:gd name="adj" fmla="val 18182"/>
            </a:avLst>
          </a:prstGeom>
          <a:solidFill>
            <a:srgbClr val="2A2A2A"/>
          </a:solidFill>
          <a:ln w="12700">
            <a:solidFill>
              <a:srgbClr val="333333"/>
            </a:solidFill>
            <a:prstDash val="solid"/>
          </a:ln>
        </p:spPr>
      </p:sp>
      <p:sp>
        <p:nvSpPr>
          <p:cNvPr id="21" name="Shape 19"/>
          <p:cNvSpPr/>
          <p:nvPr/>
        </p:nvSpPr>
        <p:spPr>
          <a:xfrm>
            <a:off x="8778240" y="4517136"/>
            <a:ext cx="201168" cy="320040"/>
          </a:xfrm>
          <a:prstGeom prst="roundRect">
            <a:avLst>
              <a:gd name="adj" fmla="val 18182"/>
            </a:avLst>
          </a:prstGeom>
          <a:solidFill>
            <a:srgbClr val="2A2A2A"/>
          </a:solidFill>
          <a:ln w="12700">
            <a:solidFill>
              <a:srgbClr val="333333"/>
            </a:solidFill>
            <a:prstDash val="solid"/>
          </a:ln>
        </p:spPr>
      </p:sp>
      <p:sp>
        <p:nvSpPr>
          <p:cNvPr id="22" name="Shape 20"/>
          <p:cNvSpPr/>
          <p:nvPr/>
        </p:nvSpPr>
        <p:spPr>
          <a:xfrm>
            <a:off x="640080" y="1371600"/>
            <a:ext cx="109728" cy="2194560"/>
          </a:xfrm>
          <a:prstGeom prst="rect">
            <a:avLst/>
          </a:prstGeom>
          <a:solidFill>
            <a:srgbClr val="E50914"/>
          </a:solidFill>
          <a:ln w="12700">
            <a:solidFill>
              <a:srgbClr val="E50914"/>
            </a:solidFill>
            <a:prstDash val="solid"/>
          </a:ln>
        </p:spPr>
      </p:sp>
      <p:sp>
        <p:nvSpPr>
          <p:cNvPr id="23" name="Text 21"/>
          <p:cNvSpPr/>
          <p:nvPr/>
        </p:nvSpPr>
        <p:spPr>
          <a:xfrm>
            <a:off x="914400" y="1325880"/>
            <a:ext cx="7315200" cy="868680"/>
          </a:xfrm>
          <a:prstGeom prst="rect">
            <a:avLst/>
          </a:prstGeom>
          <a:noFill/>
          <a:ln/>
        </p:spPr>
        <p:txBody>
          <a:bodyPr wrap="square" lIns="0" tIns="0" rIns="0" bIns="0" rtlCol="0" anchor="ctr"/>
          <a:lstStyle/>
          <a:p>
            <a:pPr indent="0" marL="0">
              <a:buNone/>
            </a:pPr>
            <a:r>
              <a:rPr lang="en-US" sz="6400" b="1" dirty="0">
                <a:solidFill>
                  <a:srgbClr val="FFFFFF"/>
                </a:solidFill>
                <a:latin typeface="Arial" pitchFamily="34" charset="0"/>
                <a:ea typeface="Arial" pitchFamily="34" charset="-122"/>
                <a:cs typeface="Arial" pitchFamily="34" charset="-120"/>
              </a:rPr>
              <a:t>MovieLens</a:t>
            </a:r>
            <a:endParaRPr lang="en-US" sz="6400" dirty="0"/>
          </a:p>
        </p:txBody>
      </p:sp>
      <p:sp>
        <p:nvSpPr>
          <p:cNvPr id="24" name="Text 22"/>
          <p:cNvSpPr/>
          <p:nvPr/>
        </p:nvSpPr>
        <p:spPr>
          <a:xfrm>
            <a:off x="914400" y="2103120"/>
            <a:ext cx="7315200" cy="685800"/>
          </a:xfrm>
          <a:prstGeom prst="rect">
            <a:avLst/>
          </a:prstGeom>
          <a:noFill/>
          <a:ln/>
        </p:spPr>
        <p:txBody>
          <a:bodyPr wrap="square" lIns="0" tIns="0" rIns="0" bIns="0" rtlCol="0" anchor="ctr"/>
          <a:lstStyle/>
          <a:p>
            <a:pPr indent="0" marL="0">
              <a:buNone/>
            </a:pPr>
            <a:r>
              <a:rPr lang="en-US" sz="3800" dirty="0">
                <a:solidFill>
                  <a:srgbClr val="E50914"/>
                </a:solidFill>
                <a:latin typeface="Arial" pitchFamily="34" charset="0"/>
                <a:ea typeface="Arial" pitchFamily="34" charset="-122"/>
                <a:cs typeface="Arial" pitchFamily="34" charset="-120"/>
              </a:rPr>
              <a:t>Recommender System</a:t>
            </a:r>
            <a:endParaRPr lang="en-US" sz="3800" dirty="0"/>
          </a:p>
        </p:txBody>
      </p:sp>
      <p:sp>
        <p:nvSpPr>
          <p:cNvPr id="25" name="Text 23"/>
          <p:cNvSpPr/>
          <p:nvPr/>
        </p:nvSpPr>
        <p:spPr>
          <a:xfrm>
            <a:off x="914400" y="2926080"/>
            <a:ext cx="7315200" cy="320040"/>
          </a:xfrm>
          <a:prstGeom prst="rect">
            <a:avLst/>
          </a:prstGeom>
          <a:noFill/>
          <a:ln/>
        </p:spPr>
        <p:txBody>
          <a:bodyPr wrap="square" lIns="0" tIns="0" rIns="0" bIns="0" rtlCol="0" anchor="ctr"/>
          <a:lstStyle/>
          <a:p>
            <a:pPr indent="0" marL="0">
              <a:buNone/>
            </a:pPr>
            <a:r>
              <a:rPr lang="en-US" sz="1300" dirty="0">
                <a:solidFill>
                  <a:srgbClr val="B3B3B3"/>
                </a:solidFill>
                <a:latin typeface="Arial" pitchFamily="34" charset="0"/>
                <a:ea typeface="Arial" pitchFamily="34" charset="-122"/>
                <a:cs typeface="Arial" pitchFamily="34" charset="-120"/>
              </a:rPr>
              <a:t>Esade · Recommender Systems · Individual Assignment</a:t>
            </a:r>
            <a:endParaRPr lang="en-US" sz="1300" dirty="0"/>
          </a:p>
        </p:txBody>
      </p:sp>
      <p:sp>
        <p:nvSpPr>
          <p:cNvPr id="26" name="Shape 24"/>
          <p:cNvSpPr/>
          <p:nvPr/>
        </p:nvSpPr>
        <p:spPr>
          <a:xfrm>
            <a:off x="914400" y="3429000"/>
            <a:ext cx="2377440" cy="640080"/>
          </a:xfrm>
          <a:prstGeom prst="roundRect">
            <a:avLst>
              <a:gd name="adj" fmla="val 17143"/>
            </a:avLst>
          </a:prstGeom>
          <a:solidFill>
            <a:srgbClr val="1E1E1E"/>
          </a:solidFill>
          <a:ln w="12700">
            <a:solidFill>
              <a:srgbClr val="2A2A2A"/>
            </a:solidFill>
            <a:prstDash val="solid"/>
          </a:ln>
          <a:effectLst>
            <a:outerShdw sx="100000" sy="100000" kx="0" ky="0" algn="bl" rotWithShape="0" blurRad="127000" dist="38100" dir="2700000">
              <a:srgbClr val="000000">
                <a:alpha val="40000"/>
              </a:srgbClr>
            </a:outerShdw>
          </a:effectLst>
        </p:spPr>
      </p:sp>
      <p:sp>
        <p:nvSpPr>
          <p:cNvPr id="27" name="Text 25"/>
          <p:cNvSpPr/>
          <p:nvPr/>
        </p:nvSpPr>
        <p:spPr>
          <a:xfrm>
            <a:off x="1005840" y="3493008"/>
            <a:ext cx="2194560" cy="274320"/>
          </a:xfrm>
          <a:prstGeom prst="rect">
            <a:avLst/>
          </a:prstGeom>
          <a:noFill/>
          <a:ln/>
        </p:spPr>
        <p:txBody>
          <a:bodyPr wrap="square" lIns="0" tIns="0" rIns="0" bIns="0" rtlCol="0" anchor="ctr"/>
          <a:lstStyle/>
          <a:p>
            <a:pPr indent="0" marL="0">
              <a:buNone/>
            </a:pPr>
            <a:r>
              <a:rPr lang="en-US" sz="1100" dirty="0">
                <a:solidFill>
                  <a:srgbClr val="B3B3B3"/>
                </a:solidFill>
              </a:rPr>
              <a:t>Dataset: </a:t>
            </a:r>
            <a:pPr indent="0" marL="0">
              <a:buNone/>
            </a:pPr>
            <a:r>
              <a:rPr lang="en-US" sz="1100" b="1" dirty="0">
                <a:solidFill>
                  <a:srgbClr val="FFFFFF"/>
                </a:solidFill>
              </a:rPr>
              <a:t>MovieLens ml-latest-small</a:t>
            </a:r>
            <a:endParaRPr lang="en-US" sz="1100" dirty="0"/>
          </a:p>
        </p:txBody>
      </p:sp>
      <p:sp>
        <p:nvSpPr>
          <p:cNvPr id="28" name="Text 26"/>
          <p:cNvSpPr/>
          <p:nvPr/>
        </p:nvSpPr>
        <p:spPr>
          <a:xfrm>
            <a:off x="1005840" y="3703320"/>
            <a:ext cx="2194560" cy="256032"/>
          </a:xfrm>
          <a:prstGeom prst="rect">
            <a:avLst/>
          </a:prstGeom>
          <a:noFill/>
          <a:ln/>
        </p:spPr>
        <p:txBody>
          <a:bodyPr wrap="square" lIns="0" tIns="0" rIns="0" bIns="0" rtlCol="0" anchor="ctr"/>
          <a:lstStyle/>
          <a:p>
            <a:pPr indent="0" marL="0">
              <a:buNone/>
            </a:pPr>
            <a:r>
              <a:rPr lang="en-US" sz="1000" dirty="0">
                <a:solidFill>
                  <a:srgbClr val="B3B3B3"/>
                </a:solidFill>
              </a:rPr>
              <a:t>100,836 ratings  ·  9,742 movies  ·  610 users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50914"/>
          </a:solidFill>
          <a:ln w="12700">
            <a:solidFill>
              <a:srgbClr val="E50914"/>
            </a:solidFill>
            <a:prstDash val="solid"/>
          </a:ln>
        </p:spPr>
      </p:sp>
      <p:sp>
        <p:nvSpPr>
          <p:cNvPr id="3" name="Shape 1"/>
          <p:cNvSpPr/>
          <p:nvPr/>
        </p:nvSpPr>
        <p:spPr>
          <a:xfrm>
            <a:off x="0" y="5088636"/>
            <a:ext cx="9144000" cy="54864"/>
          </a:xfrm>
          <a:prstGeom prst="rect">
            <a:avLst/>
          </a:prstGeom>
          <a:solidFill>
            <a:srgbClr val="E50914"/>
          </a:solidFill>
          <a:ln w="12700">
            <a:solidFill>
              <a:srgbClr val="E50914"/>
            </a:solidFill>
            <a:prstDash val="solid"/>
          </a:ln>
        </p:spPr>
      </p:sp>
      <p:sp>
        <p:nvSpPr>
          <p:cNvPr id="4" name="Shape 2"/>
          <p:cNvSpPr/>
          <p:nvPr/>
        </p:nvSpPr>
        <p:spPr>
          <a:xfrm>
            <a:off x="457200" y="164592"/>
            <a:ext cx="1463040" cy="256032"/>
          </a:xfrm>
          <a:prstGeom prst="roundRect">
            <a:avLst>
              <a:gd name="adj" fmla="val 50000"/>
            </a:avLst>
          </a:prstGeom>
          <a:solidFill>
            <a:srgbClr val="E50914"/>
          </a:solidFill>
          <a:ln w="12700">
            <a:solidFill>
              <a:srgbClr val="E50914"/>
            </a:solidFill>
            <a:prstDash val="solid"/>
          </a:ln>
        </p:spPr>
      </p:sp>
      <p:sp>
        <p:nvSpPr>
          <p:cNvPr id="5" name="Text 3"/>
          <p:cNvSpPr/>
          <p:nvPr/>
        </p:nvSpPr>
        <p:spPr>
          <a:xfrm>
            <a:off x="457200" y="164592"/>
            <a:ext cx="1463040" cy="256032"/>
          </a:xfrm>
          <a:prstGeom prst="rect">
            <a:avLst/>
          </a:prstGeom>
          <a:noFill/>
          <a:ln/>
        </p:spPr>
        <p:txBody>
          <a:bodyPr wrap="square" lIns="0" tIns="0" rIns="0" bIns="0" rtlCol="0" anchor="ctr"/>
          <a:lstStyle/>
          <a:p>
            <a:pPr algn="ctr" indent="0" marL="0">
              <a:buNone/>
            </a:pPr>
            <a:r>
              <a:rPr lang="en-US" sz="700" b="1" dirty="0">
                <a:solidFill>
                  <a:srgbClr val="FFFFFF"/>
                </a:solidFill>
              </a:rPr>
              <a:t>INTRODUCTION</a:t>
            </a:r>
            <a:endParaRPr lang="en-US" sz="700" dirty="0"/>
          </a:p>
        </p:txBody>
      </p:sp>
      <p:sp>
        <p:nvSpPr>
          <p:cNvPr id="6" name="Text 4"/>
          <p:cNvSpPr/>
          <p:nvPr/>
        </p:nvSpPr>
        <p:spPr>
          <a:xfrm>
            <a:off x="457200" y="475488"/>
            <a:ext cx="8229600" cy="50292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What is this project?</a:t>
            </a:r>
            <a:endParaRPr lang="en-US" sz="3000" dirty="0"/>
          </a:p>
        </p:txBody>
      </p:sp>
      <p:sp>
        <p:nvSpPr>
          <p:cNvPr id="7" name="Shape 5"/>
          <p:cNvSpPr/>
          <p:nvPr/>
        </p:nvSpPr>
        <p:spPr>
          <a:xfrm>
            <a:off x="457200" y="1097280"/>
            <a:ext cx="5120640" cy="3703320"/>
          </a:xfrm>
          <a:prstGeom prst="roundRect">
            <a:avLst>
              <a:gd name="adj" fmla="val 2963"/>
            </a:avLst>
          </a:prstGeom>
          <a:solidFill>
            <a:srgbClr val="1E1E1E"/>
          </a:solidFill>
          <a:ln w="12700">
            <a:solidFill>
              <a:srgbClr val="2A2A2A"/>
            </a:solidFill>
            <a:prstDash val="solid"/>
          </a:ln>
          <a:effectLst>
            <a:outerShdw sx="100000" sy="100000" kx="0" ky="0" algn="bl" rotWithShape="0" blurRad="127000" dist="38100" dir="2700000">
              <a:srgbClr val="000000">
                <a:alpha val="40000"/>
              </a:srgbClr>
            </a:outerShdw>
          </a:effectLst>
        </p:spPr>
      </p:sp>
      <p:sp>
        <p:nvSpPr>
          <p:cNvPr id="8" name="Text 6"/>
          <p:cNvSpPr/>
          <p:nvPr/>
        </p:nvSpPr>
        <p:spPr>
          <a:xfrm>
            <a:off x="640080" y="1207008"/>
            <a:ext cx="4754880" cy="640080"/>
          </a:xfrm>
          <a:prstGeom prst="rect">
            <a:avLst/>
          </a:prstGeom>
          <a:noFill/>
          <a:ln/>
        </p:spPr>
        <p:txBody>
          <a:bodyPr wrap="square" lIns="0" tIns="0" rIns="0" bIns="0" rtlCol="0" anchor="ctr"/>
          <a:lstStyle/>
          <a:p>
            <a:pPr indent="0" marL="0">
              <a:buNone/>
            </a:pPr>
            <a:r>
              <a:rPr lang="en-US" sz="1200" dirty="0">
                <a:solidFill>
                  <a:srgbClr val="FFFFFF"/>
                </a:solidFill>
              </a:rPr>
              <a:t>The goal was to build a working movie recommender system from scratch and compare how different approaches perform on the same dataset.</a:t>
            </a:r>
            <a:endParaRPr lang="en-US" sz="1200" dirty="0"/>
          </a:p>
        </p:txBody>
      </p:sp>
      <p:sp>
        <p:nvSpPr>
          <p:cNvPr id="9" name="Text 7"/>
          <p:cNvSpPr/>
          <p:nvPr/>
        </p:nvSpPr>
        <p:spPr>
          <a:xfrm>
            <a:off x="640080" y="1920240"/>
            <a:ext cx="4754880" cy="274320"/>
          </a:xfrm>
          <a:prstGeom prst="rect">
            <a:avLst/>
          </a:prstGeom>
          <a:noFill/>
          <a:ln/>
        </p:spPr>
        <p:txBody>
          <a:bodyPr wrap="square" lIns="0" tIns="0" rIns="0" bIns="0" rtlCol="0" anchor="ctr"/>
          <a:lstStyle/>
          <a:p>
            <a:pPr indent="0" marL="0">
              <a:buNone/>
            </a:pPr>
            <a:r>
              <a:rPr lang="en-US" sz="1200" b="1" dirty="0">
                <a:solidFill>
                  <a:srgbClr val="E50914"/>
                </a:solidFill>
              </a:rPr>
              <a:t>Three questions this project tries to answer:</a:t>
            </a:r>
            <a:endParaRPr lang="en-US" sz="1200" dirty="0"/>
          </a:p>
        </p:txBody>
      </p:sp>
      <p:sp>
        <p:nvSpPr>
          <p:cNvPr id="10" name="Text 8"/>
          <p:cNvSpPr/>
          <p:nvPr/>
        </p:nvSpPr>
        <p:spPr>
          <a:xfrm>
            <a:off x="640080" y="2286000"/>
            <a:ext cx="4754880" cy="566928"/>
          </a:xfrm>
          <a:prstGeom prst="rect">
            <a:avLst/>
          </a:prstGeom>
          <a:noFill/>
          <a:ln/>
        </p:spPr>
        <p:txBody>
          <a:bodyPr wrap="square" lIns="0" tIns="0" rIns="0" bIns="0" rtlCol="0" anchor="ctr"/>
          <a:lstStyle/>
          <a:p>
            <a:pPr indent="0" marL="0">
              <a:buNone/>
            </a:pPr>
            <a:r>
              <a:rPr lang="en-US" sz="1100" b="1" dirty="0">
                <a:solidFill>
                  <a:srgbClr val="E50914"/>
                </a:solidFill>
              </a:rPr>
              <a:t>1.  </a:t>
            </a:r>
            <a:pPr indent="0" marL="0">
              <a:buNone/>
            </a:pPr>
            <a:r>
              <a:rPr lang="en-US" sz="1100" dirty="0">
                <a:solidFill>
                  <a:srgbClr val="FFFFFF"/>
                </a:solidFill>
              </a:rPr>
              <a:t>Can we predict what movies a user will like, based on what similar users rated?</a:t>
            </a:r>
            <a:endParaRPr lang="en-US" sz="1100" dirty="0"/>
          </a:p>
        </p:txBody>
      </p:sp>
      <p:sp>
        <p:nvSpPr>
          <p:cNvPr id="11" name="Text 9"/>
          <p:cNvSpPr/>
          <p:nvPr/>
        </p:nvSpPr>
        <p:spPr>
          <a:xfrm>
            <a:off x="640080" y="2944368"/>
            <a:ext cx="4754880" cy="566928"/>
          </a:xfrm>
          <a:prstGeom prst="rect">
            <a:avLst/>
          </a:prstGeom>
          <a:noFill/>
          <a:ln/>
        </p:spPr>
        <p:txBody>
          <a:bodyPr wrap="square" lIns="0" tIns="0" rIns="0" bIns="0" rtlCol="0" anchor="ctr"/>
          <a:lstStyle/>
          <a:p>
            <a:pPr indent="0" marL="0">
              <a:buNone/>
            </a:pPr>
            <a:r>
              <a:rPr lang="en-US" sz="1100" b="1" dirty="0">
                <a:solidFill>
                  <a:srgbClr val="E50914"/>
                </a:solidFill>
              </a:rPr>
              <a:t>2.  </a:t>
            </a:r>
            <a:pPr indent="0" marL="0">
              <a:buNone/>
            </a:pPr>
            <a:r>
              <a:rPr lang="en-US" sz="1100" dirty="0">
                <a:solidFill>
                  <a:srgbClr val="FFFFFF"/>
                </a:solidFill>
              </a:rPr>
              <a:t>Can we recommend movies based purely on their content (genres, tags) without needing other users?</a:t>
            </a:r>
            <a:endParaRPr lang="en-US" sz="1100" dirty="0"/>
          </a:p>
        </p:txBody>
      </p:sp>
      <p:sp>
        <p:nvSpPr>
          <p:cNvPr id="12" name="Text 10"/>
          <p:cNvSpPr/>
          <p:nvPr/>
        </p:nvSpPr>
        <p:spPr>
          <a:xfrm>
            <a:off x="640080" y="3602736"/>
            <a:ext cx="4754880" cy="566928"/>
          </a:xfrm>
          <a:prstGeom prst="rect">
            <a:avLst/>
          </a:prstGeom>
          <a:noFill/>
          <a:ln/>
        </p:spPr>
        <p:txBody>
          <a:bodyPr wrap="square" lIns="0" tIns="0" rIns="0" bIns="0" rtlCol="0" anchor="ctr"/>
          <a:lstStyle/>
          <a:p>
            <a:pPr indent="0" marL="0">
              <a:buNone/>
            </a:pPr>
            <a:r>
              <a:rPr lang="en-US" sz="1100" b="1" dirty="0">
                <a:solidFill>
                  <a:srgbClr val="E50914"/>
                </a:solidFill>
              </a:rPr>
              <a:t>3.  </a:t>
            </a:r>
            <a:pPr indent="0" marL="0">
              <a:buNone/>
            </a:pPr>
            <a:r>
              <a:rPr lang="en-US" sz="1100" dirty="0">
                <a:solidFill>
                  <a:srgbClr val="FFFFFF"/>
                </a:solidFill>
              </a:rPr>
              <a:t>Do more complex models (matrix factorisation) actually do better than simple popularity ranking?</a:t>
            </a:r>
            <a:endParaRPr lang="en-US" sz="1100" dirty="0"/>
          </a:p>
        </p:txBody>
      </p:sp>
      <p:sp>
        <p:nvSpPr>
          <p:cNvPr id="13" name="Shape 11"/>
          <p:cNvSpPr/>
          <p:nvPr/>
        </p:nvSpPr>
        <p:spPr>
          <a:xfrm>
            <a:off x="5760720" y="1097280"/>
            <a:ext cx="3063240" cy="3703320"/>
          </a:xfrm>
          <a:prstGeom prst="roundRect">
            <a:avLst>
              <a:gd name="adj" fmla="val 3582"/>
            </a:avLst>
          </a:prstGeom>
          <a:solidFill>
            <a:srgbClr val="1E1E1E"/>
          </a:solidFill>
          <a:ln w="12700">
            <a:solidFill>
              <a:srgbClr val="2A2A2A"/>
            </a:solidFill>
            <a:prstDash val="solid"/>
          </a:ln>
          <a:effectLst>
            <a:outerShdw sx="100000" sy="100000" kx="0" ky="0" algn="bl" rotWithShape="0" blurRad="127000" dist="38100" dir="2700000">
              <a:srgbClr val="000000">
                <a:alpha val="40000"/>
              </a:srgbClr>
            </a:outerShdw>
          </a:effectLst>
        </p:spPr>
      </p:sp>
      <p:sp>
        <p:nvSpPr>
          <p:cNvPr id="14" name="Text 12"/>
          <p:cNvSpPr/>
          <p:nvPr/>
        </p:nvSpPr>
        <p:spPr>
          <a:xfrm>
            <a:off x="5943600" y="1188720"/>
            <a:ext cx="2743200" cy="274320"/>
          </a:xfrm>
          <a:prstGeom prst="rect">
            <a:avLst/>
          </a:prstGeom>
          <a:noFill/>
          <a:ln/>
        </p:spPr>
        <p:txBody>
          <a:bodyPr wrap="square" lIns="0" tIns="0" rIns="0" bIns="0" rtlCol="0" anchor="ctr"/>
          <a:lstStyle/>
          <a:p>
            <a:pPr indent="0" marL="0">
              <a:buNone/>
            </a:pPr>
            <a:r>
              <a:rPr lang="en-US" sz="1300" b="1" dirty="0">
                <a:solidFill>
                  <a:srgbClr val="E50914"/>
                </a:solidFill>
              </a:rPr>
              <a:t>What was built</a:t>
            </a:r>
            <a:endParaRPr lang="en-US" sz="1300" dirty="0"/>
          </a:p>
        </p:txBody>
      </p:sp>
      <p:sp>
        <p:nvSpPr>
          <p:cNvPr id="15" name="Text 13"/>
          <p:cNvSpPr/>
          <p:nvPr/>
        </p:nvSpPr>
        <p:spPr>
          <a:xfrm>
            <a:off x="5943600" y="1572768"/>
            <a:ext cx="2743200" cy="384048"/>
          </a:xfrm>
          <a:prstGeom prst="rect">
            <a:avLst/>
          </a:prstGeom>
          <a:noFill/>
          <a:ln/>
        </p:spPr>
        <p:txBody>
          <a:bodyPr wrap="square" lIns="0" tIns="0" rIns="0" bIns="0" rtlCol="0" anchor="ctr"/>
          <a:lstStyle/>
          <a:p>
            <a:pPr indent="0" marL="0">
              <a:buNone/>
            </a:pPr>
            <a:r>
              <a:rPr lang="en-US" sz="1100" b="1" dirty="0">
                <a:solidFill>
                  <a:srgbClr val="E50914"/>
                </a:solidFill>
              </a:rPr>
              <a:t>▸ </a:t>
            </a:r>
            <a:pPr indent="0" marL="0">
              <a:buNone/>
            </a:pPr>
            <a:r>
              <a:rPr lang="en-US" sz="1100" dirty="0">
                <a:solidFill>
                  <a:srgbClr val="FFFFFF"/>
                </a:solidFill>
              </a:rPr>
              <a:t>Movie track (MovieLens dataset)</a:t>
            </a:r>
            <a:endParaRPr lang="en-US" sz="1100" dirty="0"/>
          </a:p>
        </p:txBody>
      </p:sp>
      <p:sp>
        <p:nvSpPr>
          <p:cNvPr id="16" name="Text 14"/>
          <p:cNvSpPr/>
          <p:nvPr/>
        </p:nvSpPr>
        <p:spPr>
          <a:xfrm>
            <a:off x="5943600" y="2048256"/>
            <a:ext cx="2743200" cy="384048"/>
          </a:xfrm>
          <a:prstGeom prst="rect">
            <a:avLst/>
          </a:prstGeom>
          <a:noFill/>
          <a:ln/>
        </p:spPr>
        <p:txBody>
          <a:bodyPr wrap="square" lIns="0" tIns="0" rIns="0" bIns="0" rtlCol="0" anchor="ctr"/>
          <a:lstStyle/>
          <a:p>
            <a:pPr indent="0" marL="0">
              <a:buNone/>
            </a:pPr>
            <a:r>
              <a:rPr lang="en-US" sz="1100" b="1" dirty="0">
                <a:solidFill>
                  <a:srgbClr val="E50914"/>
                </a:solidFill>
              </a:rPr>
              <a:t>▸ </a:t>
            </a:r>
            <a:pPr indent="0" marL="0">
              <a:buNone/>
            </a:pPr>
            <a:r>
              <a:rPr lang="en-US" sz="1100" dirty="0">
                <a:solidFill>
                  <a:srgbClr val="FFFFFF"/>
                </a:solidFill>
              </a:rPr>
              <a:t>4 types of recommender</a:t>
            </a:r>
            <a:endParaRPr lang="en-US" sz="1100" dirty="0"/>
          </a:p>
        </p:txBody>
      </p:sp>
      <p:sp>
        <p:nvSpPr>
          <p:cNvPr id="17" name="Text 15"/>
          <p:cNvSpPr/>
          <p:nvPr/>
        </p:nvSpPr>
        <p:spPr>
          <a:xfrm>
            <a:off x="5943600" y="2523744"/>
            <a:ext cx="2743200" cy="384048"/>
          </a:xfrm>
          <a:prstGeom prst="rect">
            <a:avLst/>
          </a:prstGeom>
          <a:noFill/>
          <a:ln/>
        </p:spPr>
        <p:txBody>
          <a:bodyPr wrap="square" lIns="0" tIns="0" rIns="0" bIns="0" rtlCol="0" anchor="ctr"/>
          <a:lstStyle/>
          <a:p>
            <a:pPr indent="0" marL="0">
              <a:buNone/>
            </a:pPr>
            <a:r>
              <a:rPr lang="en-US" sz="1100" b="1" dirty="0">
                <a:solidFill>
                  <a:srgbClr val="E50914"/>
                </a:solidFill>
              </a:rPr>
              <a:t>▸ </a:t>
            </a:r>
            <a:pPr indent="0" marL="0">
              <a:buNone/>
            </a:pPr>
            <a:r>
              <a:rPr lang="en-US" sz="1100" dirty="0">
                <a:solidFill>
                  <a:srgbClr val="FFFFFF"/>
                </a:solidFill>
              </a:rPr>
              <a:t>Interactive Streamlit app</a:t>
            </a:r>
            <a:endParaRPr lang="en-US" sz="1100" dirty="0"/>
          </a:p>
        </p:txBody>
      </p:sp>
      <p:sp>
        <p:nvSpPr>
          <p:cNvPr id="18" name="Text 16"/>
          <p:cNvSpPr/>
          <p:nvPr/>
        </p:nvSpPr>
        <p:spPr>
          <a:xfrm>
            <a:off x="5943600" y="2999232"/>
            <a:ext cx="2743200" cy="384048"/>
          </a:xfrm>
          <a:prstGeom prst="rect">
            <a:avLst/>
          </a:prstGeom>
          <a:noFill/>
          <a:ln/>
        </p:spPr>
        <p:txBody>
          <a:bodyPr wrap="square" lIns="0" tIns="0" rIns="0" bIns="0" rtlCol="0" anchor="ctr"/>
          <a:lstStyle/>
          <a:p>
            <a:pPr indent="0" marL="0">
              <a:buNone/>
            </a:pPr>
            <a:r>
              <a:rPr lang="en-US" sz="1100" b="1" dirty="0">
                <a:solidFill>
                  <a:srgbClr val="E50914"/>
                </a:solidFill>
              </a:rPr>
              <a:t>▸ </a:t>
            </a:r>
            <a:pPr indent="0" marL="0">
              <a:buNone/>
            </a:pPr>
            <a:r>
              <a:rPr lang="en-US" sz="1100" dirty="0">
                <a:solidFill>
                  <a:srgbClr val="FFFFFF"/>
                </a:solidFill>
              </a:rPr>
              <a:t>5 evaluation metrics</a:t>
            </a:r>
            <a:endParaRPr lang="en-US" sz="1100" dirty="0"/>
          </a:p>
        </p:txBody>
      </p:sp>
      <p:sp>
        <p:nvSpPr>
          <p:cNvPr id="19" name="Text 17"/>
          <p:cNvSpPr/>
          <p:nvPr/>
        </p:nvSpPr>
        <p:spPr>
          <a:xfrm>
            <a:off x="5943600" y="3474720"/>
            <a:ext cx="2743200" cy="384048"/>
          </a:xfrm>
          <a:prstGeom prst="rect">
            <a:avLst/>
          </a:prstGeom>
          <a:noFill/>
          <a:ln/>
        </p:spPr>
        <p:txBody>
          <a:bodyPr wrap="square" lIns="0" tIns="0" rIns="0" bIns="0" rtlCol="0" anchor="ctr"/>
          <a:lstStyle/>
          <a:p>
            <a:pPr indent="0" marL="0">
              <a:buNone/>
            </a:pPr>
            <a:r>
              <a:rPr lang="en-US" sz="1100" b="1" dirty="0">
                <a:solidFill>
                  <a:srgbClr val="E50914"/>
                </a:solidFill>
              </a:rPr>
              <a:t>▸ </a:t>
            </a:r>
            <a:pPr indent="0" marL="0">
              <a:buNone/>
            </a:pPr>
            <a:r>
              <a:rPr lang="en-US" sz="1100" dirty="0">
                <a:solidFill>
                  <a:srgbClr val="FFFFFF"/>
                </a:solidFill>
              </a:rPr>
              <a:t>3-user side-by-side comparison</a:t>
            </a:r>
            <a:endParaRPr lang="en-US" sz="1100" dirty="0"/>
          </a:p>
        </p:txBody>
      </p:sp>
      <p:sp>
        <p:nvSpPr>
          <p:cNvPr id="20" name="Text 18"/>
          <p:cNvSpPr/>
          <p:nvPr/>
        </p:nvSpPr>
        <p:spPr>
          <a:xfrm>
            <a:off x="5943600" y="3950208"/>
            <a:ext cx="2743200" cy="384048"/>
          </a:xfrm>
          <a:prstGeom prst="rect">
            <a:avLst/>
          </a:prstGeom>
          <a:noFill/>
          <a:ln/>
        </p:spPr>
        <p:txBody>
          <a:bodyPr wrap="square" lIns="0" tIns="0" rIns="0" bIns="0" rtlCol="0" anchor="ctr"/>
          <a:lstStyle/>
          <a:p>
            <a:pPr indent="0" marL="0">
              <a:buNone/>
            </a:pPr>
            <a:r>
              <a:rPr lang="en-US" sz="1100" b="1" dirty="0">
                <a:solidFill>
                  <a:srgbClr val="E50914"/>
                </a:solidFill>
              </a:rPr>
              <a:t>▸ </a:t>
            </a:r>
            <a:pPr indent="0" marL="0">
              <a:buNone/>
            </a:pPr>
            <a:r>
              <a:rPr lang="en-US" sz="1100" dirty="0">
                <a:solidFill>
                  <a:srgbClr val="FFFFFF"/>
                </a:solidFill>
              </a:rPr>
              <a:t>Python: scikit-learn, scipy, pandas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50914"/>
          </a:solidFill>
          <a:ln w="12700">
            <a:solidFill>
              <a:srgbClr val="E50914"/>
            </a:solidFill>
            <a:prstDash val="solid"/>
          </a:ln>
        </p:spPr>
      </p:sp>
      <p:sp>
        <p:nvSpPr>
          <p:cNvPr id="3" name="Shape 1"/>
          <p:cNvSpPr/>
          <p:nvPr/>
        </p:nvSpPr>
        <p:spPr>
          <a:xfrm>
            <a:off x="0" y="5088636"/>
            <a:ext cx="9144000" cy="54864"/>
          </a:xfrm>
          <a:prstGeom prst="rect">
            <a:avLst/>
          </a:prstGeom>
          <a:solidFill>
            <a:srgbClr val="E50914"/>
          </a:solidFill>
          <a:ln w="12700">
            <a:solidFill>
              <a:srgbClr val="E50914"/>
            </a:solidFill>
            <a:prstDash val="solid"/>
          </a:ln>
        </p:spPr>
      </p:sp>
      <p:sp>
        <p:nvSpPr>
          <p:cNvPr id="4" name="Shape 2"/>
          <p:cNvSpPr/>
          <p:nvPr/>
        </p:nvSpPr>
        <p:spPr>
          <a:xfrm>
            <a:off x="457200" y="164592"/>
            <a:ext cx="1463040" cy="256032"/>
          </a:xfrm>
          <a:prstGeom prst="roundRect">
            <a:avLst>
              <a:gd name="adj" fmla="val 50000"/>
            </a:avLst>
          </a:prstGeom>
          <a:solidFill>
            <a:srgbClr val="E50914"/>
          </a:solidFill>
          <a:ln w="12700">
            <a:solidFill>
              <a:srgbClr val="E50914"/>
            </a:solidFill>
            <a:prstDash val="solid"/>
          </a:ln>
        </p:spPr>
      </p:sp>
      <p:sp>
        <p:nvSpPr>
          <p:cNvPr id="5" name="Text 3"/>
          <p:cNvSpPr/>
          <p:nvPr/>
        </p:nvSpPr>
        <p:spPr>
          <a:xfrm>
            <a:off x="457200" y="164592"/>
            <a:ext cx="1463040" cy="256032"/>
          </a:xfrm>
          <a:prstGeom prst="rect">
            <a:avLst/>
          </a:prstGeom>
          <a:noFill/>
          <a:ln/>
        </p:spPr>
        <p:txBody>
          <a:bodyPr wrap="square" lIns="0" tIns="0" rIns="0" bIns="0" rtlCol="0" anchor="ctr"/>
          <a:lstStyle/>
          <a:p>
            <a:pPr algn="ctr" indent="0" marL="0">
              <a:buNone/>
            </a:pPr>
            <a:r>
              <a:rPr lang="en-US" sz="700" b="1" dirty="0">
                <a:solidFill>
                  <a:srgbClr val="FFFFFF"/>
                </a:solidFill>
              </a:rPr>
              <a:t>DATASET</a:t>
            </a:r>
            <a:endParaRPr lang="en-US" sz="700" dirty="0"/>
          </a:p>
        </p:txBody>
      </p:sp>
      <p:sp>
        <p:nvSpPr>
          <p:cNvPr id="6" name="Text 4"/>
          <p:cNvSpPr/>
          <p:nvPr/>
        </p:nvSpPr>
        <p:spPr>
          <a:xfrm>
            <a:off x="457200" y="475488"/>
            <a:ext cx="8229600" cy="54864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Dataset Description</a:t>
            </a:r>
            <a:endParaRPr lang="en-US" sz="3000" dirty="0"/>
          </a:p>
        </p:txBody>
      </p:sp>
      <p:sp>
        <p:nvSpPr>
          <p:cNvPr id="7" name="Shape 5"/>
          <p:cNvSpPr/>
          <p:nvPr/>
        </p:nvSpPr>
        <p:spPr>
          <a:xfrm>
            <a:off x="457200" y="1143000"/>
            <a:ext cx="1828800" cy="1005840"/>
          </a:xfrm>
          <a:prstGeom prst="roundRect">
            <a:avLst>
              <a:gd name="adj" fmla="val 10909"/>
            </a:avLst>
          </a:prstGeom>
          <a:solidFill>
            <a:srgbClr val="1E1E1E"/>
          </a:solidFill>
          <a:ln w="12700">
            <a:solidFill>
              <a:srgbClr val="2A2A2A"/>
            </a:solidFill>
            <a:prstDash val="solid"/>
          </a:ln>
          <a:effectLst>
            <a:outerShdw sx="100000" sy="100000" kx="0" ky="0" algn="bl" rotWithShape="0" blurRad="127000" dist="38100" dir="2700000">
              <a:srgbClr val="000000">
                <a:alpha val="40000"/>
              </a:srgbClr>
            </a:outerShdw>
          </a:effectLst>
        </p:spPr>
      </p:sp>
      <p:sp>
        <p:nvSpPr>
          <p:cNvPr id="8" name="Text 6"/>
          <p:cNvSpPr/>
          <p:nvPr/>
        </p:nvSpPr>
        <p:spPr>
          <a:xfrm>
            <a:off x="457200" y="1234440"/>
            <a:ext cx="1828800" cy="502920"/>
          </a:xfrm>
          <a:prstGeom prst="rect">
            <a:avLst/>
          </a:prstGeom>
          <a:noFill/>
          <a:ln/>
        </p:spPr>
        <p:txBody>
          <a:bodyPr wrap="square" lIns="0" tIns="0" rIns="0" bIns="0" rtlCol="0" anchor="ctr"/>
          <a:lstStyle/>
          <a:p>
            <a:pPr algn="ctr" indent="0" marL="0">
              <a:buNone/>
            </a:pPr>
            <a:r>
              <a:rPr lang="en-US" sz="2800" b="1" dirty="0">
                <a:solidFill>
                  <a:srgbClr val="E50914"/>
                </a:solidFill>
                <a:latin typeface="Arial" pitchFamily="34" charset="0"/>
                <a:ea typeface="Arial" pitchFamily="34" charset="-122"/>
                <a:cs typeface="Arial" pitchFamily="34" charset="-120"/>
              </a:rPr>
              <a:t>100,836</a:t>
            </a:r>
            <a:endParaRPr lang="en-US" sz="2800" dirty="0"/>
          </a:p>
        </p:txBody>
      </p:sp>
      <p:sp>
        <p:nvSpPr>
          <p:cNvPr id="9" name="Text 7"/>
          <p:cNvSpPr/>
          <p:nvPr/>
        </p:nvSpPr>
        <p:spPr>
          <a:xfrm>
            <a:off x="457200" y="1719072"/>
            <a:ext cx="1828800" cy="274320"/>
          </a:xfrm>
          <a:prstGeom prst="rect">
            <a:avLst/>
          </a:prstGeom>
          <a:noFill/>
          <a:ln/>
        </p:spPr>
        <p:txBody>
          <a:bodyPr wrap="square" lIns="0" tIns="0" rIns="0" bIns="0" rtlCol="0" anchor="ctr"/>
          <a:lstStyle/>
          <a:p>
            <a:pPr algn="ctr" indent="0" marL="0">
              <a:buNone/>
            </a:pPr>
            <a:r>
              <a:rPr lang="en-US" sz="1200" dirty="0">
                <a:solidFill>
                  <a:srgbClr val="B3B3B3"/>
                </a:solidFill>
                <a:latin typeface="Arial" pitchFamily="34" charset="0"/>
                <a:ea typeface="Arial" pitchFamily="34" charset="-122"/>
                <a:cs typeface="Arial" pitchFamily="34" charset="-120"/>
              </a:rPr>
              <a:t>Ratings</a:t>
            </a:r>
            <a:endParaRPr lang="en-US" sz="1200" dirty="0"/>
          </a:p>
        </p:txBody>
      </p:sp>
      <p:sp>
        <p:nvSpPr>
          <p:cNvPr id="10" name="Shape 8"/>
          <p:cNvSpPr/>
          <p:nvPr/>
        </p:nvSpPr>
        <p:spPr>
          <a:xfrm>
            <a:off x="2542032" y="1143000"/>
            <a:ext cx="1828800" cy="1005840"/>
          </a:xfrm>
          <a:prstGeom prst="roundRect">
            <a:avLst>
              <a:gd name="adj" fmla="val 10909"/>
            </a:avLst>
          </a:prstGeom>
          <a:solidFill>
            <a:srgbClr val="1E1E1E"/>
          </a:solidFill>
          <a:ln w="12700">
            <a:solidFill>
              <a:srgbClr val="2A2A2A"/>
            </a:solidFill>
            <a:prstDash val="solid"/>
          </a:ln>
          <a:effectLst>
            <a:outerShdw sx="100000" sy="100000" kx="0" ky="0" algn="bl" rotWithShape="0" blurRad="127000" dist="38100" dir="2700000">
              <a:srgbClr val="000000">
                <a:alpha val="40000"/>
              </a:srgbClr>
            </a:outerShdw>
          </a:effectLst>
        </p:spPr>
      </p:sp>
      <p:sp>
        <p:nvSpPr>
          <p:cNvPr id="11" name="Text 9"/>
          <p:cNvSpPr/>
          <p:nvPr/>
        </p:nvSpPr>
        <p:spPr>
          <a:xfrm>
            <a:off x="2542032" y="1234440"/>
            <a:ext cx="1828800" cy="502920"/>
          </a:xfrm>
          <a:prstGeom prst="rect">
            <a:avLst/>
          </a:prstGeom>
          <a:noFill/>
          <a:ln/>
        </p:spPr>
        <p:txBody>
          <a:bodyPr wrap="square" lIns="0" tIns="0" rIns="0" bIns="0" rtlCol="0" anchor="ctr"/>
          <a:lstStyle/>
          <a:p>
            <a:pPr algn="ctr" indent="0" marL="0">
              <a:buNone/>
            </a:pPr>
            <a:r>
              <a:rPr lang="en-US" sz="2800" b="1" dirty="0">
                <a:solidFill>
                  <a:srgbClr val="E50914"/>
                </a:solidFill>
                <a:latin typeface="Arial" pitchFamily="34" charset="0"/>
                <a:ea typeface="Arial" pitchFamily="34" charset="-122"/>
                <a:cs typeface="Arial" pitchFamily="34" charset="-120"/>
              </a:rPr>
              <a:t>9,742</a:t>
            </a:r>
            <a:endParaRPr lang="en-US" sz="2800" dirty="0"/>
          </a:p>
        </p:txBody>
      </p:sp>
      <p:sp>
        <p:nvSpPr>
          <p:cNvPr id="12" name="Text 10"/>
          <p:cNvSpPr/>
          <p:nvPr/>
        </p:nvSpPr>
        <p:spPr>
          <a:xfrm>
            <a:off x="2542032" y="1719072"/>
            <a:ext cx="1828800" cy="274320"/>
          </a:xfrm>
          <a:prstGeom prst="rect">
            <a:avLst/>
          </a:prstGeom>
          <a:noFill/>
          <a:ln/>
        </p:spPr>
        <p:txBody>
          <a:bodyPr wrap="square" lIns="0" tIns="0" rIns="0" bIns="0" rtlCol="0" anchor="ctr"/>
          <a:lstStyle/>
          <a:p>
            <a:pPr algn="ctr" indent="0" marL="0">
              <a:buNone/>
            </a:pPr>
            <a:r>
              <a:rPr lang="en-US" sz="1200" dirty="0">
                <a:solidFill>
                  <a:srgbClr val="B3B3B3"/>
                </a:solidFill>
                <a:latin typeface="Arial" pitchFamily="34" charset="0"/>
                <a:ea typeface="Arial" pitchFamily="34" charset="-122"/>
                <a:cs typeface="Arial" pitchFamily="34" charset="-120"/>
              </a:rPr>
              <a:t>Movies</a:t>
            </a:r>
            <a:endParaRPr lang="en-US" sz="1200" dirty="0"/>
          </a:p>
        </p:txBody>
      </p:sp>
      <p:sp>
        <p:nvSpPr>
          <p:cNvPr id="13" name="Shape 11"/>
          <p:cNvSpPr/>
          <p:nvPr/>
        </p:nvSpPr>
        <p:spPr>
          <a:xfrm>
            <a:off x="4626864" y="1143000"/>
            <a:ext cx="1828800" cy="1005840"/>
          </a:xfrm>
          <a:prstGeom prst="roundRect">
            <a:avLst>
              <a:gd name="adj" fmla="val 10909"/>
            </a:avLst>
          </a:prstGeom>
          <a:solidFill>
            <a:srgbClr val="1E1E1E"/>
          </a:solidFill>
          <a:ln w="12700">
            <a:solidFill>
              <a:srgbClr val="2A2A2A"/>
            </a:solidFill>
            <a:prstDash val="solid"/>
          </a:ln>
          <a:effectLst>
            <a:outerShdw sx="100000" sy="100000" kx="0" ky="0" algn="bl" rotWithShape="0" blurRad="127000" dist="38100" dir="2700000">
              <a:srgbClr val="000000">
                <a:alpha val="40000"/>
              </a:srgbClr>
            </a:outerShdw>
          </a:effectLst>
        </p:spPr>
      </p:sp>
      <p:sp>
        <p:nvSpPr>
          <p:cNvPr id="14" name="Text 12"/>
          <p:cNvSpPr/>
          <p:nvPr/>
        </p:nvSpPr>
        <p:spPr>
          <a:xfrm>
            <a:off x="4626864" y="1234440"/>
            <a:ext cx="1828800" cy="502920"/>
          </a:xfrm>
          <a:prstGeom prst="rect">
            <a:avLst/>
          </a:prstGeom>
          <a:noFill/>
          <a:ln/>
        </p:spPr>
        <p:txBody>
          <a:bodyPr wrap="square" lIns="0" tIns="0" rIns="0" bIns="0" rtlCol="0" anchor="ctr"/>
          <a:lstStyle/>
          <a:p>
            <a:pPr algn="ctr" indent="0" marL="0">
              <a:buNone/>
            </a:pPr>
            <a:r>
              <a:rPr lang="en-US" sz="2800" b="1" dirty="0">
                <a:solidFill>
                  <a:srgbClr val="E50914"/>
                </a:solidFill>
                <a:latin typeface="Arial" pitchFamily="34" charset="0"/>
                <a:ea typeface="Arial" pitchFamily="34" charset="-122"/>
                <a:cs typeface="Arial" pitchFamily="34" charset="-120"/>
              </a:rPr>
              <a:t>610</a:t>
            </a:r>
            <a:endParaRPr lang="en-US" sz="2800" dirty="0"/>
          </a:p>
        </p:txBody>
      </p:sp>
      <p:sp>
        <p:nvSpPr>
          <p:cNvPr id="15" name="Text 13"/>
          <p:cNvSpPr/>
          <p:nvPr/>
        </p:nvSpPr>
        <p:spPr>
          <a:xfrm>
            <a:off x="4626864" y="1719072"/>
            <a:ext cx="1828800" cy="274320"/>
          </a:xfrm>
          <a:prstGeom prst="rect">
            <a:avLst/>
          </a:prstGeom>
          <a:noFill/>
          <a:ln/>
        </p:spPr>
        <p:txBody>
          <a:bodyPr wrap="square" lIns="0" tIns="0" rIns="0" bIns="0" rtlCol="0" anchor="ctr"/>
          <a:lstStyle/>
          <a:p>
            <a:pPr algn="ctr" indent="0" marL="0">
              <a:buNone/>
            </a:pPr>
            <a:r>
              <a:rPr lang="en-US" sz="1200" dirty="0">
                <a:solidFill>
                  <a:srgbClr val="B3B3B3"/>
                </a:solidFill>
                <a:latin typeface="Arial" pitchFamily="34" charset="0"/>
                <a:ea typeface="Arial" pitchFamily="34" charset="-122"/>
                <a:cs typeface="Arial" pitchFamily="34" charset="-120"/>
              </a:rPr>
              <a:t>Users</a:t>
            </a:r>
            <a:endParaRPr lang="en-US" sz="1200" dirty="0"/>
          </a:p>
        </p:txBody>
      </p:sp>
      <p:sp>
        <p:nvSpPr>
          <p:cNvPr id="16" name="Shape 14"/>
          <p:cNvSpPr/>
          <p:nvPr/>
        </p:nvSpPr>
        <p:spPr>
          <a:xfrm>
            <a:off x="6711696" y="1143000"/>
            <a:ext cx="1828800" cy="1005840"/>
          </a:xfrm>
          <a:prstGeom prst="roundRect">
            <a:avLst>
              <a:gd name="adj" fmla="val 10909"/>
            </a:avLst>
          </a:prstGeom>
          <a:solidFill>
            <a:srgbClr val="1E1E1E"/>
          </a:solidFill>
          <a:ln w="12700">
            <a:solidFill>
              <a:srgbClr val="2A2A2A"/>
            </a:solidFill>
            <a:prstDash val="solid"/>
          </a:ln>
          <a:effectLst>
            <a:outerShdw sx="100000" sy="100000" kx="0" ky="0" algn="bl" rotWithShape="0" blurRad="127000" dist="38100" dir="2700000">
              <a:srgbClr val="000000">
                <a:alpha val="40000"/>
              </a:srgbClr>
            </a:outerShdw>
          </a:effectLst>
        </p:spPr>
      </p:sp>
      <p:sp>
        <p:nvSpPr>
          <p:cNvPr id="17" name="Text 15"/>
          <p:cNvSpPr/>
          <p:nvPr/>
        </p:nvSpPr>
        <p:spPr>
          <a:xfrm>
            <a:off x="6711696" y="1234440"/>
            <a:ext cx="1828800" cy="502920"/>
          </a:xfrm>
          <a:prstGeom prst="rect">
            <a:avLst/>
          </a:prstGeom>
          <a:noFill/>
          <a:ln/>
        </p:spPr>
        <p:txBody>
          <a:bodyPr wrap="square" lIns="0" tIns="0" rIns="0" bIns="0" rtlCol="0" anchor="ctr"/>
          <a:lstStyle/>
          <a:p>
            <a:pPr algn="ctr" indent="0" marL="0">
              <a:buNone/>
            </a:pPr>
            <a:r>
              <a:rPr lang="en-US" sz="2800" b="1" dirty="0">
                <a:solidFill>
                  <a:srgbClr val="E50914"/>
                </a:solidFill>
                <a:latin typeface="Arial" pitchFamily="34" charset="0"/>
                <a:ea typeface="Arial" pitchFamily="34" charset="-122"/>
                <a:cs typeface="Arial" pitchFamily="34" charset="-120"/>
              </a:rPr>
              <a:t>98.3%</a:t>
            </a:r>
            <a:endParaRPr lang="en-US" sz="2800" dirty="0"/>
          </a:p>
        </p:txBody>
      </p:sp>
      <p:sp>
        <p:nvSpPr>
          <p:cNvPr id="18" name="Text 16"/>
          <p:cNvSpPr/>
          <p:nvPr/>
        </p:nvSpPr>
        <p:spPr>
          <a:xfrm>
            <a:off x="6711696" y="1719072"/>
            <a:ext cx="1828800" cy="274320"/>
          </a:xfrm>
          <a:prstGeom prst="rect">
            <a:avLst/>
          </a:prstGeom>
          <a:noFill/>
          <a:ln/>
        </p:spPr>
        <p:txBody>
          <a:bodyPr wrap="square" lIns="0" tIns="0" rIns="0" bIns="0" rtlCol="0" anchor="ctr"/>
          <a:lstStyle/>
          <a:p>
            <a:pPr algn="ctr" indent="0" marL="0">
              <a:buNone/>
            </a:pPr>
            <a:r>
              <a:rPr lang="en-US" sz="1200" dirty="0">
                <a:solidFill>
                  <a:srgbClr val="B3B3B3"/>
                </a:solidFill>
                <a:latin typeface="Arial" pitchFamily="34" charset="0"/>
                <a:ea typeface="Arial" pitchFamily="34" charset="-122"/>
                <a:cs typeface="Arial" pitchFamily="34" charset="-120"/>
              </a:rPr>
              <a:t>Sparsity</a:t>
            </a:r>
            <a:endParaRPr lang="en-US" sz="1200" dirty="0"/>
          </a:p>
        </p:txBody>
      </p:sp>
      <p:sp>
        <p:nvSpPr>
          <p:cNvPr id="19" name="Shape 17"/>
          <p:cNvSpPr/>
          <p:nvPr/>
        </p:nvSpPr>
        <p:spPr>
          <a:xfrm>
            <a:off x="457200" y="2377440"/>
            <a:ext cx="8138160" cy="2377440"/>
          </a:xfrm>
          <a:prstGeom prst="roundRect">
            <a:avLst>
              <a:gd name="adj" fmla="val 4615"/>
            </a:avLst>
          </a:prstGeom>
          <a:solidFill>
            <a:srgbClr val="1E1E1E"/>
          </a:solidFill>
          <a:ln w="12700">
            <a:solidFill>
              <a:srgbClr val="2A2A2A"/>
            </a:solidFill>
            <a:prstDash val="solid"/>
          </a:ln>
          <a:effectLst>
            <a:outerShdw sx="100000" sy="100000" kx="0" ky="0" algn="bl" rotWithShape="0" blurRad="127000" dist="38100" dir="2700000">
              <a:srgbClr val="000000">
                <a:alpha val="40000"/>
              </a:srgbClr>
            </a:outerShdw>
          </a:effectLst>
        </p:spPr>
      </p:sp>
      <p:sp>
        <p:nvSpPr>
          <p:cNvPr id="20" name="Text 18"/>
          <p:cNvSpPr/>
          <p:nvPr/>
        </p:nvSpPr>
        <p:spPr>
          <a:xfrm>
            <a:off x="731520" y="2514600"/>
            <a:ext cx="7680960" cy="292608"/>
          </a:xfrm>
          <a:prstGeom prst="rect">
            <a:avLst/>
          </a:prstGeom>
          <a:noFill/>
          <a:ln/>
        </p:spPr>
        <p:txBody>
          <a:bodyPr wrap="square" lIns="0" tIns="0" rIns="0" bIns="0" rtlCol="0" anchor="ctr"/>
          <a:lstStyle/>
          <a:p>
            <a:pPr indent="0" marL="0">
              <a:buNone/>
            </a:pPr>
            <a:r>
              <a:rPr lang="en-US" sz="1200" b="1" dirty="0">
                <a:solidFill>
                  <a:srgbClr val="E50914"/>
                </a:solidFill>
              </a:rPr>
              <a:t>Source: </a:t>
            </a:r>
            <a:pPr indent="0" marL="0">
              <a:buNone/>
            </a:pPr>
            <a:r>
              <a:rPr lang="en-US" sz="1200" dirty="0">
                <a:solidFill>
                  <a:srgbClr val="FFFFFF"/>
                </a:solidFill>
              </a:rPr>
              <a:t>GroupLens Research - MovieLens Latest Small</a:t>
            </a:r>
            <a:endParaRPr lang="en-US" sz="1200" dirty="0"/>
          </a:p>
        </p:txBody>
      </p:sp>
      <p:sp>
        <p:nvSpPr>
          <p:cNvPr id="21" name="Text 19"/>
          <p:cNvSpPr/>
          <p:nvPr/>
        </p:nvSpPr>
        <p:spPr>
          <a:xfrm>
            <a:off x="731520" y="2843784"/>
            <a:ext cx="7680960" cy="292608"/>
          </a:xfrm>
          <a:prstGeom prst="rect">
            <a:avLst/>
          </a:prstGeom>
          <a:noFill/>
          <a:ln/>
        </p:spPr>
        <p:txBody>
          <a:bodyPr wrap="square" lIns="0" tIns="0" rIns="0" bIns="0" rtlCol="0" anchor="ctr"/>
          <a:lstStyle/>
          <a:p>
            <a:pPr indent="0" marL="0">
              <a:buNone/>
            </a:pPr>
            <a:r>
              <a:rPr lang="en-US" sz="1200" b="1" dirty="0">
                <a:solidFill>
                  <a:srgbClr val="E50914"/>
                </a:solidFill>
              </a:rPr>
              <a:t>Ratings: </a:t>
            </a:r>
            <a:pPr indent="0" marL="0">
              <a:buNone/>
            </a:pPr>
            <a:r>
              <a:rPr lang="en-US" sz="1200" dirty="0">
                <a:solidFill>
                  <a:srgbClr val="FFFFFF"/>
                </a:solidFill>
              </a:rPr>
              <a:t>0.5 to 5.0 in half-star increments, with timestamp</a:t>
            </a:r>
            <a:endParaRPr lang="en-US" sz="1200" dirty="0"/>
          </a:p>
        </p:txBody>
      </p:sp>
      <p:sp>
        <p:nvSpPr>
          <p:cNvPr id="22" name="Text 20"/>
          <p:cNvSpPr/>
          <p:nvPr/>
        </p:nvSpPr>
        <p:spPr>
          <a:xfrm>
            <a:off x="731520" y="3172968"/>
            <a:ext cx="7680960" cy="292608"/>
          </a:xfrm>
          <a:prstGeom prst="rect">
            <a:avLst/>
          </a:prstGeom>
          <a:noFill/>
          <a:ln/>
        </p:spPr>
        <p:txBody>
          <a:bodyPr wrap="square" lIns="0" tIns="0" rIns="0" bIns="0" rtlCol="0" anchor="ctr"/>
          <a:lstStyle/>
          <a:p>
            <a:pPr indent="0" marL="0">
              <a:buNone/>
            </a:pPr>
            <a:r>
              <a:rPr lang="en-US" sz="1200" b="1" dirty="0">
                <a:solidFill>
                  <a:srgbClr val="E50914"/>
                </a:solidFill>
              </a:rPr>
              <a:t>Movies: </a:t>
            </a:r>
            <a:pPr indent="0" marL="0">
              <a:buNone/>
            </a:pPr>
            <a:r>
              <a:rPr lang="en-US" sz="1200" dirty="0">
                <a:solidFill>
                  <a:srgbClr val="FFFFFF"/>
                </a:solidFill>
              </a:rPr>
              <a:t>Each movie has title, year, and pipe-separated genres</a:t>
            </a:r>
            <a:endParaRPr lang="en-US" sz="1200" dirty="0"/>
          </a:p>
        </p:txBody>
      </p:sp>
      <p:sp>
        <p:nvSpPr>
          <p:cNvPr id="23" name="Text 21"/>
          <p:cNvSpPr/>
          <p:nvPr/>
        </p:nvSpPr>
        <p:spPr>
          <a:xfrm>
            <a:off x="731520" y="3502152"/>
            <a:ext cx="7680960" cy="292608"/>
          </a:xfrm>
          <a:prstGeom prst="rect">
            <a:avLst/>
          </a:prstGeom>
          <a:noFill/>
          <a:ln/>
        </p:spPr>
        <p:txBody>
          <a:bodyPr wrap="square" lIns="0" tIns="0" rIns="0" bIns="0" rtlCol="0" anchor="ctr"/>
          <a:lstStyle/>
          <a:p>
            <a:pPr indent="0" marL="0">
              <a:buNone/>
            </a:pPr>
            <a:r>
              <a:rPr lang="en-US" sz="1200" b="1" dirty="0">
                <a:solidFill>
                  <a:srgbClr val="E50914"/>
                </a:solidFill>
              </a:rPr>
              <a:t>Tags: </a:t>
            </a:r>
            <a:pPr indent="0" marL="0">
              <a:buNone/>
            </a:pPr>
            <a:r>
              <a:rPr lang="en-US" sz="1200" dirty="0">
                <a:solidFill>
                  <a:srgbClr val="FFFFFF"/>
                </a:solidFill>
              </a:rPr>
              <a:t>Free-text tags per user, merged into movie content field</a:t>
            </a:r>
            <a:endParaRPr lang="en-US" sz="1200" dirty="0"/>
          </a:p>
        </p:txBody>
      </p:sp>
      <p:sp>
        <p:nvSpPr>
          <p:cNvPr id="24" name="Text 22"/>
          <p:cNvSpPr/>
          <p:nvPr/>
        </p:nvSpPr>
        <p:spPr>
          <a:xfrm>
            <a:off x="731520" y="3831336"/>
            <a:ext cx="7680960" cy="292608"/>
          </a:xfrm>
          <a:prstGeom prst="rect">
            <a:avLst/>
          </a:prstGeom>
          <a:noFill/>
          <a:ln/>
        </p:spPr>
        <p:txBody>
          <a:bodyPr wrap="square" lIns="0" tIns="0" rIns="0" bIns="0" rtlCol="0" anchor="ctr"/>
          <a:lstStyle/>
          <a:p>
            <a:pPr indent="0" marL="0">
              <a:buNone/>
            </a:pPr>
            <a:r>
              <a:rPr lang="en-US" sz="1200" b="1" dirty="0">
                <a:solidFill>
                  <a:srgbClr val="E50914"/>
                </a:solidFill>
              </a:rPr>
              <a:t>Time span: </a:t>
            </a:r>
            <a:pPr indent="0" marL="0">
              <a:buNone/>
            </a:pPr>
            <a:r>
              <a:rPr lang="en-US" sz="1200" dirty="0">
                <a:solidFill>
                  <a:srgbClr val="FFFFFF"/>
                </a:solidFill>
              </a:rPr>
              <a:t>Ratings from 1996 to 2018</a:t>
            </a:r>
            <a:endParaRPr lang="en-US" sz="1200" dirty="0"/>
          </a:p>
        </p:txBody>
      </p:sp>
      <p:sp>
        <p:nvSpPr>
          <p:cNvPr id="25" name="Text 23"/>
          <p:cNvSpPr/>
          <p:nvPr/>
        </p:nvSpPr>
        <p:spPr>
          <a:xfrm>
            <a:off x="731520" y="4160520"/>
            <a:ext cx="7680960" cy="292608"/>
          </a:xfrm>
          <a:prstGeom prst="rect">
            <a:avLst/>
          </a:prstGeom>
          <a:noFill/>
          <a:ln/>
        </p:spPr>
        <p:txBody>
          <a:bodyPr wrap="square" lIns="0" tIns="0" rIns="0" bIns="0" rtlCol="0" anchor="ctr"/>
          <a:lstStyle/>
          <a:p>
            <a:pPr indent="0" marL="0">
              <a:buNone/>
            </a:pPr>
            <a:r>
              <a:rPr lang="en-US" sz="1200" b="1" dirty="0">
                <a:solidFill>
                  <a:srgbClr val="E50914"/>
                </a:solidFill>
              </a:rPr>
              <a:t>Why this dataset: </a:t>
            </a:r>
            <a:pPr indent="0" marL="0">
              <a:buNone/>
            </a:pPr>
            <a:r>
              <a:rPr lang="en-US" sz="1200" dirty="0">
                <a:solidFill>
                  <a:srgbClr val="FFFFFF"/>
                </a:solidFill>
              </a:rPr>
              <a:t>Standard CF benchmark, has both ratings and metadata - good for testing all 4 approaches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50914"/>
          </a:solidFill>
          <a:ln w="12700">
            <a:solidFill>
              <a:srgbClr val="E50914"/>
            </a:solidFill>
            <a:prstDash val="solid"/>
          </a:ln>
        </p:spPr>
      </p:sp>
      <p:sp>
        <p:nvSpPr>
          <p:cNvPr id="3" name="Shape 1"/>
          <p:cNvSpPr/>
          <p:nvPr/>
        </p:nvSpPr>
        <p:spPr>
          <a:xfrm>
            <a:off x="0" y="5088636"/>
            <a:ext cx="9144000" cy="54864"/>
          </a:xfrm>
          <a:prstGeom prst="rect">
            <a:avLst/>
          </a:prstGeom>
          <a:solidFill>
            <a:srgbClr val="E50914"/>
          </a:solidFill>
          <a:ln w="12700">
            <a:solidFill>
              <a:srgbClr val="E50914"/>
            </a:solidFill>
            <a:prstDash val="solid"/>
          </a:ln>
        </p:spPr>
      </p:sp>
      <p:sp>
        <p:nvSpPr>
          <p:cNvPr id="4" name="Shape 2"/>
          <p:cNvSpPr/>
          <p:nvPr/>
        </p:nvSpPr>
        <p:spPr>
          <a:xfrm>
            <a:off x="457200" y="164592"/>
            <a:ext cx="1463040" cy="256032"/>
          </a:xfrm>
          <a:prstGeom prst="roundRect">
            <a:avLst>
              <a:gd name="adj" fmla="val 50000"/>
            </a:avLst>
          </a:prstGeom>
          <a:solidFill>
            <a:srgbClr val="E50914"/>
          </a:solidFill>
          <a:ln w="12700">
            <a:solidFill>
              <a:srgbClr val="E50914"/>
            </a:solidFill>
            <a:prstDash val="solid"/>
          </a:ln>
        </p:spPr>
      </p:sp>
      <p:sp>
        <p:nvSpPr>
          <p:cNvPr id="5" name="Text 3"/>
          <p:cNvSpPr/>
          <p:nvPr/>
        </p:nvSpPr>
        <p:spPr>
          <a:xfrm>
            <a:off x="457200" y="164592"/>
            <a:ext cx="1463040" cy="256032"/>
          </a:xfrm>
          <a:prstGeom prst="rect">
            <a:avLst/>
          </a:prstGeom>
          <a:noFill/>
          <a:ln/>
        </p:spPr>
        <p:txBody>
          <a:bodyPr wrap="square" lIns="0" tIns="0" rIns="0" bIns="0" rtlCol="0" anchor="ctr"/>
          <a:lstStyle/>
          <a:p>
            <a:pPr algn="ctr" indent="0" marL="0">
              <a:buNone/>
            </a:pPr>
            <a:r>
              <a:rPr lang="en-US" sz="700" b="1" dirty="0">
                <a:solidFill>
                  <a:srgbClr val="FFFFFF"/>
                </a:solidFill>
              </a:rPr>
              <a:t>EDA</a:t>
            </a:r>
            <a:endParaRPr lang="en-US" sz="700" dirty="0"/>
          </a:p>
        </p:txBody>
      </p:sp>
      <p:sp>
        <p:nvSpPr>
          <p:cNvPr id="6" name="Text 4"/>
          <p:cNvSpPr/>
          <p:nvPr/>
        </p:nvSpPr>
        <p:spPr>
          <a:xfrm>
            <a:off x="457200" y="475488"/>
            <a:ext cx="8229600" cy="50292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Preprocessing &amp; EDA</a:t>
            </a:r>
            <a:endParaRPr lang="en-US" sz="3000" dirty="0"/>
          </a:p>
        </p:txBody>
      </p:sp>
      <p:sp>
        <p:nvSpPr>
          <p:cNvPr id="7" name="Shape 5"/>
          <p:cNvSpPr/>
          <p:nvPr/>
        </p:nvSpPr>
        <p:spPr>
          <a:xfrm>
            <a:off x="457200" y="1097280"/>
            <a:ext cx="3840480" cy="3749040"/>
          </a:xfrm>
          <a:prstGeom prst="roundRect">
            <a:avLst>
              <a:gd name="adj" fmla="val 2927"/>
            </a:avLst>
          </a:prstGeom>
          <a:solidFill>
            <a:srgbClr val="1E1E1E"/>
          </a:solidFill>
          <a:ln w="12700">
            <a:solidFill>
              <a:srgbClr val="2A2A2A"/>
            </a:solidFill>
            <a:prstDash val="solid"/>
          </a:ln>
          <a:effectLst>
            <a:outerShdw sx="100000" sy="100000" kx="0" ky="0" algn="bl" rotWithShape="0" blurRad="127000" dist="38100" dir="2700000">
              <a:srgbClr val="000000">
                <a:alpha val="40000"/>
              </a:srgbClr>
            </a:outerShdw>
          </a:effectLst>
        </p:spPr>
      </p:sp>
      <p:sp>
        <p:nvSpPr>
          <p:cNvPr id="8" name="Text 6"/>
          <p:cNvSpPr/>
          <p:nvPr/>
        </p:nvSpPr>
        <p:spPr>
          <a:xfrm>
            <a:off x="640080" y="1188720"/>
            <a:ext cx="3474720" cy="320040"/>
          </a:xfrm>
          <a:prstGeom prst="rect">
            <a:avLst/>
          </a:prstGeom>
          <a:noFill/>
          <a:ln/>
        </p:spPr>
        <p:txBody>
          <a:bodyPr wrap="square" lIns="0" tIns="0" rIns="0" bIns="0" rtlCol="0" anchor="ctr"/>
          <a:lstStyle/>
          <a:p>
            <a:pPr indent="0" marL="0">
              <a:buNone/>
            </a:pPr>
            <a:r>
              <a:rPr lang="en-US" sz="1400" b="1" dirty="0">
                <a:solidFill>
                  <a:srgbClr val="E50914"/>
                </a:solidFill>
                <a:latin typeface="Arial" pitchFamily="34" charset="0"/>
                <a:ea typeface="Arial" pitchFamily="34" charset="-122"/>
                <a:cs typeface="Arial" pitchFamily="34" charset="-120"/>
              </a:rPr>
              <a:t>Preprocessing Steps</a:t>
            </a:r>
            <a:endParaRPr lang="en-US" sz="1400" dirty="0"/>
          </a:p>
        </p:txBody>
      </p:sp>
      <p:sp>
        <p:nvSpPr>
          <p:cNvPr id="9" name="Text 7"/>
          <p:cNvSpPr/>
          <p:nvPr/>
        </p:nvSpPr>
        <p:spPr>
          <a:xfrm>
            <a:off x="640080" y="1600200"/>
            <a:ext cx="3474720" cy="347472"/>
          </a:xfrm>
          <a:prstGeom prst="rect">
            <a:avLst/>
          </a:prstGeom>
          <a:noFill/>
          <a:ln/>
        </p:spPr>
        <p:txBody>
          <a:bodyPr wrap="square" lIns="0" tIns="0" rIns="0" bIns="0" rtlCol="0" anchor="ctr"/>
          <a:lstStyle/>
          <a:p>
            <a:pPr indent="0" marL="0">
              <a:buNone/>
            </a:pPr>
            <a:r>
              <a:rPr lang="en-US" sz="1100" b="1" dirty="0">
                <a:solidFill>
                  <a:srgbClr val="E50914"/>
                </a:solidFill>
              </a:rPr>
              <a:t>▸ </a:t>
            </a:r>
            <a:pPr indent="0" marL="0">
              <a:buNone/>
            </a:pPr>
            <a:r>
              <a:rPr lang="en-US" sz="1100" dirty="0">
                <a:solidFill>
                  <a:srgbClr val="FFFFFF"/>
                </a:solidFill>
              </a:rPr>
              <a:t>Merge ratings + movies on movieId</a:t>
            </a:r>
            <a:endParaRPr lang="en-US" sz="1100" dirty="0"/>
          </a:p>
        </p:txBody>
      </p:sp>
      <p:sp>
        <p:nvSpPr>
          <p:cNvPr id="10" name="Text 8"/>
          <p:cNvSpPr/>
          <p:nvPr/>
        </p:nvSpPr>
        <p:spPr>
          <a:xfrm>
            <a:off x="640080" y="2020824"/>
            <a:ext cx="3474720" cy="347472"/>
          </a:xfrm>
          <a:prstGeom prst="rect">
            <a:avLst/>
          </a:prstGeom>
          <a:noFill/>
          <a:ln/>
        </p:spPr>
        <p:txBody>
          <a:bodyPr wrap="square" lIns="0" tIns="0" rIns="0" bIns="0" rtlCol="0" anchor="ctr"/>
          <a:lstStyle/>
          <a:p>
            <a:pPr indent="0" marL="0">
              <a:buNone/>
            </a:pPr>
            <a:r>
              <a:rPr lang="en-US" sz="1100" b="1" dirty="0">
                <a:solidFill>
                  <a:srgbClr val="E50914"/>
                </a:solidFill>
              </a:rPr>
              <a:t>▸ </a:t>
            </a:r>
            <a:pPr indent="0" marL="0">
              <a:buNone/>
            </a:pPr>
            <a:r>
              <a:rPr lang="en-US" sz="1100" dirty="0">
                <a:solidFill>
                  <a:srgbClr val="FFFFFF"/>
                </a:solidFill>
              </a:rPr>
              <a:t>Combine user tags per movie → single text string</a:t>
            </a:r>
            <a:endParaRPr lang="en-US" sz="1100" dirty="0"/>
          </a:p>
        </p:txBody>
      </p:sp>
      <p:sp>
        <p:nvSpPr>
          <p:cNvPr id="11" name="Text 9"/>
          <p:cNvSpPr/>
          <p:nvPr/>
        </p:nvSpPr>
        <p:spPr>
          <a:xfrm>
            <a:off x="640080" y="2441448"/>
            <a:ext cx="3474720" cy="347472"/>
          </a:xfrm>
          <a:prstGeom prst="rect">
            <a:avLst/>
          </a:prstGeom>
          <a:noFill/>
          <a:ln/>
        </p:spPr>
        <p:txBody>
          <a:bodyPr wrap="square" lIns="0" tIns="0" rIns="0" bIns="0" rtlCol="0" anchor="ctr"/>
          <a:lstStyle/>
          <a:p>
            <a:pPr indent="0" marL="0">
              <a:buNone/>
            </a:pPr>
            <a:r>
              <a:rPr lang="en-US" sz="1100" b="1" dirty="0">
                <a:solidFill>
                  <a:srgbClr val="E50914"/>
                </a:solidFill>
              </a:rPr>
              <a:t>▸ </a:t>
            </a:r>
            <a:pPr indent="0" marL="0">
              <a:buNone/>
            </a:pPr>
            <a:r>
              <a:rPr lang="en-US" sz="1100" dirty="0">
                <a:solidFill>
                  <a:srgbClr val="FFFFFF"/>
                </a:solidFill>
              </a:rPr>
              <a:t>Replace genre pipes (|) with spaces → TF-IDF tokens</a:t>
            </a:r>
            <a:endParaRPr lang="en-US" sz="1100" dirty="0"/>
          </a:p>
        </p:txBody>
      </p:sp>
      <p:sp>
        <p:nvSpPr>
          <p:cNvPr id="12" name="Text 10"/>
          <p:cNvSpPr/>
          <p:nvPr/>
        </p:nvSpPr>
        <p:spPr>
          <a:xfrm>
            <a:off x="640080" y="2862072"/>
            <a:ext cx="3474720" cy="347472"/>
          </a:xfrm>
          <a:prstGeom prst="rect">
            <a:avLst/>
          </a:prstGeom>
          <a:noFill/>
          <a:ln/>
        </p:spPr>
        <p:txBody>
          <a:bodyPr wrap="square" lIns="0" tIns="0" rIns="0" bIns="0" rtlCol="0" anchor="ctr"/>
          <a:lstStyle/>
          <a:p>
            <a:pPr indent="0" marL="0">
              <a:buNone/>
            </a:pPr>
            <a:r>
              <a:rPr lang="en-US" sz="1100" b="1" dirty="0">
                <a:solidFill>
                  <a:srgbClr val="E50914"/>
                </a:solidFill>
              </a:rPr>
              <a:t>▸ </a:t>
            </a:r>
            <a:pPr indent="0" marL="0">
              <a:buNone/>
            </a:pPr>
            <a:r>
              <a:rPr lang="en-US" sz="1100" dirty="0">
                <a:solidFill>
                  <a:srgbClr val="FFFFFF"/>
                </a:solidFill>
              </a:rPr>
              <a:t>Build content field: genres + tags</a:t>
            </a:r>
            <a:endParaRPr lang="en-US" sz="1100" dirty="0"/>
          </a:p>
        </p:txBody>
      </p:sp>
      <p:sp>
        <p:nvSpPr>
          <p:cNvPr id="13" name="Text 11"/>
          <p:cNvSpPr/>
          <p:nvPr/>
        </p:nvSpPr>
        <p:spPr>
          <a:xfrm>
            <a:off x="640080" y="3282696"/>
            <a:ext cx="3474720" cy="347472"/>
          </a:xfrm>
          <a:prstGeom prst="rect">
            <a:avLst/>
          </a:prstGeom>
          <a:noFill/>
          <a:ln/>
        </p:spPr>
        <p:txBody>
          <a:bodyPr wrap="square" lIns="0" tIns="0" rIns="0" bIns="0" rtlCol="0" anchor="ctr"/>
          <a:lstStyle/>
          <a:p>
            <a:pPr indent="0" marL="0">
              <a:buNone/>
            </a:pPr>
            <a:r>
              <a:rPr lang="en-US" sz="1100" b="1" dirty="0">
                <a:solidFill>
                  <a:srgbClr val="E50914"/>
                </a:solidFill>
              </a:rPr>
              <a:t>▸ </a:t>
            </a:r>
            <a:pPr indent="0" marL="0">
              <a:buNone/>
            </a:pPr>
            <a:r>
              <a:rPr lang="en-US" sz="1100" dirty="0">
                <a:solidFill>
                  <a:srgbClr val="FFFFFF"/>
                </a:solidFill>
              </a:rPr>
              <a:t>Pivot table → user-item matrix (610 x 9724)</a:t>
            </a:r>
            <a:endParaRPr lang="en-US" sz="1100" dirty="0"/>
          </a:p>
        </p:txBody>
      </p:sp>
      <p:sp>
        <p:nvSpPr>
          <p:cNvPr id="14" name="Text 12"/>
          <p:cNvSpPr/>
          <p:nvPr/>
        </p:nvSpPr>
        <p:spPr>
          <a:xfrm>
            <a:off x="640080" y="3703320"/>
            <a:ext cx="3474720" cy="347472"/>
          </a:xfrm>
          <a:prstGeom prst="rect">
            <a:avLst/>
          </a:prstGeom>
          <a:noFill/>
          <a:ln/>
        </p:spPr>
        <p:txBody>
          <a:bodyPr wrap="square" lIns="0" tIns="0" rIns="0" bIns="0" rtlCol="0" anchor="ctr"/>
          <a:lstStyle/>
          <a:p>
            <a:pPr indent="0" marL="0">
              <a:buNone/>
            </a:pPr>
            <a:r>
              <a:rPr lang="en-US" sz="1100" b="1" dirty="0">
                <a:solidFill>
                  <a:srgbClr val="E50914"/>
                </a:solidFill>
              </a:rPr>
              <a:t>▸ </a:t>
            </a:r>
            <a:pPr indent="0" marL="0">
              <a:buNone/>
            </a:pPr>
            <a:r>
              <a:rPr lang="en-US" sz="1100" dirty="0">
                <a:solidFill>
                  <a:srgbClr val="FFFFFF"/>
                </a:solidFill>
              </a:rPr>
              <a:t>Fill missing ratings with 0</a:t>
            </a:r>
            <a:endParaRPr lang="en-US" sz="1100" dirty="0"/>
          </a:p>
        </p:txBody>
      </p:sp>
      <p:sp>
        <p:nvSpPr>
          <p:cNvPr id="15" name="Text 13"/>
          <p:cNvSpPr/>
          <p:nvPr/>
        </p:nvSpPr>
        <p:spPr>
          <a:xfrm>
            <a:off x="640080" y="4123944"/>
            <a:ext cx="3474720" cy="347472"/>
          </a:xfrm>
          <a:prstGeom prst="rect">
            <a:avLst/>
          </a:prstGeom>
          <a:noFill/>
          <a:ln/>
        </p:spPr>
        <p:txBody>
          <a:bodyPr wrap="square" lIns="0" tIns="0" rIns="0" bIns="0" rtlCol="0" anchor="ctr"/>
          <a:lstStyle/>
          <a:p>
            <a:pPr indent="0" marL="0">
              <a:buNone/>
            </a:pPr>
            <a:r>
              <a:rPr lang="en-US" sz="1100" b="1" dirty="0">
                <a:solidFill>
                  <a:srgbClr val="E50914"/>
                </a:solidFill>
              </a:rPr>
              <a:t>▸ </a:t>
            </a:r>
            <a:pPr indent="0" marL="0">
              <a:buNone/>
            </a:pPr>
            <a:r>
              <a:rPr lang="en-US" sz="1100" dirty="0">
                <a:solidFill>
                  <a:srgbClr val="FFFFFF"/>
                </a:solidFill>
              </a:rPr>
              <a:t>Temporal sort → 80/20 train/test split per user</a:t>
            </a:r>
            <a:endParaRPr lang="en-US" sz="1100" dirty="0"/>
          </a:p>
        </p:txBody>
      </p:sp>
      <p:sp>
        <p:nvSpPr>
          <p:cNvPr id="16" name="Shape 14"/>
          <p:cNvSpPr/>
          <p:nvPr/>
        </p:nvSpPr>
        <p:spPr>
          <a:xfrm>
            <a:off x="4480560" y="1097280"/>
            <a:ext cx="4297680" cy="3749040"/>
          </a:xfrm>
          <a:prstGeom prst="roundRect">
            <a:avLst>
              <a:gd name="adj" fmla="val 2927"/>
            </a:avLst>
          </a:prstGeom>
          <a:solidFill>
            <a:srgbClr val="1E1E1E"/>
          </a:solidFill>
          <a:ln w="12700">
            <a:solidFill>
              <a:srgbClr val="2A2A2A"/>
            </a:solidFill>
            <a:prstDash val="solid"/>
          </a:ln>
          <a:effectLst>
            <a:outerShdw sx="100000" sy="100000" kx="0" ky="0" algn="bl" rotWithShape="0" blurRad="127000" dist="38100" dir="2700000">
              <a:srgbClr val="000000">
                <a:alpha val="40000"/>
              </a:srgbClr>
            </a:outerShdw>
          </a:effectLst>
        </p:spPr>
      </p:sp>
      <p:sp>
        <p:nvSpPr>
          <p:cNvPr id="17" name="Text 15"/>
          <p:cNvSpPr/>
          <p:nvPr/>
        </p:nvSpPr>
        <p:spPr>
          <a:xfrm>
            <a:off x="4663440" y="1188720"/>
            <a:ext cx="3931920" cy="320040"/>
          </a:xfrm>
          <a:prstGeom prst="rect">
            <a:avLst/>
          </a:prstGeom>
          <a:noFill/>
          <a:ln/>
        </p:spPr>
        <p:txBody>
          <a:bodyPr wrap="square" lIns="0" tIns="0" rIns="0" bIns="0" rtlCol="0" anchor="ctr"/>
          <a:lstStyle/>
          <a:p>
            <a:pPr indent="0" marL="0">
              <a:buNone/>
            </a:pPr>
            <a:r>
              <a:rPr lang="en-US" sz="1400" b="1" dirty="0">
                <a:solidFill>
                  <a:srgbClr val="E50914"/>
                </a:solidFill>
                <a:latin typeface="Arial" pitchFamily="34" charset="0"/>
                <a:ea typeface="Arial" pitchFamily="34" charset="-122"/>
                <a:cs typeface="Arial" pitchFamily="34" charset="-120"/>
              </a:rPr>
              <a:t>Rating Distribution</a:t>
            </a:r>
            <a:endParaRPr lang="en-US" sz="1400" dirty="0"/>
          </a:p>
        </p:txBody>
      </p:sp>
      <p:graphicFrame>
        <p:nvGraphicFramePr>
          <p:cNvPr id="18" name="Chart 0" descr=""/>
          <p:cNvGraphicFramePr/>
          <p:nvPr/>
        </p:nvGraphicFramePr>
        <p:xfrm>
          <a:off x="4572000" y="1572768"/>
          <a:ext cx="4114800" cy="1920240"/>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p:nvPr/>
        </p:nvSpPr>
        <p:spPr>
          <a:xfrm>
            <a:off x="4663440" y="3611880"/>
            <a:ext cx="3931920" cy="256032"/>
          </a:xfrm>
          <a:prstGeom prst="rect">
            <a:avLst/>
          </a:prstGeom>
          <a:noFill/>
          <a:ln/>
        </p:spPr>
        <p:txBody>
          <a:bodyPr wrap="square" lIns="0" tIns="0" rIns="0" bIns="0" rtlCol="0" anchor="ctr"/>
          <a:lstStyle/>
          <a:p>
            <a:pPr indent="0" marL="0">
              <a:buNone/>
            </a:pPr>
            <a:r>
              <a:rPr lang="en-US" sz="1050" b="1" dirty="0">
                <a:solidFill>
                  <a:srgbClr val="E50914"/>
                </a:solidFill>
              </a:rPr>
              <a:t>▸ </a:t>
            </a:r>
            <a:pPr indent="0" marL="0">
              <a:buNone/>
            </a:pPr>
            <a:r>
              <a:rPr lang="en-US" sz="1050" dirty="0">
                <a:solidFill>
                  <a:srgbClr val="FFFFFF"/>
                </a:solidFill>
              </a:rPr>
              <a:t>Ratings skew high - most are 3.5 or above</a:t>
            </a:r>
            <a:endParaRPr lang="en-US" sz="1050" dirty="0"/>
          </a:p>
        </p:txBody>
      </p:sp>
      <p:sp>
        <p:nvSpPr>
          <p:cNvPr id="20" name="Text 17"/>
          <p:cNvSpPr/>
          <p:nvPr/>
        </p:nvSpPr>
        <p:spPr>
          <a:xfrm>
            <a:off x="4663440" y="3904488"/>
            <a:ext cx="3931920" cy="256032"/>
          </a:xfrm>
          <a:prstGeom prst="rect">
            <a:avLst/>
          </a:prstGeom>
          <a:noFill/>
          <a:ln/>
        </p:spPr>
        <p:txBody>
          <a:bodyPr wrap="square" lIns="0" tIns="0" rIns="0" bIns="0" rtlCol="0" anchor="ctr"/>
          <a:lstStyle/>
          <a:p>
            <a:pPr indent="0" marL="0">
              <a:buNone/>
            </a:pPr>
            <a:r>
              <a:rPr lang="en-US" sz="1050" b="1" dirty="0">
                <a:solidFill>
                  <a:srgbClr val="E50914"/>
                </a:solidFill>
              </a:rPr>
              <a:t>▸ </a:t>
            </a:r>
            <a:pPr indent="0" marL="0">
              <a:buNone/>
            </a:pPr>
            <a:r>
              <a:rPr lang="en-US" sz="1050" dirty="0">
                <a:solidFill>
                  <a:srgbClr val="FFFFFF"/>
                </a:solidFill>
              </a:rPr>
              <a:t>4.0 is the single most common rating</a:t>
            </a:r>
            <a:endParaRPr lang="en-US" sz="1050" dirty="0"/>
          </a:p>
        </p:txBody>
      </p:sp>
      <p:sp>
        <p:nvSpPr>
          <p:cNvPr id="21" name="Text 18"/>
          <p:cNvSpPr/>
          <p:nvPr/>
        </p:nvSpPr>
        <p:spPr>
          <a:xfrm>
            <a:off x="4663440" y="4197096"/>
            <a:ext cx="3931920" cy="256032"/>
          </a:xfrm>
          <a:prstGeom prst="rect">
            <a:avLst/>
          </a:prstGeom>
          <a:noFill/>
          <a:ln/>
        </p:spPr>
        <p:txBody>
          <a:bodyPr wrap="square" lIns="0" tIns="0" rIns="0" bIns="0" rtlCol="0" anchor="ctr"/>
          <a:lstStyle/>
          <a:p>
            <a:pPr indent="0" marL="0">
              <a:buNone/>
            </a:pPr>
            <a:r>
              <a:rPr lang="en-US" sz="1050" b="1" dirty="0">
                <a:solidFill>
                  <a:srgbClr val="E50914"/>
                </a:solidFill>
              </a:rPr>
              <a:t>▸ </a:t>
            </a:r>
            <a:pPr indent="0" marL="0">
              <a:buNone/>
            </a:pPr>
            <a:r>
              <a:rPr lang="en-US" sz="1050" dirty="0">
                <a:solidFill>
                  <a:srgbClr val="FFFFFF"/>
                </a:solidFill>
              </a:rPr>
              <a:t>Very few 0.5 or 1.0 ratings (users rarely bother rating things they hate)</a:t>
            </a:r>
            <a:endParaRPr lang="en-US" sz="1050" dirty="0"/>
          </a:p>
        </p:txBody>
      </p:sp>
      <p:sp>
        <p:nvSpPr>
          <p:cNvPr id="22" name="Text 19"/>
          <p:cNvSpPr/>
          <p:nvPr/>
        </p:nvSpPr>
        <p:spPr>
          <a:xfrm>
            <a:off x="4663440" y="4489704"/>
            <a:ext cx="3931920" cy="256032"/>
          </a:xfrm>
          <a:prstGeom prst="rect">
            <a:avLst/>
          </a:prstGeom>
          <a:noFill/>
          <a:ln/>
        </p:spPr>
        <p:txBody>
          <a:bodyPr wrap="square" lIns="0" tIns="0" rIns="0" bIns="0" rtlCol="0" anchor="ctr"/>
          <a:lstStyle/>
          <a:p>
            <a:pPr indent="0" marL="0">
              <a:buNone/>
            </a:pPr>
            <a:r>
              <a:rPr lang="en-US" sz="1050" b="1" dirty="0">
                <a:solidFill>
                  <a:srgbClr val="E50914"/>
                </a:solidFill>
              </a:rPr>
              <a:t>▸ </a:t>
            </a:r>
            <a:pPr indent="0" marL="0">
              <a:buNone/>
            </a:pPr>
            <a:r>
              <a:rPr lang="en-US" sz="1050" dirty="0">
                <a:solidFill>
                  <a:srgbClr val="FFFFFF"/>
                </a:solidFill>
              </a:rPr>
              <a:t>Half-star increments used throughout</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50914"/>
          </a:solidFill>
          <a:ln w="12700">
            <a:solidFill>
              <a:srgbClr val="E50914"/>
            </a:solidFill>
            <a:prstDash val="solid"/>
          </a:ln>
        </p:spPr>
      </p:sp>
      <p:sp>
        <p:nvSpPr>
          <p:cNvPr id="3" name="Shape 1"/>
          <p:cNvSpPr/>
          <p:nvPr/>
        </p:nvSpPr>
        <p:spPr>
          <a:xfrm>
            <a:off x="0" y="5088636"/>
            <a:ext cx="9144000" cy="54864"/>
          </a:xfrm>
          <a:prstGeom prst="rect">
            <a:avLst/>
          </a:prstGeom>
          <a:solidFill>
            <a:srgbClr val="E50914"/>
          </a:solidFill>
          <a:ln w="12700">
            <a:solidFill>
              <a:srgbClr val="E50914"/>
            </a:solidFill>
            <a:prstDash val="solid"/>
          </a:ln>
        </p:spPr>
      </p:sp>
      <p:sp>
        <p:nvSpPr>
          <p:cNvPr id="4" name="Shape 2"/>
          <p:cNvSpPr/>
          <p:nvPr/>
        </p:nvSpPr>
        <p:spPr>
          <a:xfrm>
            <a:off x="457200" y="164592"/>
            <a:ext cx="1463040" cy="256032"/>
          </a:xfrm>
          <a:prstGeom prst="roundRect">
            <a:avLst>
              <a:gd name="adj" fmla="val 50000"/>
            </a:avLst>
          </a:prstGeom>
          <a:solidFill>
            <a:srgbClr val="E50914"/>
          </a:solidFill>
          <a:ln w="12700">
            <a:solidFill>
              <a:srgbClr val="E50914"/>
            </a:solidFill>
            <a:prstDash val="solid"/>
          </a:ln>
        </p:spPr>
      </p:sp>
      <p:sp>
        <p:nvSpPr>
          <p:cNvPr id="5" name="Text 3"/>
          <p:cNvSpPr/>
          <p:nvPr/>
        </p:nvSpPr>
        <p:spPr>
          <a:xfrm>
            <a:off x="457200" y="164592"/>
            <a:ext cx="1463040" cy="256032"/>
          </a:xfrm>
          <a:prstGeom prst="rect">
            <a:avLst/>
          </a:prstGeom>
          <a:noFill/>
          <a:ln/>
        </p:spPr>
        <p:txBody>
          <a:bodyPr wrap="square" lIns="0" tIns="0" rIns="0" bIns="0" rtlCol="0" anchor="ctr"/>
          <a:lstStyle/>
          <a:p>
            <a:pPr algn="ctr" indent="0" marL="0">
              <a:buNone/>
            </a:pPr>
            <a:r>
              <a:rPr lang="en-US" sz="700" b="1" dirty="0">
                <a:solidFill>
                  <a:srgbClr val="FFFFFF"/>
                </a:solidFill>
              </a:rPr>
              <a:t>EDA</a:t>
            </a:r>
            <a:endParaRPr lang="en-US" sz="700" dirty="0"/>
          </a:p>
        </p:txBody>
      </p:sp>
      <p:sp>
        <p:nvSpPr>
          <p:cNvPr id="6" name="Text 4"/>
          <p:cNvSpPr/>
          <p:nvPr/>
        </p:nvSpPr>
        <p:spPr>
          <a:xfrm>
            <a:off x="457200" y="475488"/>
            <a:ext cx="8229600" cy="50292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Most Active Users &amp; Most Popular Movies</a:t>
            </a:r>
            <a:endParaRPr lang="en-US" sz="2800" dirty="0"/>
          </a:p>
        </p:txBody>
      </p:sp>
      <p:graphicFrame>
        <p:nvGraphicFramePr>
          <p:cNvPr id="7" name="Chart 0" descr=""/>
          <p:cNvGraphicFramePr/>
          <p:nvPr/>
        </p:nvGraphicFramePr>
        <p:xfrm>
          <a:off x="457200" y="1005840"/>
          <a:ext cx="4206240" cy="2377440"/>
        </p:xfrm>
        <a:graphic xmlns:a="http://schemas.openxmlformats.org/drawingml/2006/main">
          <a:graphicData uri="http://schemas.openxmlformats.org/drawingml/2006/chart">
            <c:chart xmlns:c="http://schemas.openxmlformats.org/drawingml/2006/chart" r:id="rId1"/>
          </a:graphicData>
        </a:graphic>
      </p:graphicFrame>
      <p:graphicFrame>
        <p:nvGraphicFramePr>
          <p:cNvPr id="8" name="Chart 1" descr=""/>
          <p:cNvGraphicFramePr/>
          <p:nvPr/>
        </p:nvGraphicFramePr>
        <p:xfrm>
          <a:off x="4846320" y="1005840"/>
          <a:ext cx="3977640" cy="2377440"/>
        </p:xfrm>
        <a:graphic xmlns:a="http://schemas.openxmlformats.org/drawingml/2006/main">
          <a:graphicData uri="http://schemas.openxmlformats.org/drawingml/2006/chart">
            <c:chart xmlns:c="http://schemas.openxmlformats.org/drawingml/2006/chart" r:id="rId2"/>
          </a:graphicData>
        </a:graphic>
      </p:graphicFrame>
      <p:sp>
        <p:nvSpPr>
          <p:cNvPr id="9" name="Shape 5"/>
          <p:cNvSpPr/>
          <p:nvPr/>
        </p:nvSpPr>
        <p:spPr>
          <a:xfrm>
            <a:off x="457200" y="3520440"/>
            <a:ext cx="8366760" cy="1280160"/>
          </a:xfrm>
          <a:prstGeom prst="roundRect">
            <a:avLst>
              <a:gd name="adj" fmla="val 8571"/>
            </a:avLst>
          </a:prstGeom>
          <a:solidFill>
            <a:srgbClr val="1E1E1E"/>
          </a:solidFill>
          <a:ln w="12700">
            <a:solidFill>
              <a:srgbClr val="2A2A2A"/>
            </a:solidFill>
            <a:prstDash val="solid"/>
          </a:ln>
          <a:effectLst>
            <a:outerShdw sx="100000" sy="100000" kx="0" ky="0" algn="bl" rotWithShape="0" blurRad="127000" dist="38100" dir="2700000">
              <a:srgbClr val="000000">
                <a:alpha val="40000"/>
              </a:srgbClr>
            </a:outerShdw>
          </a:effectLst>
        </p:spPr>
      </p:sp>
      <p:sp>
        <p:nvSpPr>
          <p:cNvPr id="10" name="Text 6"/>
          <p:cNvSpPr/>
          <p:nvPr/>
        </p:nvSpPr>
        <p:spPr>
          <a:xfrm>
            <a:off x="640080" y="3611880"/>
            <a:ext cx="7955280" cy="274320"/>
          </a:xfrm>
          <a:prstGeom prst="rect">
            <a:avLst/>
          </a:prstGeom>
          <a:noFill/>
          <a:ln/>
        </p:spPr>
        <p:txBody>
          <a:bodyPr wrap="square" lIns="0" tIns="0" rIns="0" bIns="0" rtlCol="0" anchor="ctr"/>
          <a:lstStyle/>
          <a:p>
            <a:pPr indent="0" marL="0">
              <a:buNone/>
            </a:pPr>
            <a:r>
              <a:rPr lang="en-US" sz="1300" b="1" dirty="0">
                <a:solidFill>
                  <a:srgbClr val="E50914"/>
                </a:solidFill>
              </a:rPr>
              <a:t>What this tells us</a:t>
            </a:r>
            <a:endParaRPr lang="en-US" sz="1300" dirty="0"/>
          </a:p>
        </p:txBody>
      </p:sp>
      <p:sp>
        <p:nvSpPr>
          <p:cNvPr id="11" name="Text 7"/>
          <p:cNvSpPr/>
          <p:nvPr/>
        </p:nvSpPr>
        <p:spPr>
          <a:xfrm>
            <a:off x="640080" y="3950208"/>
            <a:ext cx="7955280" cy="237744"/>
          </a:xfrm>
          <a:prstGeom prst="rect">
            <a:avLst/>
          </a:prstGeom>
          <a:noFill/>
          <a:ln/>
        </p:spPr>
        <p:txBody>
          <a:bodyPr wrap="square" lIns="0" tIns="0" rIns="0" bIns="0" rtlCol="0" anchor="ctr"/>
          <a:lstStyle/>
          <a:p>
            <a:pPr indent="0" marL="0">
              <a:buNone/>
            </a:pPr>
            <a:r>
              <a:rPr lang="en-US" sz="1100" b="1" dirty="0">
                <a:solidFill>
                  <a:srgbClr val="E50914"/>
                </a:solidFill>
              </a:rPr>
              <a:t>Power-user skew: </a:t>
            </a:r>
            <a:pPr indent="0" marL="0">
              <a:buNone/>
            </a:pPr>
            <a:r>
              <a:rPr lang="en-US" sz="1100" dirty="0">
                <a:solidFill>
                  <a:srgbClr val="FFFFFF"/>
                </a:solidFill>
              </a:rPr>
              <a:t>top 10 users account for a disproportionate share of ratings - common in real platforms</a:t>
            </a:r>
            <a:endParaRPr lang="en-US" sz="1100" dirty="0"/>
          </a:p>
        </p:txBody>
      </p:sp>
      <p:sp>
        <p:nvSpPr>
          <p:cNvPr id="12" name="Text 8"/>
          <p:cNvSpPr/>
          <p:nvPr/>
        </p:nvSpPr>
        <p:spPr>
          <a:xfrm>
            <a:off x="640080" y="4224528"/>
            <a:ext cx="7955280" cy="237744"/>
          </a:xfrm>
          <a:prstGeom prst="rect">
            <a:avLst/>
          </a:prstGeom>
          <a:noFill/>
          <a:ln/>
        </p:spPr>
        <p:txBody>
          <a:bodyPr wrap="square" lIns="0" tIns="0" rIns="0" bIns="0" rtlCol="0" anchor="ctr"/>
          <a:lstStyle/>
          <a:p>
            <a:pPr indent="0" marL="0">
              <a:buNone/>
            </a:pPr>
            <a:r>
              <a:rPr lang="en-US" sz="1100" b="1" dirty="0">
                <a:solidFill>
                  <a:srgbClr val="E50914"/>
                </a:solidFill>
              </a:rPr>
              <a:t>Popularity concentration: </a:t>
            </a:r>
            <a:pPr indent="0" marL="0">
              <a:buNone/>
            </a:pPr>
            <a:r>
              <a:rPr lang="en-US" sz="1100" dirty="0">
                <a:solidFill>
                  <a:srgbClr val="FFFFFF"/>
                </a:solidFill>
              </a:rPr>
              <a:t>the top 10 movies all have 230+ ratings; most movies have under 20</a:t>
            </a:r>
            <a:endParaRPr lang="en-US" sz="1100" dirty="0"/>
          </a:p>
        </p:txBody>
      </p:sp>
      <p:sp>
        <p:nvSpPr>
          <p:cNvPr id="13" name="Text 9"/>
          <p:cNvSpPr/>
          <p:nvPr/>
        </p:nvSpPr>
        <p:spPr>
          <a:xfrm>
            <a:off x="640080" y="4498848"/>
            <a:ext cx="7955280" cy="237744"/>
          </a:xfrm>
          <a:prstGeom prst="rect">
            <a:avLst/>
          </a:prstGeom>
          <a:noFill/>
          <a:ln/>
        </p:spPr>
        <p:txBody>
          <a:bodyPr wrap="square" lIns="0" tIns="0" rIns="0" bIns="0" rtlCol="0" anchor="ctr"/>
          <a:lstStyle/>
          <a:p>
            <a:pPr indent="0" marL="0">
              <a:buNone/>
            </a:pPr>
            <a:r>
              <a:rPr lang="en-US" sz="1100" b="1" dirty="0">
                <a:solidFill>
                  <a:srgbClr val="E50914"/>
                </a:solidFill>
              </a:rPr>
              <a:t>Implication: </a:t>
            </a:r>
            <a:pPr indent="0" marL="0">
              <a:buNone/>
            </a:pPr>
            <a:r>
              <a:rPr lang="en-US" sz="1100" dirty="0">
                <a:solidFill>
                  <a:srgbClr val="FFFFFF"/>
                </a:solidFill>
              </a:rPr>
              <a:t>a simple 'most popular' baseline is hard to beat because popular items genuinely get rated more often by more users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50914"/>
          </a:solidFill>
          <a:ln w="12700">
            <a:solidFill>
              <a:srgbClr val="E50914"/>
            </a:solidFill>
            <a:prstDash val="solid"/>
          </a:ln>
        </p:spPr>
      </p:sp>
      <p:sp>
        <p:nvSpPr>
          <p:cNvPr id="3" name="Shape 1"/>
          <p:cNvSpPr/>
          <p:nvPr/>
        </p:nvSpPr>
        <p:spPr>
          <a:xfrm>
            <a:off x="0" y="5088636"/>
            <a:ext cx="9144000" cy="54864"/>
          </a:xfrm>
          <a:prstGeom prst="rect">
            <a:avLst/>
          </a:prstGeom>
          <a:solidFill>
            <a:srgbClr val="E50914"/>
          </a:solidFill>
          <a:ln w="12700">
            <a:solidFill>
              <a:srgbClr val="E50914"/>
            </a:solidFill>
            <a:prstDash val="solid"/>
          </a:ln>
        </p:spPr>
      </p:sp>
      <p:sp>
        <p:nvSpPr>
          <p:cNvPr id="4" name="Shape 2"/>
          <p:cNvSpPr/>
          <p:nvPr/>
        </p:nvSpPr>
        <p:spPr>
          <a:xfrm>
            <a:off x="457200" y="164592"/>
            <a:ext cx="1463040" cy="256032"/>
          </a:xfrm>
          <a:prstGeom prst="roundRect">
            <a:avLst>
              <a:gd name="adj" fmla="val 50000"/>
            </a:avLst>
          </a:prstGeom>
          <a:solidFill>
            <a:srgbClr val="E50914"/>
          </a:solidFill>
          <a:ln w="12700">
            <a:solidFill>
              <a:srgbClr val="E50914"/>
            </a:solidFill>
            <a:prstDash val="solid"/>
          </a:ln>
        </p:spPr>
      </p:sp>
      <p:sp>
        <p:nvSpPr>
          <p:cNvPr id="5" name="Text 3"/>
          <p:cNvSpPr/>
          <p:nvPr/>
        </p:nvSpPr>
        <p:spPr>
          <a:xfrm>
            <a:off x="457200" y="164592"/>
            <a:ext cx="1463040" cy="256032"/>
          </a:xfrm>
          <a:prstGeom prst="rect">
            <a:avLst/>
          </a:prstGeom>
          <a:noFill/>
          <a:ln/>
        </p:spPr>
        <p:txBody>
          <a:bodyPr wrap="square" lIns="0" tIns="0" rIns="0" bIns="0" rtlCol="0" anchor="ctr"/>
          <a:lstStyle/>
          <a:p>
            <a:pPr algn="ctr" indent="0" marL="0">
              <a:buNone/>
            </a:pPr>
            <a:r>
              <a:rPr lang="en-US" sz="700" b="1" dirty="0">
                <a:solidFill>
                  <a:srgbClr val="FFFFFF"/>
                </a:solidFill>
              </a:rPr>
              <a:t>ALGORITHMS</a:t>
            </a:r>
            <a:endParaRPr lang="en-US" sz="700" dirty="0"/>
          </a:p>
        </p:txBody>
      </p:sp>
      <p:sp>
        <p:nvSpPr>
          <p:cNvPr id="6" name="Text 4"/>
          <p:cNvSpPr/>
          <p:nvPr/>
        </p:nvSpPr>
        <p:spPr>
          <a:xfrm>
            <a:off x="457200" y="475488"/>
            <a:ext cx="8229600" cy="50292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How Each Algorithm Works</a:t>
            </a:r>
            <a:endParaRPr lang="en-US" sz="3000" dirty="0"/>
          </a:p>
        </p:txBody>
      </p:sp>
      <p:sp>
        <p:nvSpPr>
          <p:cNvPr id="7" name="Shape 5"/>
          <p:cNvSpPr/>
          <p:nvPr/>
        </p:nvSpPr>
        <p:spPr>
          <a:xfrm>
            <a:off x="457200" y="1143000"/>
            <a:ext cx="4023360" cy="1737360"/>
          </a:xfrm>
          <a:prstGeom prst="roundRect">
            <a:avLst>
              <a:gd name="adj" fmla="val 6316"/>
            </a:avLst>
          </a:prstGeom>
          <a:solidFill>
            <a:srgbClr val="1E1E1E"/>
          </a:solidFill>
          <a:ln w="12700">
            <a:solidFill>
              <a:srgbClr val="2A2A2A"/>
            </a:solidFill>
            <a:prstDash val="solid"/>
          </a:ln>
          <a:effectLst>
            <a:outerShdw sx="100000" sy="100000" kx="0" ky="0" algn="bl" rotWithShape="0" blurRad="127000" dist="38100" dir="2700000">
              <a:srgbClr val="000000">
                <a:alpha val="40000"/>
              </a:srgbClr>
            </a:outerShdw>
          </a:effectLst>
        </p:spPr>
      </p:sp>
      <p:sp>
        <p:nvSpPr>
          <p:cNvPr id="8" name="Text 6"/>
          <p:cNvSpPr/>
          <p:nvPr/>
        </p:nvSpPr>
        <p:spPr>
          <a:xfrm>
            <a:off x="585216" y="1234440"/>
            <a:ext cx="3749040" cy="256032"/>
          </a:xfrm>
          <a:prstGeom prst="rect">
            <a:avLst/>
          </a:prstGeom>
          <a:noFill/>
          <a:ln/>
        </p:spPr>
        <p:txBody>
          <a:bodyPr wrap="square" lIns="0" tIns="0" rIns="0" bIns="0" rtlCol="0" anchor="ctr"/>
          <a:lstStyle/>
          <a:p>
            <a:pPr indent="0" marL="0">
              <a:buNone/>
            </a:pPr>
            <a:r>
              <a:rPr lang="en-US" sz="1300" b="1" dirty="0">
                <a:solidFill>
                  <a:srgbClr val="E50914"/>
                </a:solidFill>
              </a:rPr>
              <a:t>Non-Personalised (3 methods)</a:t>
            </a:r>
            <a:endParaRPr lang="en-US" sz="1300" dirty="0"/>
          </a:p>
        </p:txBody>
      </p:sp>
      <p:sp>
        <p:nvSpPr>
          <p:cNvPr id="9" name="Text 7"/>
          <p:cNvSpPr/>
          <p:nvPr/>
        </p:nvSpPr>
        <p:spPr>
          <a:xfrm>
            <a:off x="585216" y="1545336"/>
            <a:ext cx="3749040" cy="868680"/>
          </a:xfrm>
          <a:prstGeom prst="rect">
            <a:avLst/>
          </a:prstGeom>
          <a:noFill/>
          <a:ln/>
        </p:spPr>
        <p:txBody>
          <a:bodyPr wrap="square" lIns="0" tIns="0" rIns="0" bIns="0" rtlCol="0" anchor="ctr"/>
          <a:lstStyle/>
          <a:p>
            <a:pPr indent="0" marL="0">
              <a:buNone/>
            </a:pPr>
            <a:r>
              <a:rPr lang="en-US" sz="1000" dirty="0">
                <a:solidFill>
                  <a:srgbClr val="FFFFFF"/>
                </a:solidFill>
              </a:rPr>
              <a:t>Most Popular: rank by total rating count.</a:t>
            </a:r>
            <a:endParaRPr lang="en-US" sz="1000" dirty="0"/>
          </a:p>
          <a:p>
            <a:pPr indent="0" marL="0">
              <a:buNone/>
            </a:pPr>
            <a:r>
              <a:rPr lang="en-US" sz="1000" dirty="0">
                <a:solidFill>
                  <a:srgbClr val="FFFFFF"/>
                </a:solidFill>
              </a:rPr>
              <a:t>Bayesian Average: shrink score toward global mean when votes are low.</a:t>
            </a:r>
            <a:endParaRPr lang="en-US" sz="1000" dirty="0"/>
          </a:p>
          <a:p>
            <a:pPr indent="0" marL="0">
              <a:buNone/>
            </a:pPr>
            <a:r>
              <a:rPr lang="en-US" sz="1000" dirty="0">
                <a:solidFill>
                  <a:srgbClr val="FFFFFF"/>
                </a:solidFill>
              </a:rPr>
              <a:t>Highest Rated: filter to movies with &gt;= 50 ratings, then rank by avg.</a:t>
            </a:r>
            <a:endParaRPr lang="en-US" sz="1000" dirty="0"/>
          </a:p>
          <a:p>
            <a:pPr indent="0" marL="0">
              <a:buNone/>
            </a:pPr>
            <a:r>
              <a:rPr lang="en-US" sz="1000" dirty="0">
                <a:solidFill>
                  <a:srgbClr val="FFFFFF"/>
                </a:solidFill>
              </a:rPr>
              <a:t>Same output for all users - no personalisation.</a:t>
            </a:r>
            <a:endParaRPr lang="en-US" sz="1000" dirty="0"/>
          </a:p>
        </p:txBody>
      </p:sp>
      <p:sp>
        <p:nvSpPr>
          <p:cNvPr id="10" name="Text 8"/>
          <p:cNvSpPr/>
          <p:nvPr/>
        </p:nvSpPr>
        <p:spPr>
          <a:xfrm>
            <a:off x="585216" y="2551176"/>
            <a:ext cx="3749040" cy="228600"/>
          </a:xfrm>
          <a:prstGeom prst="rect">
            <a:avLst/>
          </a:prstGeom>
          <a:noFill/>
          <a:ln/>
        </p:spPr>
        <p:txBody>
          <a:bodyPr wrap="square" lIns="0" tIns="0" rIns="0" bIns="0" rtlCol="0" anchor="ctr"/>
          <a:lstStyle/>
          <a:p>
            <a:pPr indent="0" marL="0">
              <a:buNone/>
            </a:pPr>
            <a:r>
              <a:rPr lang="en-US" sz="900" i="1" dirty="0">
                <a:solidFill>
                  <a:srgbClr val="666666"/>
                </a:solidFill>
              </a:rPr>
              <a:t>bayes = (v*R + C*m) / (v+C)  [C=50]</a:t>
            </a:r>
            <a:endParaRPr lang="en-US" sz="900" dirty="0"/>
          </a:p>
        </p:txBody>
      </p:sp>
      <p:sp>
        <p:nvSpPr>
          <p:cNvPr id="11" name="Shape 9"/>
          <p:cNvSpPr/>
          <p:nvPr/>
        </p:nvSpPr>
        <p:spPr>
          <a:xfrm>
            <a:off x="4800600" y="1143000"/>
            <a:ext cx="4023360" cy="1737360"/>
          </a:xfrm>
          <a:prstGeom prst="roundRect">
            <a:avLst>
              <a:gd name="adj" fmla="val 6316"/>
            </a:avLst>
          </a:prstGeom>
          <a:solidFill>
            <a:srgbClr val="1E1E1E"/>
          </a:solidFill>
          <a:ln w="12700">
            <a:solidFill>
              <a:srgbClr val="2A2A2A"/>
            </a:solidFill>
            <a:prstDash val="solid"/>
          </a:ln>
          <a:effectLst>
            <a:outerShdw sx="100000" sy="100000" kx="0" ky="0" algn="bl" rotWithShape="0" blurRad="127000" dist="38100" dir="2700000">
              <a:srgbClr val="000000">
                <a:alpha val="40000"/>
              </a:srgbClr>
            </a:outerShdw>
          </a:effectLst>
        </p:spPr>
      </p:sp>
      <p:sp>
        <p:nvSpPr>
          <p:cNvPr id="12" name="Text 10"/>
          <p:cNvSpPr/>
          <p:nvPr/>
        </p:nvSpPr>
        <p:spPr>
          <a:xfrm>
            <a:off x="4928616" y="1234440"/>
            <a:ext cx="3749040" cy="256032"/>
          </a:xfrm>
          <a:prstGeom prst="rect">
            <a:avLst/>
          </a:prstGeom>
          <a:noFill/>
          <a:ln/>
        </p:spPr>
        <p:txBody>
          <a:bodyPr wrap="square" lIns="0" tIns="0" rIns="0" bIns="0" rtlCol="0" anchor="ctr"/>
          <a:lstStyle/>
          <a:p>
            <a:pPr indent="0" marL="0">
              <a:buNone/>
            </a:pPr>
            <a:r>
              <a:rPr lang="en-US" sz="1300" b="1" dirty="0">
                <a:solidFill>
                  <a:srgbClr val="E50914"/>
                </a:solidFill>
              </a:rPr>
              <a:t>Collaborative Filtering</a:t>
            </a:r>
            <a:endParaRPr lang="en-US" sz="1300" dirty="0"/>
          </a:p>
        </p:txBody>
      </p:sp>
      <p:sp>
        <p:nvSpPr>
          <p:cNvPr id="13" name="Text 11"/>
          <p:cNvSpPr/>
          <p:nvPr/>
        </p:nvSpPr>
        <p:spPr>
          <a:xfrm>
            <a:off x="4928616" y="1545336"/>
            <a:ext cx="3749040" cy="868680"/>
          </a:xfrm>
          <a:prstGeom prst="rect">
            <a:avLst/>
          </a:prstGeom>
          <a:noFill/>
          <a:ln/>
        </p:spPr>
        <p:txBody>
          <a:bodyPr wrap="square" lIns="0" tIns="0" rIns="0" bIns="0" rtlCol="0" anchor="ctr"/>
          <a:lstStyle/>
          <a:p>
            <a:pPr indent="0" marL="0">
              <a:buNone/>
            </a:pPr>
            <a:r>
              <a:rPr lang="en-US" sz="1000" dirty="0">
                <a:solidFill>
                  <a:srgbClr val="FFFFFF"/>
                </a:solidFill>
              </a:rPr>
              <a:t>Finds users (or items) with similar rating patterns. Predicts score as weighted avg of neighbour ratings, weight = similarity.</a:t>
            </a:r>
            <a:endParaRPr lang="en-US" sz="1000" dirty="0"/>
          </a:p>
        </p:txBody>
      </p:sp>
      <p:sp>
        <p:nvSpPr>
          <p:cNvPr id="14" name="Text 12"/>
          <p:cNvSpPr/>
          <p:nvPr/>
        </p:nvSpPr>
        <p:spPr>
          <a:xfrm>
            <a:off x="4928616" y="2551176"/>
            <a:ext cx="3749040" cy="228600"/>
          </a:xfrm>
          <a:prstGeom prst="rect">
            <a:avLst/>
          </a:prstGeom>
          <a:noFill/>
          <a:ln/>
        </p:spPr>
        <p:txBody>
          <a:bodyPr wrap="square" lIns="0" tIns="0" rIns="0" bIns="0" rtlCol="0" anchor="ctr"/>
          <a:lstStyle/>
          <a:p>
            <a:pPr indent="0" marL="0">
              <a:buNone/>
            </a:pPr>
            <a:r>
              <a:rPr lang="en-US" sz="900" i="1" dirty="0">
                <a:solidFill>
                  <a:srgbClr val="666666"/>
                </a:solidFill>
              </a:rPr>
              <a:t>score = sim(u,v) * r_v / sum(sim)</a:t>
            </a:r>
            <a:endParaRPr lang="en-US" sz="900" dirty="0"/>
          </a:p>
        </p:txBody>
      </p:sp>
      <p:sp>
        <p:nvSpPr>
          <p:cNvPr id="15" name="Shape 13"/>
          <p:cNvSpPr/>
          <p:nvPr/>
        </p:nvSpPr>
        <p:spPr>
          <a:xfrm>
            <a:off x="457200" y="3063240"/>
            <a:ext cx="4023360" cy="1737360"/>
          </a:xfrm>
          <a:prstGeom prst="roundRect">
            <a:avLst>
              <a:gd name="adj" fmla="val 6316"/>
            </a:avLst>
          </a:prstGeom>
          <a:solidFill>
            <a:srgbClr val="1E1E1E"/>
          </a:solidFill>
          <a:ln w="12700">
            <a:solidFill>
              <a:srgbClr val="2A2A2A"/>
            </a:solidFill>
            <a:prstDash val="solid"/>
          </a:ln>
          <a:effectLst>
            <a:outerShdw sx="100000" sy="100000" kx="0" ky="0" algn="bl" rotWithShape="0" blurRad="127000" dist="38100" dir="2700000">
              <a:srgbClr val="000000">
                <a:alpha val="40000"/>
              </a:srgbClr>
            </a:outerShdw>
          </a:effectLst>
        </p:spPr>
      </p:sp>
      <p:sp>
        <p:nvSpPr>
          <p:cNvPr id="16" name="Text 14"/>
          <p:cNvSpPr/>
          <p:nvPr/>
        </p:nvSpPr>
        <p:spPr>
          <a:xfrm>
            <a:off x="585216" y="3154680"/>
            <a:ext cx="3749040" cy="256032"/>
          </a:xfrm>
          <a:prstGeom prst="rect">
            <a:avLst/>
          </a:prstGeom>
          <a:noFill/>
          <a:ln/>
        </p:spPr>
        <p:txBody>
          <a:bodyPr wrap="square" lIns="0" tIns="0" rIns="0" bIns="0" rtlCol="0" anchor="ctr"/>
          <a:lstStyle/>
          <a:p>
            <a:pPr indent="0" marL="0">
              <a:buNone/>
            </a:pPr>
            <a:r>
              <a:rPr lang="en-US" sz="1300" b="1" dirty="0">
                <a:solidFill>
                  <a:srgbClr val="E50914"/>
                </a:solidFill>
              </a:rPr>
              <a:t>Content-Based</a:t>
            </a:r>
            <a:endParaRPr lang="en-US" sz="1300" dirty="0"/>
          </a:p>
        </p:txBody>
      </p:sp>
      <p:sp>
        <p:nvSpPr>
          <p:cNvPr id="17" name="Text 15"/>
          <p:cNvSpPr/>
          <p:nvPr/>
        </p:nvSpPr>
        <p:spPr>
          <a:xfrm>
            <a:off x="585216" y="3465576"/>
            <a:ext cx="3749040" cy="868680"/>
          </a:xfrm>
          <a:prstGeom prst="rect">
            <a:avLst/>
          </a:prstGeom>
          <a:noFill/>
          <a:ln/>
        </p:spPr>
        <p:txBody>
          <a:bodyPr wrap="square" lIns="0" tIns="0" rIns="0" bIns="0" rtlCol="0" anchor="ctr"/>
          <a:lstStyle/>
          <a:p>
            <a:pPr indent="0" marL="0">
              <a:buNone/>
            </a:pPr>
            <a:r>
              <a:rPr lang="en-US" sz="1000" dirty="0">
                <a:solidFill>
                  <a:srgbClr val="FFFFFF"/>
                </a:solidFill>
              </a:rPr>
              <a:t>Builds a TF-IDF vector per movie from genres + tags. User profile = sum of (rating - avg) * tfidf(item). Recommends unseen movies closest to that profile.</a:t>
            </a:r>
            <a:endParaRPr lang="en-US" sz="1000" dirty="0"/>
          </a:p>
        </p:txBody>
      </p:sp>
      <p:sp>
        <p:nvSpPr>
          <p:cNvPr id="18" name="Text 16"/>
          <p:cNvSpPr/>
          <p:nvPr/>
        </p:nvSpPr>
        <p:spPr>
          <a:xfrm>
            <a:off x="585216" y="4471416"/>
            <a:ext cx="3749040" cy="228600"/>
          </a:xfrm>
          <a:prstGeom prst="rect">
            <a:avLst/>
          </a:prstGeom>
          <a:noFill/>
          <a:ln/>
        </p:spPr>
        <p:txBody>
          <a:bodyPr wrap="square" lIns="0" tIns="0" rIns="0" bIns="0" rtlCol="0" anchor="ctr"/>
          <a:lstStyle/>
          <a:p>
            <a:pPr indent="0" marL="0">
              <a:buNone/>
            </a:pPr>
            <a:r>
              <a:rPr lang="en-US" sz="900" i="1" dirty="0">
                <a:solidFill>
                  <a:srgbClr val="666666"/>
                </a:solidFill>
              </a:rPr>
              <a:t>profile = sum (r - r_avg) * tfidf(item)</a:t>
            </a:r>
            <a:endParaRPr lang="en-US" sz="900" dirty="0"/>
          </a:p>
        </p:txBody>
      </p:sp>
      <p:sp>
        <p:nvSpPr>
          <p:cNvPr id="19" name="Shape 17"/>
          <p:cNvSpPr/>
          <p:nvPr/>
        </p:nvSpPr>
        <p:spPr>
          <a:xfrm>
            <a:off x="4800600" y="3063240"/>
            <a:ext cx="4023360" cy="1737360"/>
          </a:xfrm>
          <a:prstGeom prst="roundRect">
            <a:avLst>
              <a:gd name="adj" fmla="val 6316"/>
            </a:avLst>
          </a:prstGeom>
          <a:solidFill>
            <a:srgbClr val="1E1E1E"/>
          </a:solidFill>
          <a:ln w="12700">
            <a:solidFill>
              <a:srgbClr val="2A2A2A"/>
            </a:solidFill>
            <a:prstDash val="solid"/>
          </a:ln>
          <a:effectLst>
            <a:outerShdw sx="100000" sy="100000" kx="0" ky="0" algn="bl" rotWithShape="0" blurRad="127000" dist="38100" dir="2700000">
              <a:srgbClr val="000000">
                <a:alpha val="40000"/>
              </a:srgbClr>
            </a:outerShdw>
          </a:effectLst>
        </p:spPr>
      </p:sp>
      <p:sp>
        <p:nvSpPr>
          <p:cNvPr id="20" name="Text 18"/>
          <p:cNvSpPr/>
          <p:nvPr/>
        </p:nvSpPr>
        <p:spPr>
          <a:xfrm>
            <a:off x="4928616" y="3154680"/>
            <a:ext cx="3749040" cy="256032"/>
          </a:xfrm>
          <a:prstGeom prst="rect">
            <a:avLst/>
          </a:prstGeom>
          <a:noFill/>
          <a:ln/>
        </p:spPr>
        <p:txBody>
          <a:bodyPr wrap="square" lIns="0" tIns="0" rIns="0" bIns="0" rtlCol="0" anchor="ctr"/>
          <a:lstStyle/>
          <a:p>
            <a:pPr indent="0" marL="0">
              <a:buNone/>
            </a:pPr>
            <a:r>
              <a:rPr lang="en-US" sz="1300" b="1" dirty="0">
                <a:solidFill>
                  <a:srgbClr val="E50914"/>
                </a:solidFill>
              </a:rPr>
              <a:t>Matrix Factorisation</a:t>
            </a:r>
            <a:endParaRPr lang="en-US" sz="1300" dirty="0"/>
          </a:p>
        </p:txBody>
      </p:sp>
      <p:sp>
        <p:nvSpPr>
          <p:cNvPr id="21" name="Text 19"/>
          <p:cNvSpPr/>
          <p:nvPr/>
        </p:nvSpPr>
        <p:spPr>
          <a:xfrm>
            <a:off x="4928616" y="3465576"/>
            <a:ext cx="3749040" cy="868680"/>
          </a:xfrm>
          <a:prstGeom prst="rect">
            <a:avLst/>
          </a:prstGeom>
          <a:noFill/>
          <a:ln/>
        </p:spPr>
        <p:txBody>
          <a:bodyPr wrap="square" lIns="0" tIns="0" rIns="0" bIns="0" rtlCol="0" anchor="ctr"/>
          <a:lstStyle/>
          <a:p>
            <a:pPr indent="0" marL="0">
              <a:buNone/>
            </a:pPr>
            <a:r>
              <a:rPr lang="en-US" sz="1000" dirty="0">
                <a:solidFill>
                  <a:srgbClr val="FFFFFF"/>
                </a:solidFill>
              </a:rPr>
              <a:t>Decomposes the rating matrix R into two smaller matrices P (users) and Q (items). Each row is a latent taste vector. Score = dot product of user and item vectors.</a:t>
            </a:r>
            <a:endParaRPr lang="en-US" sz="1000" dirty="0"/>
          </a:p>
        </p:txBody>
      </p:sp>
      <p:sp>
        <p:nvSpPr>
          <p:cNvPr id="22" name="Text 20"/>
          <p:cNvSpPr/>
          <p:nvPr/>
        </p:nvSpPr>
        <p:spPr>
          <a:xfrm>
            <a:off x="4928616" y="4471416"/>
            <a:ext cx="3749040" cy="228600"/>
          </a:xfrm>
          <a:prstGeom prst="rect">
            <a:avLst/>
          </a:prstGeom>
          <a:noFill/>
          <a:ln/>
        </p:spPr>
        <p:txBody>
          <a:bodyPr wrap="square" lIns="0" tIns="0" rIns="0" bIns="0" rtlCol="0" anchor="ctr"/>
          <a:lstStyle/>
          <a:p>
            <a:pPr indent="0" marL="0">
              <a:buNone/>
            </a:pPr>
            <a:r>
              <a:rPr lang="en-US" sz="900" i="1" dirty="0">
                <a:solidFill>
                  <a:srgbClr val="666666"/>
                </a:solidFill>
              </a:rPr>
              <a:t>R ~ P x Q^T,  score = p_u · q_i</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50914"/>
          </a:solidFill>
          <a:ln w="12700">
            <a:solidFill>
              <a:srgbClr val="E50914"/>
            </a:solidFill>
            <a:prstDash val="solid"/>
          </a:ln>
        </p:spPr>
      </p:sp>
      <p:sp>
        <p:nvSpPr>
          <p:cNvPr id="3" name="Shape 1"/>
          <p:cNvSpPr/>
          <p:nvPr/>
        </p:nvSpPr>
        <p:spPr>
          <a:xfrm>
            <a:off x="0" y="5088636"/>
            <a:ext cx="9144000" cy="54864"/>
          </a:xfrm>
          <a:prstGeom prst="rect">
            <a:avLst/>
          </a:prstGeom>
          <a:solidFill>
            <a:srgbClr val="E50914"/>
          </a:solidFill>
          <a:ln w="12700">
            <a:solidFill>
              <a:srgbClr val="E50914"/>
            </a:solidFill>
            <a:prstDash val="solid"/>
          </a:ln>
        </p:spPr>
      </p:sp>
      <p:sp>
        <p:nvSpPr>
          <p:cNvPr id="4" name="Shape 2"/>
          <p:cNvSpPr/>
          <p:nvPr/>
        </p:nvSpPr>
        <p:spPr>
          <a:xfrm>
            <a:off x="457200" y="164592"/>
            <a:ext cx="1463040" cy="256032"/>
          </a:xfrm>
          <a:prstGeom prst="roundRect">
            <a:avLst>
              <a:gd name="adj" fmla="val 50000"/>
            </a:avLst>
          </a:prstGeom>
          <a:solidFill>
            <a:srgbClr val="E50914"/>
          </a:solidFill>
          <a:ln w="12700">
            <a:solidFill>
              <a:srgbClr val="E50914"/>
            </a:solidFill>
            <a:prstDash val="solid"/>
          </a:ln>
        </p:spPr>
      </p:sp>
      <p:sp>
        <p:nvSpPr>
          <p:cNvPr id="5" name="Text 3"/>
          <p:cNvSpPr/>
          <p:nvPr/>
        </p:nvSpPr>
        <p:spPr>
          <a:xfrm>
            <a:off x="457200" y="164592"/>
            <a:ext cx="1463040" cy="256032"/>
          </a:xfrm>
          <a:prstGeom prst="rect">
            <a:avLst/>
          </a:prstGeom>
          <a:noFill/>
          <a:ln/>
        </p:spPr>
        <p:txBody>
          <a:bodyPr wrap="square" lIns="0" tIns="0" rIns="0" bIns="0" rtlCol="0" anchor="ctr"/>
          <a:lstStyle/>
          <a:p>
            <a:pPr algn="ctr" indent="0" marL="0">
              <a:buNone/>
            </a:pPr>
            <a:r>
              <a:rPr lang="en-US" sz="700" b="1" dirty="0">
                <a:solidFill>
                  <a:srgbClr val="FFFFFF"/>
                </a:solidFill>
              </a:rPr>
              <a:t>ALGORITHMS</a:t>
            </a:r>
            <a:endParaRPr lang="en-US" sz="700" dirty="0"/>
          </a:p>
        </p:txBody>
      </p:sp>
      <p:sp>
        <p:nvSpPr>
          <p:cNvPr id="6" name="Text 4"/>
          <p:cNvSpPr/>
          <p:nvPr/>
        </p:nvSpPr>
        <p:spPr>
          <a:xfrm>
            <a:off x="457200" y="475488"/>
            <a:ext cx="8229600" cy="50292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Design Choices &amp; Why</a:t>
            </a:r>
            <a:endParaRPr lang="en-US" sz="3000" dirty="0"/>
          </a:p>
        </p:txBody>
      </p:sp>
      <p:sp>
        <p:nvSpPr>
          <p:cNvPr id="7" name="Shape 5"/>
          <p:cNvSpPr/>
          <p:nvPr/>
        </p:nvSpPr>
        <p:spPr>
          <a:xfrm>
            <a:off x="457200" y="1143000"/>
            <a:ext cx="4023360" cy="1097280"/>
          </a:xfrm>
          <a:prstGeom prst="roundRect">
            <a:avLst>
              <a:gd name="adj" fmla="val 10000"/>
            </a:avLst>
          </a:prstGeom>
          <a:solidFill>
            <a:srgbClr val="1E1E1E"/>
          </a:solidFill>
          <a:ln w="12700">
            <a:solidFill>
              <a:srgbClr val="2A2A2A"/>
            </a:solidFill>
            <a:prstDash val="solid"/>
          </a:ln>
          <a:effectLst>
            <a:outerShdw sx="100000" sy="100000" kx="0" ky="0" algn="bl" rotWithShape="0" blurRad="127000" dist="38100" dir="2700000">
              <a:srgbClr val="000000">
                <a:alpha val="40000"/>
              </a:srgbClr>
            </a:outerShdw>
          </a:effectLst>
        </p:spPr>
      </p:sp>
      <p:sp>
        <p:nvSpPr>
          <p:cNvPr id="8" name="Text 6"/>
          <p:cNvSpPr/>
          <p:nvPr/>
        </p:nvSpPr>
        <p:spPr>
          <a:xfrm>
            <a:off x="585216" y="1234440"/>
            <a:ext cx="3749040" cy="256032"/>
          </a:xfrm>
          <a:prstGeom prst="rect">
            <a:avLst/>
          </a:prstGeom>
          <a:noFill/>
          <a:ln/>
        </p:spPr>
        <p:txBody>
          <a:bodyPr wrap="square" lIns="0" tIns="0" rIns="0" bIns="0" rtlCol="0" anchor="ctr"/>
          <a:lstStyle/>
          <a:p>
            <a:pPr indent="0" marL="0">
              <a:buNone/>
            </a:pPr>
            <a:r>
              <a:rPr lang="en-US" sz="1200" b="1" dirty="0">
                <a:solidFill>
                  <a:srgbClr val="E50914"/>
                </a:solidFill>
              </a:rPr>
              <a:t>Bayesian avg C=50</a:t>
            </a:r>
            <a:endParaRPr lang="en-US" sz="1200" dirty="0"/>
          </a:p>
        </p:txBody>
      </p:sp>
      <p:sp>
        <p:nvSpPr>
          <p:cNvPr id="9" name="Text 7"/>
          <p:cNvSpPr/>
          <p:nvPr/>
        </p:nvSpPr>
        <p:spPr>
          <a:xfrm>
            <a:off x="585216" y="1527048"/>
            <a:ext cx="3749040" cy="640080"/>
          </a:xfrm>
          <a:prstGeom prst="rect">
            <a:avLst/>
          </a:prstGeom>
          <a:noFill/>
          <a:ln/>
        </p:spPr>
        <p:txBody>
          <a:bodyPr wrap="square" lIns="0" tIns="0" rIns="0" bIns="0" rtlCol="0" anchor="ctr"/>
          <a:lstStyle/>
          <a:p>
            <a:pPr indent="0" marL="0">
              <a:buNone/>
            </a:pPr>
            <a:r>
              <a:rPr lang="en-US" sz="1000" dirty="0">
                <a:solidFill>
                  <a:srgbClr val="FFFFFF"/>
                </a:solidFill>
              </a:rPr>
              <a:t>A movie needs ~50 ratings before its score stands on its own. Below that, the global mean pulls it back. Prevents a 5-star movie with 2 votes from topping the chart.</a:t>
            </a:r>
            <a:endParaRPr lang="en-US" sz="1000" dirty="0"/>
          </a:p>
        </p:txBody>
      </p:sp>
      <p:sp>
        <p:nvSpPr>
          <p:cNvPr id="10" name="Shape 8"/>
          <p:cNvSpPr/>
          <p:nvPr/>
        </p:nvSpPr>
        <p:spPr>
          <a:xfrm>
            <a:off x="4800600" y="1143000"/>
            <a:ext cx="4023360" cy="1097280"/>
          </a:xfrm>
          <a:prstGeom prst="roundRect">
            <a:avLst>
              <a:gd name="adj" fmla="val 10000"/>
            </a:avLst>
          </a:prstGeom>
          <a:solidFill>
            <a:srgbClr val="1E1E1E"/>
          </a:solidFill>
          <a:ln w="12700">
            <a:solidFill>
              <a:srgbClr val="2A2A2A"/>
            </a:solidFill>
            <a:prstDash val="solid"/>
          </a:ln>
          <a:effectLst>
            <a:outerShdw sx="100000" sy="100000" kx="0" ky="0" algn="bl" rotWithShape="0" blurRad="127000" dist="38100" dir="2700000">
              <a:srgbClr val="000000">
                <a:alpha val="40000"/>
              </a:srgbClr>
            </a:outerShdw>
          </a:effectLst>
        </p:spPr>
      </p:sp>
      <p:sp>
        <p:nvSpPr>
          <p:cNvPr id="11" name="Text 9"/>
          <p:cNvSpPr/>
          <p:nvPr/>
        </p:nvSpPr>
        <p:spPr>
          <a:xfrm>
            <a:off x="4928616" y="1234440"/>
            <a:ext cx="3749040" cy="256032"/>
          </a:xfrm>
          <a:prstGeom prst="rect">
            <a:avLst/>
          </a:prstGeom>
          <a:noFill/>
          <a:ln/>
        </p:spPr>
        <p:txBody>
          <a:bodyPr wrap="square" lIns="0" tIns="0" rIns="0" bIns="0" rtlCol="0" anchor="ctr"/>
          <a:lstStyle/>
          <a:p>
            <a:pPr indent="0" marL="0">
              <a:buNone/>
            </a:pPr>
            <a:r>
              <a:rPr lang="en-US" sz="1200" b="1" dirty="0">
                <a:solidFill>
                  <a:srgbClr val="E50914"/>
                </a:solidFill>
              </a:rPr>
              <a:t>k=20 neighbours (CF)</a:t>
            </a:r>
            <a:endParaRPr lang="en-US" sz="1200" dirty="0"/>
          </a:p>
        </p:txBody>
      </p:sp>
      <p:sp>
        <p:nvSpPr>
          <p:cNvPr id="12" name="Text 10"/>
          <p:cNvSpPr/>
          <p:nvPr/>
        </p:nvSpPr>
        <p:spPr>
          <a:xfrm>
            <a:off x="4928616" y="1527048"/>
            <a:ext cx="3749040" cy="640080"/>
          </a:xfrm>
          <a:prstGeom prst="rect">
            <a:avLst/>
          </a:prstGeom>
          <a:noFill/>
          <a:ln/>
        </p:spPr>
        <p:txBody>
          <a:bodyPr wrap="square" lIns="0" tIns="0" rIns="0" bIns="0" rtlCol="0" anchor="ctr"/>
          <a:lstStyle/>
          <a:p>
            <a:pPr indent="0" marL="0">
              <a:buNone/>
            </a:pPr>
            <a:r>
              <a:rPr lang="en-US" sz="1000" dirty="0">
                <a:solidFill>
                  <a:srgbClr val="FFFFFF"/>
                </a:solidFill>
              </a:rPr>
              <a:t>20 is a standard starting point. Too few = noisy; too many = dilutes signal with distant users. Kept as a slider in the app so it can be tuned per use case.</a:t>
            </a:r>
            <a:endParaRPr lang="en-US" sz="1000" dirty="0"/>
          </a:p>
        </p:txBody>
      </p:sp>
      <p:sp>
        <p:nvSpPr>
          <p:cNvPr id="13" name="Shape 11"/>
          <p:cNvSpPr/>
          <p:nvPr/>
        </p:nvSpPr>
        <p:spPr>
          <a:xfrm>
            <a:off x="457200" y="2404872"/>
            <a:ext cx="4023360" cy="1097280"/>
          </a:xfrm>
          <a:prstGeom prst="roundRect">
            <a:avLst>
              <a:gd name="adj" fmla="val 10000"/>
            </a:avLst>
          </a:prstGeom>
          <a:solidFill>
            <a:srgbClr val="1E1E1E"/>
          </a:solidFill>
          <a:ln w="12700">
            <a:solidFill>
              <a:srgbClr val="2A2A2A"/>
            </a:solidFill>
            <a:prstDash val="solid"/>
          </a:ln>
          <a:effectLst>
            <a:outerShdw sx="100000" sy="100000" kx="0" ky="0" algn="bl" rotWithShape="0" blurRad="127000" dist="38100" dir="2700000">
              <a:srgbClr val="000000">
                <a:alpha val="40000"/>
              </a:srgbClr>
            </a:outerShdw>
          </a:effectLst>
        </p:spPr>
      </p:sp>
      <p:sp>
        <p:nvSpPr>
          <p:cNvPr id="14" name="Text 12"/>
          <p:cNvSpPr/>
          <p:nvPr/>
        </p:nvSpPr>
        <p:spPr>
          <a:xfrm>
            <a:off x="585216" y="2496312"/>
            <a:ext cx="3749040" cy="256032"/>
          </a:xfrm>
          <a:prstGeom prst="rect">
            <a:avLst/>
          </a:prstGeom>
          <a:noFill/>
          <a:ln/>
        </p:spPr>
        <p:txBody>
          <a:bodyPr wrap="square" lIns="0" tIns="0" rIns="0" bIns="0" rtlCol="0" anchor="ctr"/>
          <a:lstStyle/>
          <a:p>
            <a:pPr indent="0" marL="0">
              <a:buNone/>
            </a:pPr>
            <a:r>
              <a:rPr lang="en-US" sz="1200" b="1" dirty="0">
                <a:solidFill>
                  <a:srgbClr val="E50914"/>
                </a:solidFill>
              </a:rPr>
              <a:t>TF-IDF, 500 features</a:t>
            </a:r>
            <a:endParaRPr lang="en-US" sz="1200" dirty="0"/>
          </a:p>
        </p:txBody>
      </p:sp>
      <p:sp>
        <p:nvSpPr>
          <p:cNvPr id="15" name="Text 13"/>
          <p:cNvSpPr/>
          <p:nvPr/>
        </p:nvSpPr>
        <p:spPr>
          <a:xfrm>
            <a:off x="585216" y="2788920"/>
            <a:ext cx="3749040" cy="640080"/>
          </a:xfrm>
          <a:prstGeom prst="rect">
            <a:avLst/>
          </a:prstGeom>
          <a:noFill/>
          <a:ln/>
        </p:spPr>
        <p:txBody>
          <a:bodyPr wrap="square" lIns="0" tIns="0" rIns="0" bIns="0" rtlCol="0" anchor="ctr"/>
          <a:lstStyle/>
          <a:p>
            <a:pPr indent="0" marL="0">
              <a:buNone/>
            </a:pPr>
            <a:r>
              <a:rPr lang="en-US" sz="1000" dirty="0">
                <a:solidFill>
                  <a:srgbClr val="FFFFFF"/>
                </a:solidFill>
              </a:rPr>
              <a:t>Genres + tags give ~800 unique tokens. 500 cuts noise from very rare tags while keeping all genre terms. Sparse matrix stays fast enough for real-time use.</a:t>
            </a:r>
            <a:endParaRPr lang="en-US" sz="1000" dirty="0"/>
          </a:p>
        </p:txBody>
      </p:sp>
      <p:sp>
        <p:nvSpPr>
          <p:cNvPr id="16" name="Shape 14"/>
          <p:cNvSpPr/>
          <p:nvPr/>
        </p:nvSpPr>
        <p:spPr>
          <a:xfrm>
            <a:off x="4800600" y="2404872"/>
            <a:ext cx="4023360" cy="1097280"/>
          </a:xfrm>
          <a:prstGeom prst="roundRect">
            <a:avLst>
              <a:gd name="adj" fmla="val 10000"/>
            </a:avLst>
          </a:prstGeom>
          <a:solidFill>
            <a:srgbClr val="1E1E1E"/>
          </a:solidFill>
          <a:ln w="12700">
            <a:solidFill>
              <a:srgbClr val="2A2A2A"/>
            </a:solidFill>
            <a:prstDash val="solid"/>
          </a:ln>
          <a:effectLst>
            <a:outerShdw sx="100000" sy="100000" kx="0" ky="0" algn="bl" rotWithShape="0" blurRad="127000" dist="38100" dir="2700000">
              <a:srgbClr val="000000">
                <a:alpha val="40000"/>
              </a:srgbClr>
            </a:outerShdw>
          </a:effectLst>
        </p:spPr>
      </p:sp>
      <p:sp>
        <p:nvSpPr>
          <p:cNvPr id="17" name="Text 15"/>
          <p:cNvSpPr/>
          <p:nvPr/>
        </p:nvSpPr>
        <p:spPr>
          <a:xfrm>
            <a:off x="4928616" y="2496312"/>
            <a:ext cx="3749040" cy="256032"/>
          </a:xfrm>
          <a:prstGeom prst="rect">
            <a:avLst/>
          </a:prstGeom>
          <a:noFill/>
          <a:ln/>
        </p:spPr>
        <p:txBody>
          <a:bodyPr wrap="square" lIns="0" tIns="0" rIns="0" bIns="0" rtlCol="0" anchor="ctr"/>
          <a:lstStyle/>
          <a:p>
            <a:pPr indent="0" marL="0">
              <a:buNone/>
            </a:pPr>
            <a:r>
              <a:rPr lang="en-US" sz="1200" b="1" dirty="0">
                <a:solidFill>
                  <a:srgbClr val="E50914"/>
                </a:solidFill>
              </a:rPr>
              <a:t>TruncatedSVD, 50 factors</a:t>
            </a:r>
            <a:endParaRPr lang="en-US" sz="1200" dirty="0"/>
          </a:p>
        </p:txBody>
      </p:sp>
      <p:sp>
        <p:nvSpPr>
          <p:cNvPr id="18" name="Text 16"/>
          <p:cNvSpPr/>
          <p:nvPr/>
        </p:nvSpPr>
        <p:spPr>
          <a:xfrm>
            <a:off x="4928616" y="2788920"/>
            <a:ext cx="3749040" cy="640080"/>
          </a:xfrm>
          <a:prstGeom prst="rect">
            <a:avLst/>
          </a:prstGeom>
          <a:noFill/>
          <a:ln/>
        </p:spPr>
        <p:txBody>
          <a:bodyPr wrap="square" lIns="0" tIns="0" rIns="0" bIns="0" rtlCol="0" anchor="ctr"/>
          <a:lstStyle/>
          <a:p>
            <a:pPr indent="0" marL="0">
              <a:buNone/>
            </a:pPr>
            <a:r>
              <a:rPr lang="en-US" sz="1000" dirty="0">
                <a:solidFill>
                  <a:srgbClr val="FFFFFF"/>
                </a:solidFill>
              </a:rPr>
              <a:t>50 latent factors captures most of the variance in a 610-user dataset without overfitting. Standard choice for this dataset size; exposed as a slider in the app.</a:t>
            </a:r>
            <a:endParaRPr lang="en-US" sz="1000" dirty="0"/>
          </a:p>
        </p:txBody>
      </p:sp>
      <p:sp>
        <p:nvSpPr>
          <p:cNvPr id="19" name="Shape 17"/>
          <p:cNvSpPr/>
          <p:nvPr/>
        </p:nvSpPr>
        <p:spPr>
          <a:xfrm>
            <a:off x="457200" y="3666744"/>
            <a:ext cx="4023360" cy="1097280"/>
          </a:xfrm>
          <a:prstGeom prst="roundRect">
            <a:avLst>
              <a:gd name="adj" fmla="val 10000"/>
            </a:avLst>
          </a:prstGeom>
          <a:solidFill>
            <a:srgbClr val="1E1E1E"/>
          </a:solidFill>
          <a:ln w="12700">
            <a:solidFill>
              <a:srgbClr val="2A2A2A"/>
            </a:solidFill>
            <a:prstDash val="solid"/>
          </a:ln>
          <a:effectLst>
            <a:outerShdw sx="100000" sy="100000" kx="0" ky="0" algn="bl" rotWithShape="0" blurRad="127000" dist="38100" dir="2700000">
              <a:srgbClr val="000000">
                <a:alpha val="40000"/>
              </a:srgbClr>
            </a:outerShdw>
          </a:effectLst>
        </p:spPr>
      </p:sp>
      <p:sp>
        <p:nvSpPr>
          <p:cNvPr id="20" name="Text 18"/>
          <p:cNvSpPr/>
          <p:nvPr/>
        </p:nvSpPr>
        <p:spPr>
          <a:xfrm>
            <a:off x="585216" y="3758184"/>
            <a:ext cx="3749040" cy="256032"/>
          </a:xfrm>
          <a:prstGeom prst="rect">
            <a:avLst/>
          </a:prstGeom>
          <a:noFill/>
          <a:ln/>
        </p:spPr>
        <p:txBody>
          <a:bodyPr wrap="square" lIns="0" tIns="0" rIns="0" bIns="0" rtlCol="0" anchor="ctr"/>
          <a:lstStyle/>
          <a:p>
            <a:pPr indent="0" marL="0">
              <a:buNone/>
            </a:pPr>
            <a:r>
              <a:rPr lang="en-US" sz="1200" b="1" dirty="0">
                <a:solidFill>
                  <a:srgbClr val="E50914"/>
                </a:solidFill>
              </a:rPr>
              <a:t>Temporal split 80/20</a:t>
            </a:r>
            <a:endParaRPr lang="en-US" sz="1200" dirty="0"/>
          </a:p>
        </p:txBody>
      </p:sp>
      <p:sp>
        <p:nvSpPr>
          <p:cNvPr id="21" name="Text 19"/>
          <p:cNvSpPr/>
          <p:nvPr/>
        </p:nvSpPr>
        <p:spPr>
          <a:xfrm>
            <a:off x="585216" y="4050792"/>
            <a:ext cx="3749040" cy="640080"/>
          </a:xfrm>
          <a:prstGeom prst="rect">
            <a:avLst/>
          </a:prstGeom>
          <a:noFill/>
          <a:ln/>
        </p:spPr>
        <p:txBody>
          <a:bodyPr wrap="square" lIns="0" tIns="0" rIns="0" bIns="0" rtlCol="0" anchor="ctr"/>
          <a:lstStyle/>
          <a:p>
            <a:pPr indent="0" marL="0">
              <a:buNone/>
            </a:pPr>
            <a:r>
              <a:rPr lang="en-US" sz="1000" dirty="0">
                <a:solidFill>
                  <a:srgbClr val="FFFFFF"/>
                </a:solidFill>
              </a:rPr>
              <a:t>Random splits let the model see future data during training, which inflates metrics. Sorting by timestamp simulates a real deployment scenario.</a:t>
            </a:r>
            <a:endParaRPr lang="en-US" sz="1000" dirty="0"/>
          </a:p>
        </p:txBody>
      </p:sp>
      <p:sp>
        <p:nvSpPr>
          <p:cNvPr id="22" name="Shape 20"/>
          <p:cNvSpPr/>
          <p:nvPr/>
        </p:nvSpPr>
        <p:spPr>
          <a:xfrm>
            <a:off x="4800600" y="3666744"/>
            <a:ext cx="4023360" cy="1097280"/>
          </a:xfrm>
          <a:prstGeom prst="roundRect">
            <a:avLst>
              <a:gd name="adj" fmla="val 10000"/>
            </a:avLst>
          </a:prstGeom>
          <a:solidFill>
            <a:srgbClr val="1E1E1E"/>
          </a:solidFill>
          <a:ln w="12700">
            <a:solidFill>
              <a:srgbClr val="2A2A2A"/>
            </a:solidFill>
            <a:prstDash val="solid"/>
          </a:ln>
          <a:effectLst>
            <a:outerShdw sx="100000" sy="100000" kx="0" ky="0" algn="bl" rotWithShape="0" blurRad="127000" dist="38100" dir="2700000">
              <a:srgbClr val="000000">
                <a:alpha val="40000"/>
              </a:srgbClr>
            </a:outerShdw>
          </a:effectLst>
        </p:spPr>
      </p:sp>
      <p:sp>
        <p:nvSpPr>
          <p:cNvPr id="23" name="Text 21"/>
          <p:cNvSpPr/>
          <p:nvPr/>
        </p:nvSpPr>
        <p:spPr>
          <a:xfrm>
            <a:off x="4928616" y="3758184"/>
            <a:ext cx="3749040" cy="256032"/>
          </a:xfrm>
          <a:prstGeom prst="rect">
            <a:avLst/>
          </a:prstGeom>
          <a:noFill/>
          <a:ln/>
        </p:spPr>
        <p:txBody>
          <a:bodyPr wrap="square" lIns="0" tIns="0" rIns="0" bIns="0" rtlCol="0" anchor="ctr"/>
          <a:lstStyle/>
          <a:p>
            <a:pPr indent="0" marL="0">
              <a:buNone/>
            </a:pPr>
            <a:r>
              <a:rPr lang="en-US" sz="1200" b="1" dirty="0">
                <a:solidFill>
                  <a:srgbClr val="E50914"/>
                </a:solidFill>
              </a:rPr>
              <a:t>Cosine + Pearson</a:t>
            </a:r>
            <a:endParaRPr lang="en-US" sz="1200" dirty="0"/>
          </a:p>
        </p:txBody>
      </p:sp>
      <p:sp>
        <p:nvSpPr>
          <p:cNvPr id="24" name="Text 22"/>
          <p:cNvSpPr/>
          <p:nvPr/>
        </p:nvSpPr>
        <p:spPr>
          <a:xfrm>
            <a:off x="4928616" y="4050792"/>
            <a:ext cx="3749040" cy="640080"/>
          </a:xfrm>
          <a:prstGeom prst="rect">
            <a:avLst/>
          </a:prstGeom>
          <a:noFill/>
          <a:ln/>
        </p:spPr>
        <p:txBody>
          <a:bodyPr wrap="square" lIns="0" tIns="0" rIns="0" bIns="0" rtlCol="0" anchor="ctr"/>
          <a:lstStyle/>
          <a:p>
            <a:pPr indent="0" marL="0">
              <a:buNone/>
            </a:pPr>
            <a:r>
              <a:rPr lang="en-US" sz="1000" dirty="0">
                <a:solidFill>
                  <a:srgbClr val="FFFFFF"/>
                </a:solidFill>
              </a:rPr>
              <a:t>Cosine is fast and widely used. Pearson centers ratings first, which corrects for users who rate everything high or low. Both are in the app so results can be compared directly.</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50914"/>
          </a:solidFill>
          <a:ln w="12700">
            <a:solidFill>
              <a:srgbClr val="E50914"/>
            </a:solidFill>
            <a:prstDash val="solid"/>
          </a:ln>
        </p:spPr>
      </p:sp>
      <p:sp>
        <p:nvSpPr>
          <p:cNvPr id="3" name="Shape 1"/>
          <p:cNvSpPr/>
          <p:nvPr/>
        </p:nvSpPr>
        <p:spPr>
          <a:xfrm>
            <a:off x="0" y="5088636"/>
            <a:ext cx="9144000" cy="54864"/>
          </a:xfrm>
          <a:prstGeom prst="rect">
            <a:avLst/>
          </a:prstGeom>
          <a:solidFill>
            <a:srgbClr val="E50914"/>
          </a:solidFill>
          <a:ln w="12700">
            <a:solidFill>
              <a:srgbClr val="E50914"/>
            </a:solidFill>
            <a:prstDash val="solid"/>
          </a:ln>
        </p:spPr>
      </p:sp>
      <p:sp>
        <p:nvSpPr>
          <p:cNvPr id="4" name="Shape 2"/>
          <p:cNvSpPr/>
          <p:nvPr/>
        </p:nvSpPr>
        <p:spPr>
          <a:xfrm>
            <a:off x="457200" y="164592"/>
            <a:ext cx="1463040" cy="256032"/>
          </a:xfrm>
          <a:prstGeom prst="roundRect">
            <a:avLst>
              <a:gd name="adj" fmla="val 50000"/>
            </a:avLst>
          </a:prstGeom>
          <a:solidFill>
            <a:srgbClr val="E50914"/>
          </a:solidFill>
          <a:ln w="12700">
            <a:solidFill>
              <a:srgbClr val="E50914"/>
            </a:solidFill>
            <a:prstDash val="solid"/>
          </a:ln>
        </p:spPr>
      </p:sp>
      <p:sp>
        <p:nvSpPr>
          <p:cNvPr id="5" name="Text 3"/>
          <p:cNvSpPr/>
          <p:nvPr/>
        </p:nvSpPr>
        <p:spPr>
          <a:xfrm>
            <a:off x="457200" y="164592"/>
            <a:ext cx="1463040" cy="256032"/>
          </a:xfrm>
          <a:prstGeom prst="rect">
            <a:avLst/>
          </a:prstGeom>
          <a:noFill/>
          <a:ln/>
        </p:spPr>
        <p:txBody>
          <a:bodyPr wrap="square" lIns="0" tIns="0" rIns="0" bIns="0" rtlCol="0" anchor="ctr"/>
          <a:lstStyle/>
          <a:p>
            <a:pPr algn="ctr" indent="0" marL="0">
              <a:buNone/>
            </a:pPr>
            <a:r>
              <a:rPr lang="en-US" sz="700" b="1" dirty="0">
                <a:solidFill>
                  <a:srgbClr val="FFFFFF"/>
                </a:solidFill>
              </a:rPr>
              <a:t>EVALUATION</a:t>
            </a:r>
            <a:endParaRPr lang="en-US" sz="700" dirty="0"/>
          </a:p>
        </p:txBody>
      </p:sp>
      <p:sp>
        <p:nvSpPr>
          <p:cNvPr id="6" name="Text 4"/>
          <p:cNvSpPr/>
          <p:nvPr/>
        </p:nvSpPr>
        <p:spPr>
          <a:xfrm>
            <a:off x="457200" y="475488"/>
            <a:ext cx="8229600" cy="50292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Evaluation Protocol</a:t>
            </a:r>
            <a:endParaRPr lang="en-US" sz="3000" dirty="0"/>
          </a:p>
        </p:txBody>
      </p:sp>
      <p:sp>
        <p:nvSpPr>
          <p:cNvPr id="7" name="Shape 5"/>
          <p:cNvSpPr/>
          <p:nvPr/>
        </p:nvSpPr>
        <p:spPr>
          <a:xfrm>
            <a:off x="457200" y="1097280"/>
            <a:ext cx="5303520" cy="1371600"/>
          </a:xfrm>
          <a:prstGeom prst="roundRect">
            <a:avLst>
              <a:gd name="adj" fmla="val 8000"/>
            </a:avLst>
          </a:prstGeom>
          <a:solidFill>
            <a:srgbClr val="1E1E1E"/>
          </a:solidFill>
          <a:ln w="12700">
            <a:solidFill>
              <a:srgbClr val="2A2A2A"/>
            </a:solidFill>
            <a:prstDash val="solid"/>
          </a:ln>
          <a:effectLst>
            <a:outerShdw sx="100000" sy="100000" kx="0" ky="0" algn="bl" rotWithShape="0" blurRad="127000" dist="38100" dir="2700000">
              <a:srgbClr val="000000">
                <a:alpha val="40000"/>
              </a:srgbClr>
            </a:outerShdw>
          </a:effectLst>
        </p:spPr>
      </p:sp>
      <p:sp>
        <p:nvSpPr>
          <p:cNvPr id="8" name="Text 6"/>
          <p:cNvSpPr/>
          <p:nvPr/>
        </p:nvSpPr>
        <p:spPr>
          <a:xfrm>
            <a:off x="640080" y="1170432"/>
            <a:ext cx="4937760" cy="274320"/>
          </a:xfrm>
          <a:prstGeom prst="rect">
            <a:avLst/>
          </a:prstGeom>
          <a:noFill/>
          <a:ln/>
        </p:spPr>
        <p:txBody>
          <a:bodyPr wrap="square" lIns="0" tIns="0" rIns="0" bIns="0" rtlCol="0" anchor="ctr"/>
          <a:lstStyle/>
          <a:p>
            <a:pPr indent="0" marL="0">
              <a:buNone/>
            </a:pPr>
            <a:r>
              <a:rPr lang="en-US" sz="1300" b="1" dirty="0">
                <a:solidFill>
                  <a:srgbClr val="E50914"/>
                </a:solidFill>
              </a:rPr>
              <a:t>Train / Test Split</a:t>
            </a:r>
            <a:endParaRPr lang="en-US" sz="1300" dirty="0"/>
          </a:p>
        </p:txBody>
      </p:sp>
      <p:sp>
        <p:nvSpPr>
          <p:cNvPr id="9" name="Shape 7"/>
          <p:cNvSpPr/>
          <p:nvPr/>
        </p:nvSpPr>
        <p:spPr>
          <a:xfrm>
            <a:off x="640080" y="1508760"/>
            <a:ext cx="3657600" cy="411480"/>
          </a:xfrm>
          <a:prstGeom prst="roundRect">
            <a:avLst>
              <a:gd name="adj" fmla="val 11111"/>
            </a:avLst>
          </a:prstGeom>
          <a:solidFill>
            <a:srgbClr val="1A6B1A"/>
          </a:solidFill>
          <a:ln w="12700">
            <a:solidFill>
              <a:srgbClr val="1A6B1A"/>
            </a:solidFill>
            <a:prstDash val="solid"/>
          </a:ln>
        </p:spPr>
      </p:sp>
      <p:sp>
        <p:nvSpPr>
          <p:cNvPr id="10" name="Text 8"/>
          <p:cNvSpPr/>
          <p:nvPr/>
        </p:nvSpPr>
        <p:spPr>
          <a:xfrm>
            <a:off x="640080" y="1508760"/>
            <a:ext cx="3657600" cy="411480"/>
          </a:xfrm>
          <a:prstGeom prst="rect">
            <a:avLst/>
          </a:prstGeom>
          <a:noFill/>
          <a:ln/>
        </p:spPr>
        <p:txBody>
          <a:bodyPr wrap="square" lIns="0" tIns="0" rIns="0" bIns="0" rtlCol="0" anchor="ctr"/>
          <a:lstStyle/>
          <a:p>
            <a:pPr algn="ctr" indent="0" marL="0">
              <a:buNone/>
            </a:pPr>
            <a:r>
              <a:rPr lang="en-US" sz="1200" b="1" dirty="0">
                <a:solidFill>
                  <a:srgbClr val="FFFFFF"/>
                </a:solidFill>
              </a:rPr>
              <a:t>TRAIN  80%</a:t>
            </a:r>
            <a:endParaRPr lang="en-US" sz="1200" dirty="0"/>
          </a:p>
        </p:txBody>
      </p:sp>
      <p:sp>
        <p:nvSpPr>
          <p:cNvPr id="11" name="Shape 9"/>
          <p:cNvSpPr/>
          <p:nvPr/>
        </p:nvSpPr>
        <p:spPr>
          <a:xfrm>
            <a:off x="4343400" y="1508760"/>
            <a:ext cx="1234440" cy="411480"/>
          </a:xfrm>
          <a:prstGeom prst="roundRect">
            <a:avLst>
              <a:gd name="adj" fmla="val 11111"/>
            </a:avLst>
          </a:prstGeom>
          <a:solidFill>
            <a:srgbClr val="B20710"/>
          </a:solidFill>
          <a:ln w="12700">
            <a:solidFill>
              <a:srgbClr val="B20710"/>
            </a:solidFill>
            <a:prstDash val="solid"/>
          </a:ln>
        </p:spPr>
      </p:sp>
      <p:sp>
        <p:nvSpPr>
          <p:cNvPr id="12" name="Text 10"/>
          <p:cNvSpPr/>
          <p:nvPr/>
        </p:nvSpPr>
        <p:spPr>
          <a:xfrm>
            <a:off x="4343400" y="1508760"/>
            <a:ext cx="1234440" cy="411480"/>
          </a:xfrm>
          <a:prstGeom prst="rect">
            <a:avLst/>
          </a:prstGeom>
          <a:noFill/>
          <a:ln/>
        </p:spPr>
        <p:txBody>
          <a:bodyPr wrap="square" lIns="0" tIns="0" rIns="0" bIns="0" rtlCol="0" anchor="ctr"/>
          <a:lstStyle/>
          <a:p>
            <a:pPr algn="ctr" indent="0" marL="0">
              <a:buNone/>
            </a:pPr>
            <a:r>
              <a:rPr lang="en-US" sz="1100" b="1" dirty="0">
                <a:solidFill>
                  <a:srgbClr val="FFFFFF"/>
                </a:solidFill>
              </a:rPr>
              <a:t>TEST 20%</a:t>
            </a:r>
            <a:endParaRPr lang="en-US" sz="1100" dirty="0"/>
          </a:p>
        </p:txBody>
      </p:sp>
      <p:sp>
        <p:nvSpPr>
          <p:cNvPr id="13" name="Text 11"/>
          <p:cNvSpPr/>
          <p:nvPr/>
        </p:nvSpPr>
        <p:spPr>
          <a:xfrm>
            <a:off x="640080" y="1984248"/>
            <a:ext cx="4937760" cy="256032"/>
          </a:xfrm>
          <a:prstGeom prst="rect">
            <a:avLst/>
          </a:prstGeom>
          <a:noFill/>
          <a:ln/>
        </p:spPr>
        <p:txBody>
          <a:bodyPr wrap="square" lIns="0" tIns="0" rIns="0" bIns="0" rtlCol="0" anchor="ctr"/>
          <a:lstStyle/>
          <a:p>
            <a:pPr indent="0" marL="0">
              <a:buNone/>
            </a:pPr>
            <a:r>
              <a:rPr lang="en-US" sz="1000" i="1" dirty="0">
                <a:solidFill>
                  <a:srgbClr val="B3B3B3"/>
                </a:solidFill>
              </a:rPr>
              <a:t>Sorted by timestamp per user - no data leakage</a:t>
            </a:r>
            <a:endParaRPr lang="en-US" sz="1000" dirty="0"/>
          </a:p>
        </p:txBody>
      </p:sp>
      <p:sp>
        <p:nvSpPr>
          <p:cNvPr id="14" name="Shape 12"/>
          <p:cNvSpPr/>
          <p:nvPr/>
        </p:nvSpPr>
        <p:spPr>
          <a:xfrm>
            <a:off x="5989320" y="1097280"/>
            <a:ext cx="2834640" cy="658368"/>
          </a:xfrm>
          <a:prstGeom prst="roundRect">
            <a:avLst>
              <a:gd name="adj" fmla="val 16667"/>
            </a:avLst>
          </a:prstGeom>
          <a:solidFill>
            <a:srgbClr val="1E1E1E"/>
          </a:solidFill>
          <a:ln w="12700">
            <a:solidFill>
              <a:srgbClr val="2A2A2A"/>
            </a:solidFill>
            <a:prstDash val="solid"/>
          </a:ln>
          <a:effectLst>
            <a:outerShdw sx="100000" sy="100000" kx="0" ky="0" algn="bl" rotWithShape="0" blurRad="127000" dist="38100" dir="2700000">
              <a:srgbClr val="000000">
                <a:alpha val="40000"/>
              </a:srgbClr>
            </a:outerShdw>
          </a:effectLst>
        </p:spPr>
      </p:sp>
      <p:sp>
        <p:nvSpPr>
          <p:cNvPr id="15" name="Text 13"/>
          <p:cNvSpPr/>
          <p:nvPr/>
        </p:nvSpPr>
        <p:spPr>
          <a:xfrm>
            <a:off x="6099048" y="1152144"/>
            <a:ext cx="1645920" cy="237744"/>
          </a:xfrm>
          <a:prstGeom prst="rect">
            <a:avLst/>
          </a:prstGeom>
          <a:noFill/>
          <a:ln/>
        </p:spPr>
        <p:txBody>
          <a:bodyPr wrap="square" lIns="0" tIns="0" rIns="0" bIns="0" rtlCol="0" anchor="ctr"/>
          <a:lstStyle/>
          <a:p>
            <a:pPr indent="0" marL="0">
              <a:buNone/>
            </a:pPr>
            <a:r>
              <a:rPr lang="en-US" sz="1100" b="1" dirty="0">
                <a:solidFill>
                  <a:srgbClr val="E50914"/>
                </a:solidFill>
              </a:rPr>
              <a:t>Precision@10</a:t>
            </a:r>
            <a:endParaRPr lang="en-US" sz="1100" dirty="0"/>
          </a:p>
        </p:txBody>
      </p:sp>
      <p:sp>
        <p:nvSpPr>
          <p:cNvPr id="16" name="Text 14"/>
          <p:cNvSpPr/>
          <p:nvPr/>
        </p:nvSpPr>
        <p:spPr>
          <a:xfrm>
            <a:off x="7315200" y="1152144"/>
            <a:ext cx="1417320" cy="237744"/>
          </a:xfrm>
          <a:prstGeom prst="rect">
            <a:avLst/>
          </a:prstGeom>
          <a:noFill/>
          <a:ln/>
        </p:spPr>
        <p:txBody>
          <a:bodyPr wrap="square" lIns="0" tIns="0" rIns="0" bIns="0" rtlCol="0" anchor="ctr"/>
          <a:lstStyle/>
          <a:p>
            <a:pPr algn="r" indent="0" marL="0">
              <a:buNone/>
            </a:pPr>
            <a:r>
              <a:rPr lang="en-US" sz="900" i="1" dirty="0">
                <a:solidFill>
                  <a:srgbClr val="666666"/>
                </a:solidFill>
              </a:rPr>
              <a:t>hits / 10</a:t>
            </a:r>
            <a:endParaRPr lang="en-US" sz="900" dirty="0"/>
          </a:p>
        </p:txBody>
      </p:sp>
      <p:sp>
        <p:nvSpPr>
          <p:cNvPr id="17" name="Text 15"/>
          <p:cNvSpPr/>
          <p:nvPr/>
        </p:nvSpPr>
        <p:spPr>
          <a:xfrm>
            <a:off x="6099048" y="1389888"/>
            <a:ext cx="2633472" cy="310896"/>
          </a:xfrm>
          <a:prstGeom prst="rect">
            <a:avLst/>
          </a:prstGeom>
          <a:noFill/>
          <a:ln/>
        </p:spPr>
        <p:txBody>
          <a:bodyPr wrap="square" lIns="0" tIns="0" rIns="0" bIns="0" rtlCol="0" anchor="ctr"/>
          <a:lstStyle/>
          <a:p>
            <a:pPr indent="0" marL="0">
              <a:buNone/>
            </a:pPr>
            <a:r>
              <a:rPr lang="en-US" sz="900" dirty="0">
                <a:solidFill>
                  <a:srgbClr val="B3B3B3"/>
                </a:solidFill>
              </a:rPr>
              <a:t>What fraction of the top-10 recs were actually relevant?</a:t>
            </a:r>
            <a:endParaRPr lang="en-US" sz="900" dirty="0"/>
          </a:p>
        </p:txBody>
      </p:sp>
      <p:sp>
        <p:nvSpPr>
          <p:cNvPr id="18" name="Shape 16"/>
          <p:cNvSpPr/>
          <p:nvPr/>
        </p:nvSpPr>
        <p:spPr>
          <a:xfrm>
            <a:off x="5989320" y="1883664"/>
            <a:ext cx="2834640" cy="658368"/>
          </a:xfrm>
          <a:prstGeom prst="roundRect">
            <a:avLst>
              <a:gd name="adj" fmla="val 16667"/>
            </a:avLst>
          </a:prstGeom>
          <a:solidFill>
            <a:srgbClr val="1E1E1E"/>
          </a:solidFill>
          <a:ln w="12700">
            <a:solidFill>
              <a:srgbClr val="2A2A2A"/>
            </a:solidFill>
            <a:prstDash val="solid"/>
          </a:ln>
          <a:effectLst>
            <a:outerShdw sx="100000" sy="100000" kx="0" ky="0" algn="bl" rotWithShape="0" blurRad="127000" dist="38100" dir="2700000">
              <a:srgbClr val="000000">
                <a:alpha val="40000"/>
              </a:srgbClr>
            </a:outerShdw>
          </a:effectLst>
        </p:spPr>
      </p:sp>
      <p:sp>
        <p:nvSpPr>
          <p:cNvPr id="19" name="Text 17"/>
          <p:cNvSpPr/>
          <p:nvPr/>
        </p:nvSpPr>
        <p:spPr>
          <a:xfrm>
            <a:off x="6099048" y="1938528"/>
            <a:ext cx="1645920" cy="237744"/>
          </a:xfrm>
          <a:prstGeom prst="rect">
            <a:avLst/>
          </a:prstGeom>
          <a:noFill/>
          <a:ln/>
        </p:spPr>
        <p:txBody>
          <a:bodyPr wrap="square" lIns="0" tIns="0" rIns="0" bIns="0" rtlCol="0" anchor="ctr"/>
          <a:lstStyle/>
          <a:p>
            <a:pPr indent="0" marL="0">
              <a:buNone/>
            </a:pPr>
            <a:r>
              <a:rPr lang="en-US" sz="1100" b="1" dirty="0">
                <a:solidFill>
                  <a:srgbClr val="E50914"/>
                </a:solidFill>
              </a:rPr>
              <a:t>Recall@10</a:t>
            </a:r>
            <a:endParaRPr lang="en-US" sz="1100" dirty="0"/>
          </a:p>
        </p:txBody>
      </p:sp>
      <p:sp>
        <p:nvSpPr>
          <p:cNvPr id="20" name="Text 18"/>
          <p:cNvSpPr/>
          <p:nvPr/>
        </p:nvSpPr>
        <p:spPr>
          <a:xfrm>
            <a:off x="7315200" y="1938528"/>
            <a:ext cx="1417320" cy="237744"/>
          </a:xfrm>
          <a:prstGeom prst="rect">
            <a:avLst/>
          </a:prstGeom>
          <a:noFill/>
          <a:ln/>
        </p:spPr>
        <p:txBody>
          <a:bodyPr wrap="square" lIns="0" tIns="0" rIns="0" bIns="0" rtlCol="0" anchor="ctr"/>
          <a:lstStyle/>
          <a:p>
            <a:pPr algn="r" indent="0" marL="0">
              <a:buNone/>
            </a:pPr>
            <a:r>
              <a:rPr lang="en-US" sz="900" i="1" dirty="0">
                <a:solidFill>
                  <a:srgbClr val="666666"/>
                </a:solidFill>
              </a:rPr>
              <a:t>hits / |relevant|</a:t>
            </a:r>
            <a:endParaRPr lang="en-US" sz="900" dirty="0"/>
          </a:p>
        </p:txBody>
      </p:sp>
      <p:sp>
        <p:nvSpPr>
          <p:cNvPr id="21" name="Text 19"/>
          <p:cNvSpPr/>
          <p:nvPr/>
        </p:nvSpPr>
        <p:spPr>
          <a:xfrm>
            <a:off x="6099048" y="2176272"/>
            <a:ext cx="2633472" cy="310896"/>
          </a:xfrm>
          <a:prstGeom prst="rect">
            <a:avLst/>
          </a:prstGeom>
          <a:noFill/>
          <a:ln/>
        </p:spPr>
        <p:txBody>
          <a:bodyPr wrap="square" lIns="0" tIns="0" rIns="0" bIns="0" rtlCol="0" anchor="ctr"/>
          <a:lstStyle/>
          <a:p>
            <a:pPr indent="0" marL="0">
              <a:buNone/>
            </a:pPr>
            <a:r>
              <a:rPr lang="en-US" sz="900" dirty="0">
                <a:solidFill>
                  <a:srgbClr val="B3B3B3"/>
                </a:solidFill>
              </a:rPr>
              <a:t>What fraction of all relevant items appeared in the top 10?</a:t>
            </a:r>
            <a:endParaRPr lang="en-US" sz="900" dirty="0"/>
          </a:p>
        </p:txBody>
      </p:sp>
      <p:sp>
        <p:nvSpPr>
          <p:cNvPr id="22" name="Shape 20"/>
          <p:cNvSpPr/>
          <p:nvPr/>
        </p:nvSpPr>
        <p:spPr>
          <a:xfrm>
            <a:off x="5989320" y="2670048"/>
            <a:ext cx="2834640" cy="658368"/>
          </a:xfrm>
          <a:prstGeom prst="roundRect">
            <a:avLst>
              <a:gd name="adj" fmla="val 16667"/>
            </a:avLst>
          </a:prstGeom>
          <a:solidFill>
            <a:srgbClr val="1E1E1E"/>
          </a:solidFill>
          <a:ln w="12700">
            <a:solidFill>
              <a:srgbClr val="2A2A2A"/>
            </a:solidFill>
            <a:prstDash val="solid"/>
          </a:ln>
          <a:effectLst>
            <a:outerShdw sx="100000" sy="100000" kx="0" ky="0" algn="bl" rotWithShape="0" blurRad="127000" dist="38100" dir="2700000">
              <a:srgbClr val="000000">
                <a:alpha val="40000"/>
              </a:srgbClr>
            </a:outerShdw>
          </a:effectLst>
        </p:spPr>
      </p:sp>
      <p:sp>
        <p:nvSpPr>
          <p:cNvPr id="23" name="Text 21"/>
          <p:cNvSpPr/>
          <p:nvPr/>
        </p:nvSpPr>
        <p:spPr>
          <a:xfrm>
            <a:off x="6099048" y="2724912"/>
            <a:ext cx="1645920" cy="237744"/>
          </a:xfrm>
          <a:prstGeom prst="rect">
            <a:avLst/>
          </a:prstGeom>
          <a:noFill/>
          <a:ln/>
        </p:spPr>
        <p:txBody>
          <a:bodyPr wrap="square" lIns="0" tIns="0" rIns="0" bIns="0" rtlCol="0" anchor="ctr"/>
          <a:lstStyle/>
          <a:p>
            <a:pPr indent="0" marL="0">
              <a:buNone/>
            </a:pPr>
            <a:r>
              <a:rPr lang="en-US" sz="1100" b="1" dirty="0">
                <a:solidFill>
                  <a:srgbClr val="E50914"/>
                </a:solidFill>
              </a:rPr>
              <a:t>NDCG@10</a:t>
            </a:r>
            <a:endParaRPr lang="en-US" sz="1100" dirty="0"/>
          </a:p>
        </p:txBody>
      </p:sp>
      <p:sp>
        <p:nvSpPr>
          <p:cNvPr id="24" name="Text 22"/>
          <p:cNvSpPr/>
          <p:nvPr/>
        </p:nvSpPr>
        <p:spPr>
          <a:xfrm>
            <a:off x="7315200" y="2724912"/>
            <a:ext cx="1417320" cy="237744"/>
          </a:xfrm>
          <a:prstGeom prst="rect">
            <a:avLst/>
          </a:prstGeom>
          <a:noFill/>
          <a:ln/>
        </p:spPr>
        <p:txBody>
          <a:bodyPr wrap="square" lIns="0" tIns="0" rIns="0" bIns="0" rtlCol="0" anchor="ctr"/>
          <a:lstStyle/>
          <a:p>
            <a:pPr algn="r" indent="0" marL="0">
              <a:buNone/>
            </a:pPr>
            <a:r>
              <a:rPr lang="en-US" sz="900" i="1" dirty="0">
                <a:solidFill>
                  <a:srgbClr val="666666"/>
                </a:solidFill>
              </a:rPr>
              <a:t>DCG / IDCG</a:t>
            </a:r>
            <a:endParaRPr lang="en-US" sz="900" dirty="0"/>
          </a:p>
        </p:txBody>
      </p:sp>
      <p:sp>
        <p:nvSpPr>
          <p:cNvPr id="25" name="Text 23"/>
          <p:cNvSpPr/>
          <p:nvPr/>
        </p:nvSpPr>
        <p:spPr>
          <a:xfrm>
            <a:off x="6099048" y="2962656"/>
            <a:ext cx="2633472" cy="310896"/>
          </a:xfrm>
          <a:prstGeom prst="rect">
            <a:avLst/>
          </a:prstGeom>
          <a:noFill/>
          <a:ln/>
        </p:spPr>
        <p:txBody>
          <a:bodyPr wrap="square" lIns="0" tIns="0" rIns="0" bIns="0" rtlCol="0" anchor="ctr"/>
          <a:lstStyle/>
          <a:p>
            <a:pPr indent="0" marL="0">
              <a:buNone/>
            </a:pPr>
            <a:r>
              <a:rPr lang="en-US" sz="900" dirty="0">
                <a:solidFill>
                  <a:srgbClr val="B3B3B3"/>
                </a:solidFill>
              </a:rPr>
              <a:t>Same as Precision but higher rank = more credit. A hit at #1 scores higher than a hit at #10.</a:t>
            </a:r>
            <a:endParaRPr lang="en-US" sz="900" dirty="0"/>
          </a:p>
        </p:txBody>
      </p:sp>
      <p:sp>
        <p:nvSpPr>
          <p:cNvPr id="26" name="Shape 24"/>
          <p:cNvSpPr/>
          <p:nvPr/>
        </p:nvSpPr>
        <p:spPr>
          <a:xfrm>
            <a:off x="5989320" y="3456432"/>
            <a:ext cx="2834640" cy="658368"/>
          </a:xfrm>
          <a:prstGeom prst="roundRect">
            <a:avLst>
              <a:gd name="adj" fmla="val 16667"/>
            </a:avLst>
          </a:prstGeom>
          <a:solidFill>
            <a:srgbClr val="1E1E1E"/>
          </a:solidFill>
          <a:ln w="12700">
            <a:solidFill>
              <a:srgbClr val="2A2A2A"/>
            </a:solidFill>
            <a:prstDash val="solid"/>
          </a:ln>
          <a:effectLst>
            <a:outerShdw sx="100000" sy="100000" kx="0" ky="0" algn="bl" rotWithShape="0" blurRad="127000" dist="38100" dir="2700000">
              <a:srgbClr val="000000">
                <a:alpha val="40000"/>
              </a:srgbClr>
            </a:outerShdw>
          </a:effectLst>
        </p:spPr>
      </p:sp>
      <p:sp>
        <p:nvSpPr>
          <p:cNvPr id="27" name="Text 25"/>
          <p:cNvSpPr/>
          <p:nvPr/>
        </p:nvSpPr>
        <p:spPr>
          <a:xfrm>
            <a:off x="6099048" y="3511296"/>
            <a:ext cx="1645920" cy="237744"/>
          </a:xfrm>
          <a:prstGeom prst="rect">
            <a:avLst/>
          </a:prstGeom>
          <a:noFill/>
          <a:ln/>
        </p:spPr>
        <p:txBody>
          <a:bodyPr wrap="square" lIns="0" tIns="0" rIns="0" bIns="0" rtlCol="0" anchor="ctr"/>
          <a:lstStyle/>
          <a:p>
            <a:pPr indent="0" marL="0">
              <a:buNone/>
            </a:pPr>
            <a:r>
              <a:rPr lang="en-US" sz="1100" b="1" dirty="0">
                <a:solidFill>
                  <a:srgbClr val="E50914"/>
                </a:solidFill>
              </a:rPr>
              <a:t>Diversity</a:t>
            </a:r>
            <a:endParaRPr lang="en-US" sz="1100" dirty="0"/>
          </a:p>
        </p:txBody>
      </p:sp>
      <p:sp>
        <p:nvSpPr>
          <p:cNvPr id="28" name="Text 26"/>
          <p:cNvSpPr/>
          <p:nvPr/>
        </p:nvSpPr>
        <p:spPr>
          <a:xfrm>
            <a:off x="7315200" y="3511296"/>
            <a:ext cx="1417320" cy="237744"/>
          </a:xfrm>
          <a:prstGeom prst="rect">
            <a:avLst/>
          </a:prstGeom>
          <a:noFill/>
          <a:ln/>
        </p:spPr>
        <p:txBody>
          <a:bodyPr wrap="square" lIns="0" tIns="0" rIns="0" bIns="0" rtlCol="0" anchor="ctr"/>
          <a:lstStyle/>
          <a:p>
            <a:pPr algn="r" indent="0" marL="0">
              <a:buNone/>
            </a:pPr>
            <a:r>
              <a:rPr lang="en-US" sz="900" i="1" dirty="0">
                <a:solidFill>
                  <a:srgbClr val="666666"/>
                </a:solidFill>
              </a:rPr>
              <a:t>beyond-accuracy</a:t>
            </a:r>
            <a:endParaRPr lang="en-US" sz="900" dirty="0"/>
          </a:p>
        </p:txBody>
      </p:sp>
      <p:sp>
        <p:nvSpPr>
          <p:cNvPr id="29" name="Text 27"/>
          <p:cNvSpPr/>
          <p:nvPr/>
        </p:nvSpPr>
        <p:spPr>
          <a:xfrm>
            <a:off x="6099048" y="3749040"/>
            <a:ext cx="2633472" cy="310896"/>
          </a:xfrm>
          <a:prstGeom prst="rect">
            <a:avLst/>
          </a:prstGeom>
          <a:noFill/>
          <a:ln/>
        </p:spPr>
        <p:txBody>
          <a:bodyPr wrap="square" lIns="0" tIns="0" rIns="0" bIns="0" rtlCol="0" anchor="ctr"/>
          <a:lstStyle/>
          <a:p>
            <a:pPr indent="0" marL="0">
              <a:buNone/>
            </a:pPr>
            <a:r>
              <a:rPr lang="en-US" sz="900" dirty="0">
                <a:solidFill>
                  <a:srgbClr val="B3B3B3"/>
                </a:solidFill>
              </a:rPr>
              <a:t>1 - avg pairwise cosine sim between recommended items. Are the 10 recs varied or all the same genre?</a:t>
            </a:r>
            <a:endParaRPr lang="en-US" sz="900" dirty="0"/>
          </a:p>
        </p:txBody>
      </p:sp>
      <p:sp>
        <p:nvSpPr>
          <p:cNvPr id="30" name="Shape 28"/>
          <p:cNvSpPr/>
          <p:nvPr/>
        </p:nvSpPr>
        <p:spPr>
          <a:xfrm>
            <a:off x="5989320" y="4242816"/>
            <a:ext cx="2834640" cy="658368"/>
          </a:xfrm>
          <a:prstGeom prst="roundRect">
            <a:avLst>
              <a:gd name="adj" fmla="val 16667"/>
            </a:avLst>
          </a:prstGeom>
          <a:solidFill>
            <a:srgbClr val="1E1E1E"/>
          </a:solidFill>
          <a:ln w="12700">
            <a:solidFill>
              <a:srgbClr val="2A2A2A"/>
            </a:solidFill>
            <a:prstDash val="solid"/>
          </a:ln>
          <a:effectLst>
            <a:outerShdw sx="100000" sy="100000" kx="0" ky="0" algn="bl" rotWithShape="0" blurRad="127000" dist="38100" dir="2700000">
              <a:srgbClr val="000000">
                <a:alpha val="40000"/>
              </a:srgbClr>
            </a:outerShdw>
          </a:effectLst>
        </p:spPr>
      </p:sp>
      <p:sp>
        <p:nvSpPr>
          <p:cNvPr id="31" name="Text 29"/>
          <p:cNvSpPr/>
          <p:nvPr/>
        </p:nvSpPr>
        <p:spPr>
          <a:xfrm>
            <a:off x="6099048" y="4297680"/>
            <a:ext cx="1645920" cy="237744"/>
          </a:xfrm>
          <a:prstGeom prst="rect">
            <a:avLst/>
          </a:prstGeom>
          <a:noFill/>
          <a:ln/>
        </p:spPr>
        <p:txBody>
          <a:bodyPr wrap="square" lIns="0" tIns="0" rIns="0" bIns="0" rtlCol="0" anchor="ctr"/>
          <a:lstStyle/>
          <a:p>
            <a:pPr indent="0" marL="0">
              <a:buNone/>
            </a:pPr>
            <a:r>
              <a:rPr lang="en-US" sz="1100" b="1" dirty="0">
                <a:solidFill>
                  <a:srgbClr val="E50914"/>
                </a:solidFill>
              </a:rPr>
              <a:t>Novelty</a:t>
            </a:r>
            <a:endParaRPr lang="en-US" sz="1100" dirty="0"/>
          </a:p>
        </p:txBody>
      </p:sp>
      <p:sp>
        <p:nvSpPr>
          <p:cNvPr id="32" name="Text 30"/>
          <p:cNvSpPr/>
          <p:nvPr/>
        </p:nvSpPr>
        <p:spPr>
          <a:xfrm>
            <a:off x="7315200" y="4297680"/>
            <a:ext cx="1417320" cy="237744"/>
          </a:xfrm>
          <a:prstGeom prst="rect">
            <a:avLst/>
          </a:prstGeom>
          <a:noFill/>
          <a:ln/>
        </p:spPr>
        <p:txBody>
          <a:bodyPr wrap="square" lIns="0" tIns="0" rIns="0" bIns="0" rtlCol="0" anchor="ctr"/>
          <a:lstStyle/>
          <a:p>
            <a:pPr algn="r" indent="0" marL="0">
              <a:buNone/>
            </a:pPr>
            <a:r>
              <a:rPr lang="en-US" sz="900" i="1" dirty="0">
                <a:solidFill>
                  <a:srgbClr val="666666"/>
                </a:solidFill>
              </a:rPr>
              <a:t>beyond-accuracy</a:t>
            </a:r>
            <a:endParaRPr lang="en-US" sz="900" dirty="0"/>
          </a:p>
        </p:txBody>
      </p:sp>
      <p:sp>
        <p:nvSpPr>
          <p:cNvPr id="33" name="Text 31"/>
          <p:cNvSpPr/>
          <p:nvPr/>
        </p:nvSpPr>
        <p:spPr>
          <a:xfrm>
            <a:off x="6099048" y="4535424"/>
            <a:ext cx="2633472" cy="310896"/>
          </a:xfrm>
          <a:prstGeom prst="rect">
            <a:avLst/>
          </a:prstGeom>
          <a:noFill/>
          <a:ln/>
        </p:spPr>
        <p:txBody>
          <a:bodyPr wrap="square" lIns="0" tIns="0" rIns="0" bIns="0" rtlCol="0" anchor="ctr"/>
          <a:lstStyle/>
          <a:p>
            <a:pPr indent="0" marL="0">
              <a:buNone/>
            </a:pPr>
            <a:r>
              <a:rPr lang="en-US" sz="900" dirty="0">
                <a:solidFill>
                  <a:srgbClr val="B3B3B3"/>
                </a:solidFill>
              </a:rPr>
              <a:t>avg -log2(p) where p = fraction of users who rated the item. Higher = more niche picks.</a:t>
            </a:r>
            <a:endParaRPr lang="en-US" sz="900" dirty="0"/>
          </a:p>
        </p:txBody>
      </p:sp>
      <p:sp>
        <p:nvSpPr>
          <p:cNvPr id="34" name="Shape 32"/>
          <p:cNvSpPr/>
          <p:nvPr/>
        </p:nvSpPr>
        <p:spPr>
          <a:xfrm>
            <a:off x="457200" y="2633472"/>
            <a:ext cx="5303520" cy="1691640"/>
          </a:xfrm>
          <a:prstGeom prst="roundRect">
            <a:avLst>
              <a:gd name="adj" fmla="val 6486"/>
            </a:avLst>
          </a:prstGeom>
          <a:solidFill>
            <a:srgbClr val="1E1E1E"/>
          </a:solidFill>
          <a:ln w="12700">
            <a:solidFill>
              <a:srgbClr val="2A2A2A"/>
            </a:solidFill>
            <a:prstDash val="solid"/>
          </a:ln>
          <a:effectLst>
            <a:outerShdw sx="100000" sy="100000" kx="0" ky="0" algn="bl" rotWithShape="0" blurRad="127000" dist="38100" dir="2700000">
              <a:srgbClr val="000000">
                <a:alpha val="40000"/>
              </a:srgbClr>
            </a:outerShdw>
          </a:effectLst>
        </p:spPr>
      </p:sp>
      <p:sp>
        <p:nvSpPr>
          <p:cNvPr id="35" name="Text 33"/>
          <p:cNvSpPr/>
          <p:nvPr/>
        </p:nvSpPr>
        <p:spPr>
          <a:xfrm>
            <a:off x="640080" y="2706624"/>
            <a:ext cx="4937760" cy="274320"/>
          </a:xfrm>
          <a:prstGeom prst="rect">
            <a:avLst/>
          </a:prstGeom>
          <a:noFill/>
          <a:ln/>
        </p:spPr>
        <p:txBody>
          <a:bodyPr wrap="square" lIns="0" tIns="0" rIns="0" bIns="0" rtlCol="0" anchor="ctr"/>
          <a:lstStyle/>
          <a:p>
            <a:pPr indent="0" marL="0">
              <a:buNone/>
            </a:pPr>
            <a:r>
              <a:rPr lang="en-US" sz="1300" b="1" dirty="0">
                <a:solidFill>
                  <a:srgbClr val="E50914"/>
                </a:solidFill>
              </a:rPr>
              <a:t>Baselines</a:t>
            </a:r>
            <a:endParaRPr lang="en-US" sz="1300" dirty="0"/>
          </a:p>
        </p:txBody>
      </p:sp>
      <p:sp>
        <p:nvSpPr>
          <p:cNvPr id="36" name="Text 34"/>
          <p:cNvSpPr/>
          <p:nvPr/>
        </p:nvSpPr>
        <p:spPr>
          <a:xfrm>
            <a:off x="640080" y="3063240"/>
            <a:ext cx="4937760" cy="329184"/>
          </a:xfrm>
          <a:prstGeom prst="rect">
            <a:avLst/>
          </a:prstGeom>
          <a:noFill/>
          <a:ln/>
        </p:spPr>
        <p:txBody>
          <a:bodyPr wrap="square" lIns="0" tIns="0" rIns="0" bIns="0" rtlCol="0" anchor="ctr"/>
          <a:lstStyle/>
          <a:p>
            <a:pPr indent="0" marL="0">
              <a:buNone/>
            </a:pPr>
            <a:r>
              <a:rPr lang="en-US" sz="1100" b="1" dirty="0">
                <a:solidFill>
                  <a:srgbClr val="FFFFFF"/>
                </a:solidFill>
              </a:rPr>
              <a:t>Most Popular: </a:t>
            </a:r>
            <a:pPr indent="0" marL="0">
              <a:buNone/>
            </a:pPr>
            <a:r>
              <a:rPr lang="en-US" sz="1100" dirty="0">
                <a:solidFill>
                  <a:srgbClr val="B3B3B3"/>
                </a:solidFill>
              </a:rPr>
              <a:t>same 10 films for everyone - simple but often hard to beat on Precision</a:t>
            </a:r>
            <a:endParaRPr lang="en-US" sz="1100" dirty="0"/>
          </a:p>
        </p:txBody>
      </p:sp>
      <p:sp>
        <p:nvSpPr>
          <p:cNvPr id="37" name="Text 35"/>
          <p:cNvSpPr/>
          <p:nvPr/>
        </p:nvSpPr>
        <p:spPr>
          <a:xfrm>
            <a:off x="640080" y="3465576"/>
            <a:ext cx="4937760" cy="329184"/>
          </a:xfrm>
          <a:prstGeom prst="rect">
            <a:avLst/>
          </a:prstGeom>
          <a:noFill/>
          <a:ln/>
        </p:spPr>
        <p:txBody>
          <a:bodyPr wrap="square" lIns="0" tIns="0" rIns="0" bIns="0" rtlCol="0" anchor="ctr"/>
          <a:lstStyle/>
          <a:p>
            <a:pPr indent="0" marL="0">
              <a:buNone/>
            </a:pPr>
            <a:r>
              <a:rPr lang="en-US" sz="1100" b="1" dirty="0">
                <a:solidFill>
                  <a:srgbClr val="FFFFFF"/>
                </a:solidFill>
              </a:rPr>
              <a:t>Random: </a:t>
            </a:r>
            <a:pPr indent="0" marL="0">
              <a:buNone/>
            </a:pPr>
            <a:r>
              <a:rPr lang="en-US" sz="1100" dirty="0">
                <a:solidFill>
                  <a:srgbClr val="B3B3B3"/>
                </a:solidFill>
              </a:rPr>
              <a:t>10 random movies - sets the floor, every other method should beat this</a:t>
            </a:r>
            <a:endParaRPr lang="en-US" sz="1100" dirty="0"/>
          </a:p>
        </p:txBody>
      </p:sp>
      <p:sp>
        <p:nvSpPr>
          <p:cNvPr id="38" name="Text 36"/>
          <p:cNvSpPr/>
          <p:nvPr/>
        </p:nvSpPr>
        <p:spPr>
          <a:xfrm>
            <a:off x="640080" y="4023360"/>
            <a:ext cx="4937760" cy="228600"/>
          </a:xfrm>
          <a:prstGeom prst="rect">
            <a:avLst/>
          </a:prstGeom>
          <a:noFill/>
          <a:ln/>
        </p:spPr>
        <p:txBody>
          <a:bodyPr wrap="square" lIns="0" tIns="0" rIns="0" bIns="0" rtlCol="0" anchor="ctr"/>
          <a:lstStyle/>
          <a:p>
            <a:pPr indent="0" marL="0">
              <a:buNone/>
            </a:pPr>
            <a:r>
              <a:rPr lang="en-US" sz="950" i="1" dirty="0">
                <a:solidFill>
                  <a:srgbClr val="666666"/>
                </a:solidFill>
              </a:rPr>
              <a:t>Sample: 50 users with &gt;= 20 ratings  |  Relevant = rated &gt;= 4 in test set</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50914"/>
          </a:solidFill>
          <a:ln w="12700">
            <a:solidFill>
              <a:srgbClr val="E50914"/>
            </a:solidFill>
            <a:prstDash val="solid"/>
          </a:ln>
        </p:spPr>
      </p:sp>
      <p:sp>
        <p:nvSpPr>
          <p:cNvPr id="3" name="Shape 1"/>
          <p:cNvSpPr/>
          <p:nvPr/>
        </p:nvSpPr>
        <p:spPr>
          <a:xfrm>
            <a:off x="0" y="5088636"/>
            <a:ext cx="9144000" cy="54864"/>
          </a:xfrm>
          <a:prstGeom prst="rect">
            <a:avLst/>
          </a:prstGeom>
          <a:solidFill>
            <a:srgbClr val="E50914"/>
          </a:solidFill>
          <a:ln w="12700">
            <a:solidFill>
              <a:srgbClr val="E50914"/>
            </a:solidFill>
            <a:prstDash val="solid"/>
          </a:ln>
        </p:spPr>
      </p:sp>
      <p:sp>
        <p:nvSpPr>
          <p:cNvPr id="4" name="Shape 2"/>
          <p:cNvSpPr/>
          <p:nvPr/>
        </p:nvSpPr>
        <p:spPr>
          <a:xfrm>
            <a:off x="457200" y="164592"/>
            <a:ext cx="1463040" cy="256032"/>
          </a:xfrm>
          <a:prstGeom prst="roundRect">
            <a:avLst>
              <a:gd name="adj" fmla="val 50000"/>
            </a:avLst>
          </a:prstGeom>
          <a:solidFill>
            <a:srgbClr val="E50914"/>
          </a:solidFill>
          <a:ln w="12700">
            <a:solidFill>
              <a:srgbClr val="E50914"/>
            </a:solidFill>
            <a:prstDash val="solid"/>
          </a:ln>
        </p:spPr>
      </p:sp>
      <p:sp>
        <p:nvSpPr>
          <p:cNvPr id="5" name="Text 3"/>
          <p:cNvSpPr/>
          <p:nvPr/>
        </p:nvSpPr>
        <p:spPr>
          <a:xfrm>
            <a:off x="457200" y="164592"/>
            <a:ext cx="1463040" cy="256032"/>
          </a:xfrm>
          <a:prstGeom prst="rect">
            <a:avLst/>
          </a:prstGeom>
          <a:noFill/>
          <a:ln/>
        </p:spPr>
        <p:txBody>
          <a:bodyPr wrap="square" lIns="0" tIns="0" rIns="0" bIns="0" rtlCol="0" anchor="ctr"/>
          <a:lstStyle/>
          <a:p>
            <a:pPr algn="ctr" indent="0" marL="0">
              <a:buNone/>
            </a:pPr>
            <a:r>
              <a:rPr lang="en-US" sz="700" b="1" dirty="0">
                <a:solidFill>
                  <a:srgbClr val="FFFFFF"/>
                </a:solidFill>
              </a:rPr>
              <a:t>RESULTS</a:t>
            </a:r>
            <a:endParaRPr lang="en-US" sz="700" dirty="0"/>
          </a:p>
        </p:txBody>
      </p:sp>
      <p:sp>
        <p:nvSpPr>
          <p:cNvPr id="6" name="Text 4"/>
          <p:cNvSpPr/>
          <p:nvPr/>
        </p:nvSpPr>
        <p:spPr>
          <a:xfrm>
            <a:off x="457200" y="475488"/>
            <a:ext cx="8229600" cy="50292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Evaluation Results</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194560"/>
                <a:gridCol w="1188720"/>
                <a:gridCol w="1188720"/>
                <a:gridCol w="1188720"/>
                <a:gridCol w="1234440"/>
                <a:gridCol w="1234440"/>
              </a:tblGrid>
              <a:tr h="475488">
                <a:tc>
                  <a:txBody>
                    <a:bodyPr/>
                    <a:lstStyle/>
                    <a:p>
                      <a:pPr algn="l" indent="0" marL="0">
                        <a:buNone/>
                      </a:pPr>
                      <a:r>
                        <a:rPr lang="en-US" sz="1100" b="1" dirty="0">
                          <a:solidFill>
                            <a:srgbClr val="FFFFFF"/>
                          </a:solidFill>
                        </a:rPr>
                        <a:t>Method</a:t>
                      </a:r>
                      <a:endParaRPr lang="en-US" sz="11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B20710"/>
                    </a:solidFill>
                  </a:tcPr>
                </a:tc>
                <a:tc>
                  <a:txBody>
                    <a:bodyPr/>
                    <a:lstStyle/>
                    <a:p>
                      <a:pPr algn="ctr" indent="0" marL="0">
                        <a:buNone/>
                      </a:pPr>
                      <a:r>
                        <a:rPr lang="en-US" sz="1100" b="1" dirty="0">
                          <a:solidFill>
                            <a:srgbClr val="FFFFFF"/>
                          </a:solidFill>
                        </a:rPr>
                        <a:t>Precision@10</a:t>
                      </a:r>
                      <a:endParaRPr lang="en-US" sz="11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B20710"/>
                    </a:solidFill>
                  </a:tcPr>
                </a:tc>
                <a:tc>
                  <a:txBody>
                    <a:bodyPr/>
                    <a:lstStyle/>
                    <a:p>
                      <a:pPr algn="ctr" indent="0" marL="0">
                        <a:buNone/>
                      </a:pPr>
                      <a:r>
                        <a:rPr lang="en-US" sz="1100" b="1" dirty="0">
                          <a:solidFill>
                            <a:srgbClr val="FFFFFF"/>
                          </a:solidFill>
                        </a:rPr>
                        <a:t>Recall@10</a:t>
                      </a:r>
                      <a:endParaRPr lang="en-US" sz="11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B20710"/>
                    </a:solidFill>
                  </a:tcPr>
                </a:tc>
                <a:tc>
                  <a:txBody>
                    <a:bodyPr/>
                    <a:lstStyle/>
                    <a:p>
                      <a:pPr algn="ctr" indent="0" marL="0">
                        <a:buNone/>
                      </a:pPr>
                      <a:r>
                        <a:rPr lang="en-US" sz="1100" b="1" dirty="0">
                          <a:solidFill>
                            <a:srgbClr val="FFFFFF"/>
                          </a:solidFill>
                        </a:rPr>
                        <a:t>NDCG@10</a:t>
                      </a:r>
                      <a:endParaRPr lang="en-US" sz="11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B20710"/>
                    </a:solidFill>
                  </a:tcPr>
                </a:tc>
                <a:tc>
                  <a:txBody>
                    <a:bodyPr/>
                    <a:lstStyle/>
                    <a:p>
                      <a:pPr algn="ctr" indent="0" marL="0">
                        <a:buNone/>
                      </a:pPr>
                      <a:r>
                        <a:rPr lang="en-US" sz="1100" b="1" dirty="0">
                          <a:solidFill>
                            <a:srgbClr val="FFFFFF"/>
                          </a:solidFill>
                        </a:rPr>
                        <a:t>Diversity</a:t>
                      </a:r>
                      <a:endParaRPr lang="en-US" sz="11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B20710"/>
                    </a:solidFill>
                  </a:tcPr>
                </a:tc>
                <a:tc>
                  <a:txBody>
                    <a:bodyPr/>
                    <a:lstStyle/>
                    <a:p>
                      <a:pPr algn="ctr" indent="0" marL="0">
                        <a:buNone/>
                      </a:pPr>
                      <a:r>
                        <a:rPr lang="en-US" sz="1100" b="1" dirty="0">
                          <a:solidFill>
                            <a:srgbClr val="FFFFFF"/>
                          </a:solidFill>
                        </a:rPr>
                        <a:t>Novelty</a:t>
                      </a:r>
                      <a:endParaRPr lang="en-US" sz="11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B20710"/>
                    </a:solidFill>
                  </a:tcPr>
                </a:tc>
              </a:tr>
              <a:tr h="475488">
                <a:tc>
                  <a:txBody>
                    <a:bodyPr/>
                    <a:lstStyle/>
                    <a:p>
                      <a:pPr algn="l" indent="0" marL="0">
                        <a:buNone/>
                      </a:pPr>
                      <a:r>
                        <a:rPr lang="en-US" sz="1100" dirty="0">
                          <a:solidFill>
                            <a:srgbClr val="FFFFFF"/>
                          </a:solidFill>
                        </a:rPr>
                        <a:t>Most Popular</a:t>
                      </a:r>
                      <a:endParaRPr lang="en-US" sz="11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E1E1E"/>
                    </a:solidFill>
                  </a:tcPr>
                </a:tc>
                <a:tc>
                  <a:txBody>
                    <a:bodyPr/>
                    <a:lstStyle/>
                    <a:p>
                      <a:pPr algn="ctr" indent="0" marL="0">
                        <a:buNone/>
                      </a:pPr>
                      <a:r>
                        <a:rPr lang="en-US" sz="1100" dirty="0">
                          <a:solidFill>
                            <a:srgbClr val="FFFFFF"/>
                          </a:solidFill>
                        </a:rPr>
                        <a:t>~0.06</a:t>
                      </a:r>
                      <a:endParaRPr lang="en-US" sz="11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E1E1E"/>
                    </a:solidFill>
                  </a:tcPr>
                </a:tc>
                <a:tc>
                  <a:txBody>
                    <a:bodyPr/>
                    <a:lstStyle/>
                    <a:p>
                      <a:pPr algn="ctr" indent="0" marL="0">
                        <a:buNone/>
                      </a:pPr>
                      <a:r>
                        <a:rPr lang="en-US" sz="1100" dirty="0">
                          <a:solidFill>
                            <a:srgbClr val="FFFFFF"/>
                          </a:solidFill>
                        </a:rPr>
                        <a:t>~0.04</a:t>
                      </a:r>
                      <a:endParaRPr lang="en-US" sz="11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E1E1E"/>
                    </a:solidFill>
                  </a:tcPr>
                </a:tc>
                <a:tc>
                  <a:txBody>
                    <a:bodyPr/>
                    <a:lstStyle/>
                    <a:p>
                      <a:pPr algn="ctr" indent="0" marL="0">
                        <a:buNone/>
                      </a:pPr>
                      <a:r>
                        <a:rPr lang="en-US" sz="1100" dirty="0">
                          <a:solidFill>
                            <a:srgbClr val="FFFFFF"/>
                          </a:solidFill>
                        </a:rPr>
                        <a:t>~0.07</a:t>
                      </a:r>
                      <a:endParaRPr lang="en-US" sz="11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E1E1E"/>
                    </a:solidFill>
                  </a:tcPr>
                </a:tc>
                <a:tc>
                  <a:txBody>
                    <a:bodyPr/>
                    <a:lstStyle/>
                    <a:p>
                      <a:pPr algn="ctr" indent="0" marL="0">
                        <a:buNone/>
                      </a:pPr>
                      <a:r>
                        <a:rPr lang="en-US" sz="1100" dirty="0">
                          <a:solidFill>
                            <a:srgbClr val="FFFFFF"/>
                          </a:solidFill>
                        </a:rPr>
                        <a:t>~0.93</a:t>
                      </a:r>
                      <a:endParaRPr lang="en-US" sz="11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E1E1E"/>
                    </a:solidFill>
                  </a:tcPr>
                </a:tc>
                <a:tc>
                  <a:txBody>
                    <a:bodyPr/>
                    <a:lstStyle/>
                    <a:p>
                      <a:pPr algn="ctr" indent="0" marL="0">
                        <a:buNone/>
                      </a:pPr>
                      <a:r>
                        <a:rPr lang="en-US" sz="1100" dirty="0">
                          <a:solidFill>
                            <a:srgbClr val="FFFFFF"/>
                          </a:solidFill>
                        </a:rPr>
                        <a:t>~1.2</a:t>
                      </a:r>
                      <a:endParaRPr lang="en-US" sz="11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E1E1E"/>
                    </a:solidFill>
                  </a:tcPr>
                </a:tc>
              </a:tr>
              <a:tr h="475488">
                <a:tc>
                  <a:txBody>
                    <a:bodyPr/>
                    <a:lstStyle/>
                    <a:p>
                      <a:pPr algn="l" indent="0" marL="0">
                        <a:buNone/>
                      </a:pPr>
                      <a:r>
                        <a:rPr lang="en-US" sz="1100" dirty="0">
                          <a:solidFill>
                            <a:srgbClr val="FFFFFF"/>
                          </a:solidFill>
                        </a:rPr>
                        <a:t>User-Based CF</a:t>
                      </a:r>
                      <a:endParaRPr lang="en-US" sz="11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252525"/>
                    </a:solidFill>
                  </a:tcPr>
                </a:tc>
                <a:tc>
                  <a:txBody>
                    <a:bodyPr/>
                    <a:lstStyle/>
                    <a:p>
                      <a:pPr algn="ctr" indent="0" marL="0">
                        <a:buNone/>
                      </a:pPr>
                      <a:r>
                        <a:rPr lang="en-US" sz="1100" b="1" dirty="0">
                          <a:solidFill>
                            <a:srgbClr val="E50914"/>
                          </a:solidFill>
                        </a:rPr>
                        <a:t>~0.08</a:t>
                      </a:r>
                      <a:endParaRPr lang="en-US" sz="11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252525"/>
                    </a:solidFill>
                  </a:tcPr>
                </a:tc>
                <a:tc>
                  <a:txBody>
                    <a:bodyPr/>
                    <a:lstStyle/>
                    <a:p>
                      <a:pPr algn="ctr" indent="0" marL="0">
                        <a:buNone/>
                      </a:pPr>
                      <a:r>
                        <a:rPr lang="en-US" sz="1100" b="1" dirty="0">
                          <a:solidFill>
                            <a:srgbClr val="E50914"/>
                          </a:solidFill>
                        </a:rPr>
                        <a:t>~0.05</a:t>
                      </a:r>
                      <a:endParaRPr lang="en-US" sz="11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252525"/>
                    </a:solidFill>
                  </a:tcPr>
                </a:tc>
                <a:tc>
                  <a:txBody>
                    <a:bodyPr/>
                    <a:lstStyle/>
                    <a:p>
                      <a:pPr algn="ctr" indent="0" marL="0">
                        <a:buNone/>
                      </a:pPr>
                      <a:r>
                        <a:rPr lang="en-US" sz="1100" b="1" dirty="0">
                          <a:solidFill>
                            <a:srgbClr val="E50914"/>
                          </a:solidFill>
                        </a:rPr>
                        <a:t>~0.09</a:t>
                      </a:r>
                      <a:endParaRPr lang="en-US" sz="11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252525"/>
                    </a:solidFill>
                  </a:tcPr>
                </a:tc>
                <a:tc>
                  <a:txBody>
                    <a:bodyPr/>
                    <a:lstStyle/>
                    <a:p>
                      <a:pPr algn="ctr" indent="0" marL="0">
                        <a:buNone/>
                      </a:pPr>
                      <a:r>
                        <a:rPr lang="en-US" sz="1100" dirty="0">
                          <a:solidFill>
                            <a:srgbClr val="FFFFFF"/>
                          </a:solidFill>
                        </a:rPr>
                        <a:t>~0.91</a:t>
                      </a:r>
                      <a:endParaRPr lang="en-US" sz="11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252525"/>
                    </a:solidFill>
                  </a:tcPr>
                </a:tc>
                <a:tc>
                  <a:txBody>
                    <a:bodyPr/>
                    <a:lstStyle/>
                    <a:p>
                      <a:pPr algn="ctr" indent="0" marL="0">
                        <a:buNone/>
                      </a:pPr>
                      <a:r>
                        <a:rPr lang="en-US" sz="1100" dirty="0">
                          <a:solidFill>
                            <a:srgbClr val="FFFFFF"/>
                          </a:solidFill>
                        </a:rPr>
                        <a:t>~2.1</a:t>
                      </a:r>
                      <a:endParaRPr lang="en-US" sz="11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252525"/>
                    </a:solidFill>
                  </a:tcPr>
                </a:tc>
              </a:tr>
              <a:tr h="475488">
                <a:tc>
                  <a:txBody>
                    <a:bodyPr/>
                    <a:lstStyle/>
                    <a:p>
                      <a:pPr algn="l" indent="0" marL="0">
                        <a:buNone/>
                      </a:pPr>
                      <a:r>
                        <a:rPr lang="en-US" sz="1100" dirty="0">
                          <a:solidFill>
                            <a:srgbClr val="FFFFFF"/>
                          </a:solidFill>
                        </a:rPr>
                        <a:t>Content-Based</a:t>
                      </a:r>
                      <a:endParaRPr lang="en-US" sz="11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E1E1E"/>
                    </a:solidFill>
                  </a:tcPr>
                </a:tc>
                <a:tc>
                  <a:txBody>
                    <a:bodyPr/>
                    <a:lstStyle/>
                    <a:p>
                      <a:pPr algn="ctr" indent="0" marL="0">
                        <a:buNone/>
                      </a:pPr>
                      <a:r>
                        <a:rPr lang="en-US" sz="1100" dirty="0">
                          <a:solidFill>
                            <a:srgbClr val="FFFFFF"/>
                          </a:solidFill>
                        </a:rPr>
                        <a:t>~0.05</a:t>
                      </a:r>
                      <a:endParaRPr lang="en-US" sz="11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E1E1E"/>
                    </a:solidFill>
                  </a:tcPr>
                </a:tc>
                <a:tc>
                  <a:txBody>
                    <a:bodyPr/>
                    <a:lstStyle/>
                    <a:p>
                      <a:pPr algn="ctr" indent="0" marL="0">
                        <a:buNone/>
                      </a:pPr>
                      <a:r>
                        <a:rPr lang="en-US" sz="1100" dirty="0">
                          <a:solidFill>
                            <a:srgbClr val="FFFFFF"/>
                          </a:solidFill>
                        </a:rPr>
                        <a:t>~0.03</a:t>
                      </a:r>
                      <a:endParaRPr lang="en-US" sz="11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E1E1E"/>
                    </a:solidFill>
                  </a:tcPr>
                </a:tc>
                <a:tc>
                  <a:txBody>
                    <a:bodyPr/>
                    <a:lstStyle/>
                    <a:p>
                      <a:pPr algn="ctr" indent="0" marL="0">
                        <a:buNone/>
                      </a:pPr>
                      <a:r>
                        <a:rPr lang="en-US" sz="1100" dirty="0">
                          <a:solidFill>
                            <a:srgbClr val="FFFFFF"/>
                          </a:solidFill>
                        </a:rPr>
                        <a:t>~0.06</a:t>
                      </a:r>
                      <a:endParaRPr lang="en-US" sz="11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E1E1E"/>
                    </a:solidFill>
                  </a:tcPr>
                </a:tc>
                <a:tc>
                  <a:txBody>
                    <a:bodyPr/>
                    <a:lstStyle/>
                    <a:p>
                      <a:pPr algn="ctr" indent="0" marL="0">
                        <a:buNone/>
                      </a:pPr>
                      <a:r>
                        <a:rPr lang="en-US" sz="1100" dirty="0">
                          <a:solidFill>
                            <a:srgbClr val="FFFFFF"/>
                          </a:solidFill>
                        </a:rPr>
                        <a:t>~0.85</a:t>
                      </a:r>
                      <a:endParaRPr lang="en-US" sz="11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E1E1E"/>
                    </a:solidFill>
                  </a:tcPr>
                </a:tc>
                <a:tc>
                  <a:txBody>
                    <a:bodyPr/>
                    <a:lstStyle/>
                    <a:p>
                      <a:pPr algn="ctr" indent="0" marL="0">
                        <a:buNone/>
                      </a:pPr>
                      <a:r>
                        <a:rPr lang="en-US" sz="1100" b="1" dirty="0">
                          <a:solidFill>
                            <a:srgbClr val="E50914"/>
                          </a:solidFill>
                        </a:rPr>
                        <a:t>~4.5</a:t>
                      </a:r>
                      <a:endParaRPr lang="en-US" sz="11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E1E1E"/>
                    </a:solidFill>
                  </a:tcPr>
                </a:tc>
              </a:tr>
              <a:tr h="475488">
                <a:tc>
                  <a:txBody>
                    <a:bodyPr/>
                    <a:lstStyle/>
                    <a:p>
                      <a:pPr algn="l" indent="0" marL="0">
                        <a:buNone/>
                      </a:pPr>
                      <a:r>
                        <a:rPr lang="en-US" sz="1100" dirty="0">
                          <a:solidFill>
                            <a:srgbClr val="FFFFFF"/>
                          </a:solidFill>
                        </a:rPr>
                        <a:t>Matrix Factorisation</a:t>
                      </a:r>
                      <a:endParaRPr lang="en-US" sz="11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252525"/>
                    </a:solidFill>
                  </a:tcPr>
                </a:tc>
                <a:tc>
                  <a:txBody>
                    <a:bodyPr/>
                    <a:lstStyle/>
                    <a:p>
                      <a:pPr algn="ctr" indent="0" marL="0">
                        <a:buNone/>
                      </a:pPr>
                      <a:r>
                        <a:rPr lang="en-US" sz="1100" dirty="0">
                          <a:solidFill>
                            <a:srgbClr val="FFFFFF"/>
                          </a:solidFill>
                        </a:rPr>
                        <a:t>~0.07</a:t>
                      </a:r>
                      <a:endParaRPr lang="en-US" sz="11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252525"/>
                    </a:solidFill>
                  </a:tcPr>
                </a:tc>
                <a:tc>
                  <a:txBody>
                    <a:bodyPr/>
                    <a:lstStyle/>
                    <a:p>
                      <a:pPr algn="ctr" indent="0" marL="0">
                        <a:buNone/>
                      </a:pPr>
                      <a:r>
                        <a:rPr lang="en-US" sz="1100" dirty="0">
                          <a:solidFill>
                            <a:srgbClr val="FFFFFF"/>
                          </a:solidFill>
                        </a:rPr>
                        <a:t>~0.05</a:t>
                      </a:r>
                      <a:endParaRPr lang="en-US" sz="11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252525"/>
                    </a:solidFill>
                  </a:tcPr>
                </a:tc>
                <a:tc>
                  <a:txBody>
                    <a:bodyPr/>
                    <a:lstStyle/>
                    <a:p>
                      <a:pPr algn="ctr" indent="0" marL="0">
                        <a:buNone/>
                      </a:pPr>
                      <a:r>
                        <a:rPr lang="en-US" sz="1100" dirty="0">
                          <a:solidFill>
                            <a:srgbClr val="FFFFFF"/>
                          </a:solidFill>
                        </a:rPr>
                        <a:t>~0.08</a:t>
                      </a:r>
                      <a:endParaRPr lang="en-US" sz="11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252525"/>
                    </a:solidFill>
                  </a:tcPr>
                </a:tc>
                <a:tc>
                  <a:txBody>
                    <a:bodyPr/>
                    <a:lstStyle/>
                    <a:p>
                      <a:pPr algn="ctr" indent="0" marL="0">
                        <a:buNone/>
                      </a:pPr>
                      <a:r>
                        <a:rPr lang="en-US" sz="1100" dirty="0">
                          <a:solidFill>
                            <a:srgbClr val="FFFFFF"/>
                          </a:solidFill>
                        </a:rPr>
                        <a:t>~0.90</a:t>
                      </a:r>
                      <a:endParaRPr lang="en-US" sz="11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252525"/>
                    </a:solidFill>
                  </a:tcPr>
                </a:tc>
                <a:tc>
                  <a:txBody>
                    <a:bodyPr/>
                    <a:lstStyle/>
                    <a:p>
                      <a:pPr algn="ctr" indent="0" marL="0">
                        <a:buNone/>
                      </a:pPr>
                      <a:r>
                        <a:rPr lang="en-US" sz="1100" dirty="0">
                          <a:solidFill>
                            <a:srgbClr val="FFFFFF"/>
                          </a:solidFill>
                        </a:rPr>
                        <a:t>~2.8</a:t>
                      </a:r>
                      <a:endParaRPr lang="en-US" sz="11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252525"/>
                    </a:solidFill>
                  </a:tcPr>
                </a:tc>
              </a:tr>
              <a:tr h="475488">
                <a:tc>
                  <a:txBody>
                    <a:bodyPr/>
                    <a:lstStyle/>
                    <a:p>
                      <a:pPr algn="l" indent="0" marL="0">
                        <a:buNone/>
                      </a:pPr>
                      <a:r>
                        <a:rPr lang="en-US" sz="1100" dirty="0">
                          <a:solidFill>
                            <a:srgbClr val="B3B3B3"/>
                          </a:solidFill>
                        </a:rPr>
                        <a:t>Random Baseline</a:t>
                      </a:r>
                      <a:endParaRPr lang="en-US" sz="11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E1E1E"/>
                    </a:solidFill>
                  </a:tcPr>
                </a:tc>
                <a:tc>
                  <a:txBody>
                    <a:bodyPr/>
                    <a:lstStyle/>
                    <a:p>
                      <a:pPr algn="ctr" indent="0" marL="0">
                        <a:buNone/>
                      </a:pPr>
                      <a:r>
                        <a:rPr lang="en-US" sz="1100" dirty="0">
                          <a:solidFill>
                            <a:srgbClr val="B3B3B3"/>
                          </a:solidFill>
                        </a:rPr>
                        <a:t>~0.00</a:t>
                      </a:r>
                      <a:endParaRPr lang="en-US" sz="11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E1E1E"/>
                    </a:solidFill>
                  </a:tcPr>
                </a:tc>
                <a:tc>
                  <a:txBody>
                    <a:bodyPr/>
                    <a:lstStyle/>
                    <a:p>
                      <a:pPr algn="ctr" indent="0" marL="0">
                        <a:buNone/>
                      </a:pPr>
                      <a:r>
                        <a:rPr lang="en-US" sz="1100" dirty="0">
                          <a:solidFill>
                            <a:srgbClr val="B3B3B3"/>
                          </a:solidFill>
                        </a:rPr>
                        <a:t>~0.00</a:t>
                      </a:r>
                      <a:endParaRPr lang="en-US" sz="11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E1E1E"/>
                    </a:solidFill>
                  </a:tcPr>
                </a:tc>
                <a:tc>
                  <a:txBody>
                    <a:bodyPr/>
                    <a:lstStyle/>
                    <a:p>
                      <a:pPr algn="ctr" indent="0" marL="0">
                        <a:buNone/>
                      </a:pPr>
                      <a:r>
                        <a:rPr lang="en-US" sz="1100" dirty="0">
                          <a:solidFill>
                            <a:srgbClr val="B3B3B3"/>
                          </a:solidFill>
                        </a:rPr>
                        <a:t>~0.00</a:t>
                      </a:r>
                      <a:endParaRPr lang="en-US" sz="11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E1E1E"/>
                    </a:solidFill>
                  </a:tcPr>
                </a:tc>
                <a:tc>
                  <a:txBody>
                    <a:bodyPr/>
                    <a:lstStyle/>
                    <a:p>
                      <a:pPr algn="ctr" indent="0" marL="0">
                        <a:buNone/>
                      </a:pPr>
                      <a:r>
                        <a:rPr lang="en-US" sz="1100" dirty="0">
                          <a:solidFill>
                            <a:srgbClr val="B3B3B3"/>
                          </a:solidFill>
                        </a:rPr>
                        <a:t>~0.86</a:t>
                      </a:r>
                      <a:endParaRPr lang="en-US" sz="11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E1E1E"/>
                    </a:solidFill>
                  </a:tcPr>
                </a:tc>
                <a:tc>
                  <a:txBody>
                    <a:bodyPr/>
                    <a:lstStyle/>
                    <a:p>
                      <a:pPr algn="ctr" indent="0" marL="0">
                        <a:buNone/>
                      </a:pPr>
                      <a:r>
                        <a:rPr lang="en-US" sz="1100" dirty="0">
                          <a:solidFill>
                            <a:srgbClr val="B3B3B3"/>
                          </a:solidFill>
                        </a:rPr>
                        <a:t>~7.0</a:t>
                      </a:r>
                      <a:endParaRPr lang="en-US" sz="11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E1E1E"/>
                    </a:solidFill>
                  </a:tcPr>
                </a:tc>
              </a:tr>
            </a:tbl>
          </a:graphicData>
        </a:graphic>
      </p:graphicFrame>
      <p:sp>
        <p:nvSpPr>
          <p:cNvPr id="8" name="Text 5"/>
          <p:cNvSpPr/>
          <p:nvPr/>
        </p:nvSpPr>
        <p:spPr>
          <a:xfrm>
            <a:off x="457200" y="4160520"/>
            <a:ext cx="8229600" cy="228600"/>
          </a:xfrm>
          <a:prstGeom prst="rect">
            <a:avLst/>
          </a:prstGeom>
          <a:noFill/>
          <a:ln/>
        </p:spPr>
        <p:txBody>
          <a:bodyPr wrap="square" lIns="0" tIns="0" rIns="0" bIns="0" rtlCol="0" anchor="ctr"/>
          <a:lstStyle/>
          <a:p>
            <a:pPr indent="0" marL="0">
              <a:buNone/>
            </a:pPr>
            <a:r>
              <a:rPr lang="en-US" sz="900" i="1" dirty="0">
                <a:solidFill>
                  <a:srgbClr val="666666"/>
                </a:solidFill>
              </a:rPr>
              <a:t>Note: approximate values - run the Evaluation tab in the app for exact numbers.</a:t>
            </a:r>
            <a:endParaRPr lang="en-US" sz="900" dirty="0"/>
          </a:p>
        </p:txBody>
      </p:sp>
      <p:sp>
        <p:nvSpPr>
          <p:cNvPr id="9" name="Text 6"/>
          <p:cNvSpPr/>
          <p:nvPr/>
        </p:nvSpPr>
        <p:spPr>
          <a:xfrm>
            <a:off x="457200" y="4434840"/>
            <a:ext cx="8229600" cy="274320"/>
          </a:xfrm>
          <a:prstGeom prst="rect">
            <a:avLst/>
          </a:prstGeom>
          <a:noFill/>
          <a:ln/>
        </p:spPr>
        <p:txBody>
          <a:bodyPr wrap="square" lIns="0" tIns="0" rIns="0" bIns="0" rtlCol="0" anchor="ctr"/>
          <a:lstStyle/>
          <a:p>
            <a:pPr indent="0" marL="0">
              <a:buNone/>
            </a:pPr>
            <a:r>
              <a:rPr lang="en-US" sz="1050" dirty="0">
                <a:solidFill>
                  <a:srgbClr val="FFFFFF"/>
                </a:solidFill>
              </a:rPr>
              <a:t>CF best on accuracy  ·  </a:t>
            </a:r>
            <a:pPr indent="0" marL="0">
              <a:buNone/>
            </a:pPr>
            <a:r>
              <a:rPr lang="en-US" sz="1050" dirty="0">
                <a:solidFill>
                  <a:srgbClr val="FFFFFF"/>
                </a:solidFill>
              </a:rPr>
              <a:t>Content-based best on novelty  ·  </a:t>
            </a:r>
            <a:pPr indent="0" marL="0">
              <a:buNone/>
            </a:pPr>
            <a:r>
              <a:rPr lang="en-US" sz="1050" dirty="0">
                <a:solidFill>
                  <a:srgbClr val="FFFFFF"/>
                </a:solidFill>
              </a:rPr>
              <a:t>Popularity is a strong baseline despite being non-personalised</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50914"/>
          </a:solidFill>
          <a:ln w="12700">
            <a:solidFill>
              <a:srgbClr val="E50914"/>
            </a:solidFill>
            <a:prstDash val="solid"/>
          </a:ln>
        </p:spPr>
      </p:sp>
      <p:sp>
        <p:nvSpPr>
          <p:cNvPr id="3" name="Shape 1"/>
          <p:cNvSpPr/>
          <p:nvPr/>
        </p:nvSpPr>
        <p:spPr>
          <a:xfrm>
            <a:off x="0" y="5088636"/>
            <a:ext cx="9144000" cy="54864"/>
          </a:xfrm>
          <a:prstGeom prst="rect">
            <a:avLst/>
          </a:prstGeom>
          <a:solidFill>
            <a:srgbClr val="E50914"/>
          </a:solidFill>
          <a:ln w="12700">
            <a:solidFill>
              <a:srgbClr val="E50914"/>
            </a:solidFill>
            <a:prstDash val="solid"/>
          </a:ln>
        </p:spPr>
      </p:sp>
      <p:sp>
        <p:nvSpPr>
          <p:cNvPr id="4" name="Shape 2"/>
          <p:cNvSpPr/>
          <p:nvPr/>
        </p:nvSpPr>
        <p:spPr>
          <a:xfrm>
            <a:off x="457200" y="164592"/>
            <a:ext cx="1463040" cy="256032"/>
          </a:xfrm>
          <a:prstGeom prst="roundRect">
            <a:avLst>
              <a:gd name="adj" fmla="val 50000"/>
            </a:avLst>
          </a:prstGeom>
          <a:solidFill>
            <a:srgbClr val="E50914"/>
          </a:solidFill>
          <a:ln w="12700">
            <a:solidFill>
              <a:srgbClr val="E50914"/>
            </a:solidFill>
            <a:prstDash val="solid"/>
          </a:ln>
        </p:spPr>
      </p:sp>
      <p:sp>
        <p:nvSpPr>
          <p:cNvPr id="5" name="Text 3"/>
          <p:cNvSpPr/>
          <p:nvPr/>
        </p:nvSpPr>
        <p:spPr>
          <a:xfrm>
            <a:off x="457200" y="164592"/>
            <a:ext cx="1463040" cy="256032"/>
          </a:xfrm>
          <a:prstGeom prst="rect">
            <a:avLst/>
          </a:prstGeom>
          <a:noFill/>
          <a:ln/>
        </p:spPr>
        <p:txBody>
          <a:bodyPr wrap="square" lIns="0" tIns="0" rIns="0" bIns="0" rtlCol="0" anchor="ctr"/>
          <a:lstStyle/>
          <a:p>
            <a:pPr algn="ctr" indent="0" marL="0">
              <a:buNone/>
            </a:pPr>
            <a:r>
              <a:rPr lang="en-US" sz="700" b="1" dirty="0">
                <a:solidFill>
                  <a:srgbClr val="FFFFFF"/>
                </a:solidFill>
              </a:rPr>
              <a:t>EXAMPLES</a:t>
            </a:r>
            <a:endParaRPr lang="en-US" sz="700" dirty="0"/>
          </a:p>
        </p:txBody>
      </p:sp>
      <p:sp>
        <p:nvSpPr>
          <p:cNvPr id="6" name="Text 4"/>
          <p:cNvSpPr/>
          <p:nvPr/>
        </p:nvSpPr>
        <p:spPr>
          <a:xfrm>
            <a:off x="457200" y="475488"/>
            <a:ext cx="8229600" cy="50292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Recommendation Examples</a:t>
            </a:r>
            <a:endParaRPr lang="en-US" sz="3000" dirty="0"/>
          </a:p>
        </p:txBody>
      </p:sp>
      <p:sp>
        <p:nvSpPr>
          <p:cNvPr id="7" name="Text 5"/>
          <p:cNvSpPr/>
          <p:nvPr/>
        </p:nvSpPr>
        <p:spPr>
          <a:xfrm>
            <a:off x="457200" y="960120"/>
            <a:ext cx="8229600" cy="256032"/>
          </a:xfrm>
          <a:prstGeom prst="rect">
            <a:avLst/>
          </a:prstGeom>
          <a:noFill/>
          <a:ln/>
        </p:spPr>
        <p:txBody>
          <a:bodyPr wrap="square" lIns="0" tIns="0" rIns="0" bIns="0" rtlCol="0" anchor="ctr"/>
          <a:lstStyle/>
          <a:p>
            <a:pPr indent="0" marL="0">
              <a:buNone/>
            </a:pPr>
            <a:r>
              <a:rPr lang="en-US" sz="1100" dirty="0">
                <a:solidFill>
                  <a:srgbClr val="B3B3B3"/>
                </a:solidFill>
              </a:rPr>
              <a:t>Three users with different taste profiles - same algorithm, very different outputs</a:t>
            </a:r>
            <a:endParaRPr lang="en-US" sz="1100" dirty="0"/>
          </a:p>
        </p:txBody>
      </p:sp>
      <p:sp>
        <p:nvSpPr>
          <p:cNvPr id="8" name="Shape 6"/>
          <p:cNvSpPr/>
          <p:nvPr/>
        </p:nvSpPr>
        <p:spPr>
          <a:xfrm>
            <a:off x="457200" y="1325880"/>
            <a:ext cx="1371600" cy="1051560"/>
          </a:xfrm>
          <a:prstGeom prst="roundRect">
            <a:avLst>
              <a:gd name="adj" fmla="val 8696"/>
            </a:avLst>
          </a:prstGeom>
          <a:solidFill>
            <a:srgbClr val="B20710"/>
          </a:solidFill>
          <a:ln w="12700">
            <a:solidFill>
              <a:srgbClr val="B20710"/>
            </a:solidFill>
            <a:prstDash val="solid"/>
          </a:ln>
        </p:spPr>
      </p:sp>
      <p:sp>
        <p:nvSpPr>
          <p:cNvPr id="9" name="Text 7"/>
          <p:cNvSpPr/>
          <p:nvPr/>
        </p:nvSpPr>
        <p:spPr>
          <a:xfrm>
            <a:off x="457200" y="1417320"/>
            <a:ext cx="1371600" cy="347472"/>
          </a:xfrm>
          <a:prstGeom prst="rect">
            <a:avLst/>
          </a:prstGeom>
          <a:noFill/>
          <a:ln/>
        </p:spPr>
        <p:txBody>
          <a:bodyPr wrap="square" lIns="0" tIns="0" rIns="0" bIns="0" rtlCol="0" anchor="ctr"/>
          <a:lstStyle/>
          <a:p>
            <a:pPr algn="ctr" indent="0" marL="0">
              <a:buNone/>
            </a:pPr>
            <a:r>
              <a:rPr lang="en-US" sz="1300" b="1" dirty="0">
                <a:solidFill>
                  <a:srgbClr val="FFFFFF"/>
                </a:solidFill>
              </a:rPr>
              <a:t>User 1</a:t>
            </a:r>
            <a:endParaRPr lang="en-US" sz="1300" dirty="0"/>
          </a:p>
        </p:txBody>
      </p:sp>
      <p:sp>
        <p:nvSpPr>
          <p:cNvPr id="10" name="Text 8"/>
          <p:cNvSpPr/>
          <p:nvPr/>
        </p:nvSpPr>
        <p:spPr>
          <a:xfrm>
            <a:off x="457200" y="1783080"/>
            <a:ext cx="1371600" cy="365760"/>
          </a:xfrm>
          <a:prstGeom prst="rect">
            <a:avLst/>
          </a:prstGeom>
          <a:noFill/>
          <a:ln/>
        </p:spPr>
        <p:txBody>
          <a:bodyPr wrap="square" lIns="0" tIns="0" rIns="0" bIns="0" rtlCol="0" anchor="ctr"/>
          <a:lstStyle/>
          <a:p>
            <a:pPr algn="ctr" indent="0" marL="0">
              <a:buNone/>
            </a:pPr>
            <a:r>
              <a:rPr lang="en-US" sz="800" dirty="0">
                <a:solidFill>
                  <a:srgbClr val="FFB3B3"/>
                </a:solidFill>
              </a:rPr>
              <a:t>Action / Sci-Fi fan</a:t>
            </a:r>
            <a:endParaRPr lang="en-US" sz="800" dirty="0"/>
          </a:p>
        </p:txBody>
      </p:sp>
      <p:sp>
        <p:nvSpPr>
          <p:cNvPr id="11" name="Shape 9"/>
          <p:cNvSpPr/>
          <p:nvPr/>
        </p:nvSpPr>
        <p:spPr>
          <a:xfrm>
            <a:off x="1965960" y="1325880"/>
            <a:ext cx="2029968" cy="804672"/>
          </a:xfrm>
          <a:prstGeom prst="roundRect">
            <a:avLst>
              <a:gd name="adj" fmla="val 13636"/>
            </a:avLst>
          </a:prstGeom>
          <a:solidFill>
            <a:srgbClr val="1E1E1E"/>
          </a:solidFill>
          <a:ln w="12700">
            <a:solidFill>
              <a:srgbClr val="2A2A2A"/>
            </a:solidFill>
            <a:prstDash val="solid"/>
          </a:ln>
          <a:effectLst>
            <a:outerShdw sx="100000" sy="100000" kx="0" ky="0" algn="bl" rotWithShape="0" blurRad="127000" dist="38100" dir="2700000">
              <a:srgbClr val="000000">
                <a:alpha val="40000"/>
              </a:srgbClr>
            </a:outerShdw>
          </a:effectLst>
        </p:spPr>
      </p:sp>
      <p:sp>
        <p:nvSpPr>
          <p:cNvPr id="12" name="Text 10"/>
          <p:cNvSpPr/>
          <p:nvPr/>
        </p:nvSpPr>
        <p:spPr>
          <a:xfrm>
            <a:off x="2057400" y="1380744"/>
            <a:ext cx="1847088" cy="201168"/>
          </a:xfrm>
          <a:prstGeom prst="rect">
            <a:avLst/>
          </a:prstGeom>
          <a:noFill/>
          <a:ln/>
        </p:spPr>
        <p:txBody>
          <a:bodyPr wrap="square" lIns="0" tIns="0" rIns="0" bIns="0" rtlCol="0" anchor="ctr"/>
          <a:lstStyle/>
          <a:p>
            <a:pPr indent="0" marL="0">
              <a:buNone/>
            </a:pPr>
            <a:r>
              <a:rPr lang="en-US" sz="900" b="1" dirty="0">
                <a:solidFill>
                  <a:srgbClr val="E50914"/>
                </a:solidFill>
              </a:rPr>
              <a:t>User-Based CF</a:t>
            </a:r>
            <a:endParaRPr lang="en-US" sz="900" dirty="0"/>
          </a:p>
        </p:txBody>
      </p:sp>
      <p:sp>
        <p:nvSpPr>
          <p:cNvPr id="13" name="Text 11"/>
          <p:cNvSpPr/>
          <p:nvPr/>
        </p:nvSpPr>
        <p:spPr>
          <a:xfrm>
            <a:off x="2057400" y="1600200"/>
            <a:ext cx="1847088" cy="164592"/>
          </a:xfrm>
          <a:prstGeom prst="rect">
            <a:avLst/>
          </a:prstGeom>
          <a:noFill/>
          <a:ln/>
        </p:spPr>
        <p:txBody>
          <a:bodyPr wrap="square" lIns="0" tIns="0" rIns="0" bIns="0" rtlCol="0" anchor="ctr"/>
          <a:lstStyle/>
          <a:p>
            <a:pPr indent="0" marL="0">
              <a:buNone/>
            </a:pPr>
            <a:r>
              <a:rPr lang="en-US" sz="800" b="1" dirty="0">
                <a:solidFill>
                  <a:srgbClr val="666666"/>
                </a:solidFill>
              </a:rPr>
              <a:t>1. </a:t>
            </a:r>
            <a:pPr indent="0" marL="0">
              <a:buNone/>
            </a:pPr>
            <a:r>
              <a:rPr lang="en-US" sz="800" dirty="0">
                <a:solidFill>
                  <a:srgbClr val="FFFFFF"/>
                </a:solidFill>
              </a:rPr>
              <a:t>Terminator 2 (1991)</a:t>
            </a:r>
            <a:endParaRPr lang="en-US" sz="800" dirty="0"/>
          </a:p>
        </p:txBody>
      </p:sp>
      <p:sp>
        <p:nvSpPr>
          <p:cNvPr id="14" name="Text 12"/>
          <p:cNvSpPr/>
          <p:nvPr/>
        </p:nvSpPr>
        <p:spPr>
          <a:xfrm>
            <a:off x="2057400" y="1773936"/>
            <a:ext cx="1847088" cy="164592"/>
          </a:xfrm>
          <a:prstGeom prst="rect">
            <a:avLst/>
          </a:prstGeom>
          <a:noFill/>
          <a:ln/>
        </p:spPr>
        <p:txBody>
          <a:bodyPr wrap="square" lIns="0" tIns="0" rIns="0" bIns="0" rtlCol="0" anchor="ctr"/>
          <a:lstStyle/>
          <a:p>
            <a:pPr indent="0" marL="0">
              <a:buNone/>
            </a:pPr>
            <a:r>
              <a:rPr lang="en-US" sz="800" b="1" dirty="0">
                <a:solidFill>
                  <a:srgbClr val="666666"/>
                </a:solidFill>
              </a:rPr>
              <a:t>2. </a:t>
            </a:r>
            <a:pPr indent="0" marL="0">
              <a:buNone/>
            </a:pPr>
            <a:r>
              <a:rPr lang="en-US" sz="800" dirty="0">
                <a:solidFill>
                  <a:srgbClr val="FFFFFF"/>
                </a:solidFill>
              </a:rPr>
              <a:t>Godfather, The (1972)</a:t>
            </a:r>
            <a:endParaRPr lang="en-US" sz="800" dirty="0"/>
          </a:p>
        </p:txBody>
      </p:sp>
      <p:sp>
        <p:nvSpPr>
          <p:cNvPr id="15" name="Text 13"/>
          <p:cNvSpPr/>
          <p:nvPr/>
        </p:nvSpPr>
        <p:spPr>
          <a:xfrm>
            <a:off x="2057400" y="1947672"/>
            <a:ext cx="1847088" cy="164592"/>
          </a:xfrm>
          <a:prstGeom prst="rect">
            <a:avLst/>
          </a:prstGeom>
          <a:noFill/>
          <a:ln/>
        </p:spPr>
        <p:txBody>
          <a:bodyPr wrap="square" lIns="0" tIns="0" rIns="0" bIns="0" rtlCol="0" anchor="ctr"/>
          <a:lstStyle/>
          <a:p>
            <a:pPr indent="0" marL="0">
              <a:buNone/>
            </a:pPr>
            <a:r>
              <a:rPr lang="en-US" sz="800" b="1" dirty="0">
                <a:solidFill>
                  <a:srgbClr val="666666"/>
                </a:solidFill>
              </a:rPr>
              <a:t>3. </a:t>
            </a:r>
            <a:pPr indent="0" marL="0">
              <a:buNone/>
            </a:pPr>
            <a:r>
              <a:rPr lang="en-US" sz="800" dirty="0">
                <a:solidFill>
                  <a:srgbClr val="FFFFFF"/>
                </a:solidFill>
              </a:rPr>
              <a:t>Aliens (1986)</a:t>
            </a:r>
            <a:endParaRPr lang="en-US" sz="800" dirty="0"/>
          </a:p>
        </p:txBody>
      </p:sp>
      <p:sp>
        <p:nvSpPr>
          <p:cNvPr id="16" name="Shape 14"/>
          <p:cNvSpPr/>
          <p:nvPr/>
        </p:nvSpPr>
        <p:spPr>
          <a:xfrm>
            <a:off x="4142232" y="1325880"/>
            <a:ext cx="2029968" cy="804672"/>
          </a:xfrm>
          <a:prstGeom prst="roundRect">
            <a:avLst>
              <a:gd name="adj" fmla="val 13636"/>
            </a:avLst>
          </a:prstGeom>
          <a:solidFill>
            <a:srgbClr val="1E1E1E"/>
          </a:solidFill>
          <a:ln w="12700">
            <a:solidFill>
              <a:srgbClr val="2A2A2A"/>
            </a:solidFill>
            <a:prstDash val="solid"/>
          </a:ln>
          <a:effectLst>
            <a:outerShdw sx="100000" sy="100000" kx="0" ky="0" algn="bl" rotWithShape="0" blurRad="127000" dist="38100" dir="2700000">
              <a:srgbClr val="000000">
                <a:alpha val="40000"/>
              </a:srgbClr>
            </a:outerShdw>
          </a:effectLst>
        </p:spPr>
      </p:sp>
      <p:sp>
        <p:nvSpPr>
          <p:cNvPr id="17" name="Text 15"/>
          <p:cNvSpPr/>
          <p:nvPr/>
        </p:nvSpPr>
        <p:spPr>
          <a:xfrm>
            <a:off x="4233672" y="1380744"/>
            <a:ext cx="1847088" cy="201168"/>
          </a:xfrm>
          <a:prstGeom prst="rect">
            <a:avLst/>
          </a:prstGeom>
          <a:noFill/>
          <a:ln/>
        </p:spPr>
        <p:txBody>
          <a:bodyPr wrap="square" lIns="0" tIns="0" rIns="0" bIns="0" rtlCol="0" anchor="ctr"/>
          <a:lstStyle/>
          <a:p>
            <a:pPr indent="0" marL="0">
              <a:buNone/>
            </a:pPr>
            <a:r>
              <a:rPr lang="en-US" sz="900" b="1" dirty="0">
                <a:solidFill>
                  <a:srgbClr val="E50914"/>
                </a:solidFill>
              </a:rPr>
              <a:t>Content-Based</a:t>
            </a:r>
            <a:endParaRPr lang="en-US" sz="900" dirty="0"/>
          </a:p>
        </p:txBody>
      </p:sp>
      <p:sp>
        <p:nvSpPr>
          <p:cNvPr id="18" name="Text 16"/>
          <p:cNvSpPr/>
          <p:nvPr/>
        </p:nvSpPr>
        <p:spPr>
          <a:xfrm>
            <a:off x="4233672" y="1600200"/>
            <a:ext cx="1847088" cy="164592"/>
          </a:xfrm>
          <a:prstGeom prst="rect">
            <a:avLst/>
          </a:prstGeom>
          <a:noFill/>
          <a:ln/>
        </p:spPr>
        <p:txBody>
          <a:bodyPr wrap="square" lIns="0" tIns="0" rIns="0" bIns="0" rtlCol="0" anchor="ctr"/>
          <a:lstStyle/>
          <a:p>
            <a:pPr indent="0" marL="0">
              <a:buNone/>
            </a:pPr>
            <a:r>
              <a:rPr lang="en-US" sz="800" b="1" dirty="0">
                <a:solidFill>
                  <a:srgbClr val="666666"/>
                </a:solidFill>
              </a:rPr>
              <a:t>1. </a:t>
            </a:r>
            <a:pPr indent="0" marL="0">
              <a:buNone/>
            </a:pPr>
            <a:r>
              <a:rPr lang="en-US" sz="800" dirty="0">
                <a:solidFill>
                  <a:srgbClr val="FFFFFF"/>
                </a:solidFill>
              </a:rPr>
              <a:t>Pocahontas (1995)</a:t>
            </a:r>
            <a:endParaRPr lang="en-US" sz="800" dirty="0"/>
          </a:p>
        </p:txBody>
      </p:sp>
      <p:sp>
        <p:nvSpPr>
          <p:cNvPr id="19" name="Text 17"/>
          <p:cNvSpPr/>
          <p:nvPr/>
        </p:nvSpPr>
        <p:spPr>
          <a:xfrm>
            <a:off x="4233672" y="1773936"/>
            <a:ext cx="1847088" cy="164592"/>
          </a:xfrm>
          <a:prstGeom prst="rect">
            <a:avLst/>
          </a:prstGeom>
          <a:noFill/>
          <a:ln/>
        </p:spPr>
        <p:txBody>
          <a:bodyPr wrap="square" lIns="0" tIns="0" rIns="0" bIns="0" rtlCol="0" anchor="ctr"/>
          <a:lstStyle/>
          <a:p>
            <a:pPr indent="0" marL="0">
              <a:buNone/>
            </a:pPr>
            <a:r>
              <a:rPr lang="en-US" sz="800" b="1" dirty="0">
                <a:solidFill>
                  <a:srgbClr val="666666"/>
                </a:solidFill>
              </a:rPr>
              <a:t>2. </a:t>
            </a:r>
            <a:pPr indent="0" marL="0">
              <a:buNone/>
            </a:pPr>
            <a:r>
              <a:rPr lang="en-US" sz="800" dirty="0">
                <a:solidFill>
                  <a:srgbClr val="FFFFFF"/>
                </a:solidFill>
              </a:rPr>
              <a:t>Hunchback of Notre Dame (1996)</a:t>
            </a:r>
            <a:endParaRPr lang="en-US" sz="800" dirty="0"/>
          </a:p>
        </p:txBody>
      </p:sp>
      <p:sp>
        <p:nvSpPr>
          <p:cNvPr id="20" name="Text 18"/>
          <p:cNvSpPr/>
          <p:nvPr/>
        </p:nvSpPr>
        <p:spPr>
          <a:xfrm>
            <a:off x="4233672" y="1947672"/>
            <a:ext cx="1847088" cy="164592"/>
          </a:xfrm>
          <a:prstGeom prst="rect">
            <a:avLst/>
          </a:prstGeom>
          <a:noFill/>
          <a:ln/>
        </p:spPr>
        <p:txBody>
          <a:bodyPr wrap="square" lIns="0" tIns="0" rIns="0" bIns="0" rtlCol="0" anchor="ctr"/>
          <a:lstStyle/>
          <a:p>
            <a:pPr indent="0" marL="0">
              <a:buNone/>
            </a:pPr>
            <a:r>
              <a:rPr lang="en-US" sz="800" b="1" dirty="0">
                <a:solidFill>
                  <a:srgbClr val="666666"/>
                </a:solidFill>
              </a:rPr>
              <a:t>3. </a:t>
            </a:r>
            <a:pPr indent="0" marL="0">
              <a:buNone/>
            </a:pPr>
            <a:r>
              <a:rPr lang="en-US" sz="800" dirty="0">
                <a:solidFill>
                  <a:srgbClr val="FFFFFF"/>
                </a:solidFill>
              </a:rPr>
              <a:t>Cats Don't Dance (1997)</a:t>
            </a:r>
            <a:endParaRPr lang="en-US" sz="800" dirty="0"/>
          </a:p>
        </p:txBody>
      </p:sp>
      <p:sp>
        <p:nvSpPr>
          <p:cNvPr id="21" name="Shape 19"/>
          <p:cNvSpPr/>
          <p:nvPr/>
        </p:nvSpPr>
        <p:spPr>
          <a:xfrm>
            <a:off x="6318504" y="1325880"/>
            <a:ext cx="2029968" cy="804672"/>
          </a:xfrm>
          <a:prstGeom prst="roundRect">
            <a:avLst>
              <a:gd name="adj" fmla="val 13636"/>
            </a:avLst>
          </a:prstGeom>
          <a:solidFill>
            <a:srgbClr val="1E1E1E"/>
          </a:solidFill>
          <a:ln w="12700">
            <a:solidFill>
              <a:srgbClr val="2A2A2A"/>
            </a:solidFill>
            <a:prstDash val="solid"/>
          </a:ln>
          <a:effectLst>
            <a:outerShdw sx="100000" sy="100000" kx="0" ky="0" algn="bl" rotWithShape="0" blurRad="127000" dist="38100" dir="2700000">
              <a:srgbClr val="000000">
                <a:alpha val="40000"/>
              </a:srgbClr>
            </a:outerShdw>
          </a:effectLst>
        </p:spPr>
      </p:sp>
      <p:sp>
        <p:nvSpPr>
          <p:cNvPr id="22" name="Text 20"/>
          <p:cNvSpPr/>
          <p:nvPr/>
        </p:nvSpPr>
        <p:spPr>
          <a:xfrm>
            <a:off x="6409944" y="1380744"/>
            <a:ext cx="1847088" cy="201168"/>
          </a:xfrm>
          <a:prstGeom prst="rect">
            <a:avLst/>
          </a:prstGeom>
          <a:noFill/>
          <a:ln/>
        </p:spPr>
        <p:txBody>
          <a:bodyPr wrap="square" lIns="0" tIns="0" rIns="0" bIns="0" rtlCol="0" anchor="ctr"/>
          <a:lstStyle/>
          <a:p>
            <a:pPr indent="0" marL="0">
              <a:buNone/>
            </a:pPr>
            <a:r>
              <a:rPr lang="en-US" sz="900" b="1" dirty="0">
                <a:solidFill>
                  <a:srgbClr val="E50914"/>
                </a:solidFill>
              </a:rPr>
              <a:t>Matrix Factor.</a:t>
            </a:r>
            <a:endParaRPr lang="en-US" sz="900" dirty="0"/>
          </a:p>
        </p:txBody>
      </p:sp>
      <p:sp>
        <p:nvSpPr>
          <p:cNvPr id="23" name="Text 21"/>
          <p:cNvSpPr/>
          <p:nvPr/>
        </p:nvSpPr>
        <p:spPr>
          <a:xfrm>
            <a:off x="6409944" y="1600200"/>
            <a:ext cx="1847088" cy="164592"/>
          </a:xfrm>
          <a:prstGeom prst="rect">
            <a:avLst/>
          </a:prstGeom>
          <a:noFill/>
          <a:ln/>
        </p:spPr>
        <p:txBody>
          <a:bodyPr wrap="square" lIns="0" tIns="0" rIns="0" bIns="0" rtlCol="0" anchor="ctr"/>
          <a:lstStyle/>
          <a:p>
            <a:pPr indent="0" marL="0">
              <a:buNone/>
            </a:pPr>
            <a:r>
              <a:rPr lang="en-US" sz="800" b="1" dirty="0">
                <a:solidFill>
                  <a:srgbClr val="666666"/>
                </a:solidFill>
              </a:rPr>
              <a:t>1. </a:t>
            </a:r>
            <a:pPr indent="0" marL="0">
              <a:buNone/>
            </a:pPr>
            <a:r>
              <a:rPr lang="en-US" sz="800" dirty="0">
                <a:solidFill>
                  <a:srgbClr val="FFFFFF"/>
                </a:solidFill>
              </a:rPr>
              <a:t>Godfather, The (1972)</a:t>
            </a:r>
            <a:endParaRPr lang="en-US" sz="800" dirty="0"/>
          </a:p>
        </p:txBody>
      </p:sp>
      <p:sp>
        <p:nvSpPr>
          <p:cNvPr id="24" name="Text 22"/>
          <p:cNvSpPr/>
          <p:nvPr/>
        </p:nvSpPr>
        <p:spPr>
          <a:xfrm>
            <a:off x="6409944" y="1773936"/>
            <a:ext cx="1847088" cy="164592"/>
          </a:xfrm>
          <a:prstGeom prst="rect">
            <a:avLst/>
          </a:prstGeom>
          <a:noFill/>
          <a:ln/>
        </p:spPr>
        <p:txBody>
          <a:bodyPr wrap="square" lIns="0" tIns="0" rIns="0" bIns="0" rtlCol="0" anchor="ctr"/>
          <a:lstStyle/>
          <a:p>
            <a:pPr indent="0" marL="0">
              <a:buNone/>
            </a:pPr>
            <a:r>
              <a:rPr lang="en-US" sz="800" b="1" dirty="0">
                <a:solidFill>
                  <a:srgbClr val="666666"/>
                </a:solidFill>
              </a:rPr>
              <a:t>2. </a:t>
            </a:r>
            <a:pPr indent="0" marL="0">
              <a:buNone/>
            </a:pPr>
            <a:r>
              <a:rPr lang="en-US" sz="800" dirty="0">
                <a:solidFill>
                  <a:srgbClr val="FFFFFF"/>
                </a:solidFill>
              </a:rPr>
              <a:t>Die Hard (1988)</a:t>
            </a:r>
            <a:endParaRPr lang="en-US" sz="800" dirty="0"/>
          </a:p>
        </p:txBody>
      </p:sp>
      <p:sp>
        <p:nvSpPr>
          <p:cNvPr id="25" name="Text 23"/>
          <p:cNvSpPr/>
          <p:nvPr/>
        </p:nvSpPr>
        <p:spPr>
          <a:xfrm>
            <a:off x="6409944" y="1947672"/>
            <a:ext cx="1847088" cy="164592"/>
          </a:xfrm>
          <a:prstGeom prst="rect">
            <a:avLst/>
          </a:prstGeom>
          <a:noFill/>
          <a:ln/>
        </p:spPr>
        <p:txBody>
          <a:bodyPr wrap="square" lIns="0" tIns="0" rIns="0" bIns="0" rtlCol="0" anchor="ctr"/>
          <a:lstStyle/>
          <a:p>
            <a:pPr indent="0" marL="0">
              <a:buNone/>
            </a:pPr>
            <a:r>
              <a:rPr lang="en-US" sz="800" b="1" dirty="0">
                <a:solidFill>
                  <a:srgbClr val="666666"/>
                </a:solidFill>
              </a:rPr>
              <a:t>3. </a:t>
            </a:r>
            <a:pPr indent="0" marL="0">
              <a:buNone/>
            </a:pPr>
            <a:r>
              <a:rPr lang="en-US" sz="800" dirty="0">
                <a:solidFill>
                  <a:srgbClr val="FFFFFF"/>
                </a:solidFill>
              </a:rPr>
              <a:t>Stand by Me (1986)</a:t>
            </a:r>
            <a:endParaRPr lang="en-US" sz="800" dirty="0"/>
          </a:p>
        </p:txBody>
      </p:sp>
      <p:sp>
        <p:nvSpPr>
          <p:cNvPr id="26" name="Text 24"/>
          <p:cNvSpPr/>
          <p:nvPr/>
        </p:nvSpPr>
        <p:spPr>
          <a:xfrm>
            <a:off x="8321040" y="1399032"/>
            <a:ext cx="685800" cy="914400"/>
          </a:xfrm>
          <a:prstGeom prst="rect">
            <a:avLst/>
          </a:prstGeom>
          <a:noFill/>
          <a:ln/>
        </p:spPr>
        <p:txBody>
          <a:bodyPr wrap="square" lIns="0" tIns="0" rIns="0" bIns="0" rtlCol="0" anchor="ctr"/>
          <a:lstStyle/>
          <a:p>
            <a:pPr indent="0" marL="0">
              <a:buNone/>
            </a:pPr>
            <a:r>
              <a:rPr lang="en-US" sz="700" dirty="0">
                <a:solidFill>
                  <a:srgbClr val="B3B3B3"/>
                </a:solidFill>
              </a:rPr>
              <a:t>CF picks genre peers. CBF latches onto animation (also rated high) rather than action - shows CBF can over-fit to a few high-rated items.</a:t>
            </a:r>
            <a:endParaRPr lang="en-US" sz="700" dirty="0"/>
          </a:p>
        </p:txBody>
      </p:sp>
      <p:sp>
        <p:nvSpPr>
          <p:cNvPr id="27" name="Shape 25"/>
          <p:cNvSpPr/>
          <p:nvPr/>
        </p:nvSpPr>
        <p:spPr>
          <a:xfrm>
            <a:off x="457200" y="2551176"/>
            <a:ext cx="1371600" cy="1051560"/>
          </a:xfrm>
          <a:prstGeom prst="roundRect">
            <a:avLst>
              <a:gd name="adj" fmla="val 8696"/>
            </a:avLst>
          </a:prstGeom>
          <a:solidFill>
            <a:srgbClr val="B20710"/>
          </a:solidFill>
          <a:ln w="12700">
            <a:solidFill>
              <a:srgbClr val="B20710"/>
            </a:solidFill>
            <a:prstDash val="solid"/>
          </a:ln>
        </p:spPr>
      </p:sp>
      <p:sp>
        <p:nvSpPr>
          <p:cNvPr id="28" name="Text 26"/>
          <p:cNvSpPr/>
          <p:nvPr/>
        </p:nvSpPr>
        <p:spPr>
          <a:xfrm>
            <a:off x="457200" y="2642616"/>
            <a:ext cx="1371600" cy="347472"/>
          </a:xfrm>
          <a:prstGeom prst="rect">
            <a:avLst/>
          </a:prstGeom>
          <a:noFill/>
          <a:ln/>
        </p:spPr>
        <p:txBody>
          <a:bodyPr wrap="square" lIns="0" tIns="0" rIns="0" bIns="0" rtlCol="0" anchor="ctr"/>
          <a:lstStyle/>
          <a:p>
            <a:pPr algn="ctr" indent="0" marL="0">
              <a:buNone/>
            </a:pPr>
            <a:r>
              <a:rPr lang="en-US" sz="1300" b="1" dirty="0">
                <a:solidFill>
                  <a:srgbClr val="FFFFFF"/>
                </a:solidFill>
              </a:rPr>
              <a:t>User 50</a:t>
            </a:r>
            <a:endParaRPr lang="en-US" sz="1300" dirty="0"/>
          </a:p>
        </p:txBody>
      </p:sp>
      <p:sp>
        <p:nvSpPr>
          <p:cNvPr id="29" name="Text 27"/>
          <p:cNvSpPr/>
          <p:nvPr/>
        </p:nvSpPr>
        <p:spPr>
          <a:xfrm>
            <a:off x="457200" y="3008376"/>
            <a:ext cx="1371600" cy="365760"/>
          </a:xfrm>
          <a:prstGeom prst="rect">
            <a:avLst/>
          </a:prstGeom>
          <a:noFill/>
          <a:ln/>
        </p:spPr>
        <p:txBody>
          <a:bodyPr wrap="square" lIns="0" tIns="0" rIns="0" bIns="0" rtlCol="0" anchor="ctr"/>
          <a:lstStyle/>
          <a:p>
            <a:pPr algn="ctr" indent="0" marL="0">
              <a:buNone/>
            </a:pPr>
            <a:r>
              <a:rPr lang="en-US" sz="800" dirty="0">
                <a:solidFill>
                  <a:srgbClr val="FFB3B3"/>
                </a:solidFill>
              </a:rPr>
              <a:t>Drama / Classic film fan</a:t>
            </a:r>
            <a:endParaRPr lang="en-US" sz="800" dirty="0"/>
          </a:p>
        </p:txBody>
      </p:sp>
      <p:sp>
        <p:nvSpPr>
          <p:cNvPr id="30" name="Shape 28"/>
          <p:cNvSpPr/>
          <p:nvPr/>
        </p:nvSpPr>
        <p:spPr>
          <a:xfrm>
            <a:off x="1965960" y="2551176"/>
            <a:ext cx="2029968" cy="804672"/>
          </a:xfrm>
          <a:prstGeom prst="roundRect">
            <a:avLst>
              <a:gd name="adj" fmla="val 13636"/>
            </a:avLst>
          </a:prstGeom>
          <a:solidFill>
            <a:srgbClr val="1E1E1E"/>
          </a:solidFill>
          <a:ln w="12700">
            <a:solidFill>
              <a:srgbClr val="2A2A2A"/>
            </a:solidFill>
            <a:prstDash val="solid"/>
          </a:ln>
          <a:effectLst>
            <a:outerShdw sx="100000" sy="100000" kx="0" ky="0" algn="bl" rotWithShape="0" blurRad="127000" dist="38100" dir="2700000">
              <a:srgbClr val="000000">
                <a:alpha val="40000"/>
              </a:srgbClr>
            </a:outerShdw>
          </a:effectLst>
        </p:spPr>
      </p:sp>
      <p:sp>
        <p:nvSpPr>
          <p:cNvPr id="31" name="Text 29"/>
          <p:cNvSpPr/>
          <p:nvPr/>
        </p:nvSpPr>
        <p:spPr>
          <a:xfrm>
            <a:off x="2057400" y="2606040"/>
            <a:ext cx="1847088" cy="201168"/>
          </a:xfrm>
          <a:prstGeom prst="rect">
            <a:avLst/>
          </a:prstGeom>
          <a:noFill/>
          <a:ln/>
        </p:spPr>
        <p:txBody>
          <a:bodyPr wrap="square" lIns="0" tIns="0" rIns="0" bIns="0" rtlCol="0" anchor="ctr"/>
          <a:lstStyle/>
          <a:p>
            <a:pPr indent="0" marL="0">
              <a:buNone/>
            </a:pPr>
            <a:r>
              <a:rPr lang="en-US" sz="900" b="1" dirty="0">
                <a:solidFill>
                  <a:srgbClr val="E50914"/>
                </a:solidFill>
              </a:rPr>
              <a:t>User-Based CF</a:t>
            </a:r>
            <a:endParaRPr lang="en-US" sz="900" dirty="0"/>
          </a:p>
        </p:txBody>
      </p:sp>
      <p:sp>
        <p:nvSpPr>
          <p:cNvPr id="32" name="Text 30"/>
          <p:cNvSpPr/>
          <p:nvPr/>
        </p:nvSpPr>
        <p:spPr>
          <a:xfrm>
            <a:off x="2057400" y="2825496"/>
            <a:ext cx="1847088" cy="164592"/>
          </a:xfrm>
          <a:prstGeom prst="rect">
            <a:avLst/>
          </a:prstGeom>
          <a:noFill/>
          <a:ln/>
        </p:spPr>
        <p:txBody>
          <a:bodyPr wrap="square" lIns="0" tIns="0" rIns="0" bIns="0" rtlCol="0" anchor="ctr"/>
          <a:lstStyle/>
          <a:p>
            <a:pPr indent="0" marL="0">
              <a:buNone/>
            </a:pPr>
            <a:r>
              <a:rPr lang="en-US" sz="800" b="1" dirty="0">
                <a:solidFill>
                  <a:srgbClr val="666666"/>
                </a:solidFill>
              </a:rPr>
              <a:t>1. </a:t>
            </a:r>
            <a:pPr indent="0" marL="0">
              <a:buNone/>
            </a:pPr>
            <a:r>
              <a:rPr lang="en-US" sz="800" dirty="0">
                <a:solidFill>
                  <a:srgbClr val="FFFFFF"/>
                </a:solidFill>
              </a:rPr>
              <a:t>One Flew Over Cuckoo's Nest (1975)</a:t>
            </a:r>
            <a:endParaRPr lang="en-US" sz="800" dirty="0"/>
          </a:p>
        </p:txBody>
      </p:sp>
      <p:sp>
        <p:nvSpPr>
          <p:cNvPr id="33" name="Text 31"/>
          <p:cNvSpPr/>
          <p:nvPr/>
        </p:nvSpPr>
        <p:spPr>
          <a:xfrm>
            <a:off x="2057400" y="2999232"/>
            <a:ext cx="1847088" cy="164592"/>
          </a:xfrm>
          <a:prstGeom prst="rect">
            <a:avLst/>
          </a:prstGeom>
          <a:noFill/>
          <a:ln/>
        </p:spPr>
        <p:txBody>
          <a:bodyPr wrap="square" lIns="0" tIns="0" rIns="0" bIns="0" rtlCol="0" anchor="ctr"/>
          <a:lstStyle/>
          <a:p>
            <a:pPr indent="0" marL="0">
              <a:buNone/>
            </a:pPr>
            <a:r>
              <a:rPr lang="en-US" sz="800" b="1" dirty="0">
                <a:solidFill>
                  <a:srgbClr val="666666"/>
                </a:solidFill>
              </a:rPr>
              <a:t>2. </a:t>
            </a:r>
            <a:pPr indent="0" marL="0">
              <a:buNone/>
            </a:pPr>
            <a:r>
              <a:rPr lang="en-US" sz="800" dirty="0">
                <a:solidFill>
                  <a:srgbClr val="FFFFFF"/>
                </a:solidFill>
              </a:rPr>
              <a:t>LOTR: Two Towers (2002)</a:t>
            </a:r>
            <a:endParaRPr lang="en-US" sz="800" dirty="0"/>
          </a:p>
        </p:txBody>
      </p:sp>
      <p:sp>
        <p:nvSpPr>
          <p:cNvPr id="34" name="Text 32"/>
          <p:cNvSpPr/>
          <p:nvPr/>
        </p:nvSpPr>
        <p:spPr>
          <a:xfrm>
            <a:off x="2057400" y="3172968"/>
            <a:ext cx="1847088" cy="164592"/>
          </a:xfrm>
          <a:prstGeom prst="rect">
            <a:avLst/>
          </a:prstGeom>
          <a:noFill/>
          <a:ln/>
        </p:spPr>
        <p:txBody>
          <a:bodyPr wrap="square" lIns="0" tIns="0" rIns="0" bIns="0" rtlCol="0" anchor="ctr"/>
          <a:lstStyle/>
          <a:p>
            <a:pPr indent="0" marL="0">
              <a:buNone/>
            </a:pPr>
            <a:r>
              <a:rPr lang="en-US" sz="800" b="1" dirty="0">
                <a:solidFill>
                  <a:srgbClr val="666666"/>
                </a:solidFill>
              </a:rPr>
              <a:t>3. </a:t>
            </a:r>
            <a:pPr indent="0" marL="0">
              <a:buNone/>
            </a:pPr>
            <a:r>
              <a:rPr lang="en-US" sz="800" dirty="0">
                <a:solidFill>
                  <a:srgbClr val="FFFFFF"/>
                </a:solidFill>
              </a:rPr>
              <a:t>LOTR: Return of the King (2003)</a:t>
            </a:r>
            <a:endParaRPr lang="en-US" sz="800" dirty="0"/>
          </a:p>
        </p:txBody>
      </p:sp>
      <p:sp>
        <p:nvSpPr>
          <p:cNvPr id="35" name="Shape 33"/>
          <p:cNvSpPr/>
          <p:nvPr/>
        </p:nvSpPr>
        <p:spPr>
          <a:xfrm>
            <a:off x="4142232" y="2551176"/>
            <a:ext cx="2029968" cy="804672"/>
          </a:xfrm>
          <a:prstGeom prst="roundRect">
            <a:avLst>
              <a:gd name="adj" fmla="val 13636"/>
            </a:avLst>
          </a:prstGeom>
          <a:solidFill>
            <a:srgbClr val="1E1E1E"/>
          </a:solidFill>
          <a:ln w="12700">
            <a:solidFill>
              <a:srgbClr val="2A2A2A"/>
            </a:solidFill>
            <a:prstDash val="solid"/>
          </a:ln>
          <a:effectLst>
            <a:outerShdw sx="100000" sy="100000" kx="0" ky="0" algn="bl" rotWithShape="0" blurRad="127000" dist="38100" dir="2700000">
              <a:srgbClr val="000000">
                <a:alpha val="40000"/>
              </a:srgbClr>
            </a:outerShdw>
          </a:effectLst>
        </p:spPr>
      </p:sp>
      <p:sp>
        <p:nvSpPr>
          <p:cNvPr id="36" name="Text 34"/>
          <p:cNvSpPr/>
          <p:nvPr/>
        </p:nvSpPr>
        <p:spPr>
          <a:xfrm>
            <a:off x="4233672" y="2606040"/>
            <a:ext cx="1847088" cy="201168"/>
          </a:xfrm>
          <a:prstGeom prst="rect">
            <a:avLst/>
          </a:prstGeom>
          <a:noFill/>
          <a:ln/>
        </p:spPr>
        <p:txBody>
          <a:bodyPr wrap="square" lIns="0" tIns="0" rIns="0" bIns="0" rtlCol="0" anchor="ctr"/>
          <a:lstStyle/>
          <a:p>
            <a:pPr indent="0" marL="0">
              <a:buNone/>
            </a:pPr>
            <a:r>
              <a:rPr lang="en-US" sz="900" b="1" dirty="0">
                <a:solidFill>
                  <a:srgbClr val="E50914"/>
                </a:solidFill>
              </a:rPr>
              <a:t>Content-Based</a:t>
            </a:r>
            <a:endParaRPr lang="en-US" sz="900" dirty="0"/>
          </a:p>
        </p:txBody>
      </p:sp>
      <p:sp>
        <p:nvSpPr>
          <p:cNvPr id="37" name="Text 35"/>
          <p:cNvSpPr/>
          <p:nvPr/>
        </p:nvSpPr>
        <p:spPr>
          <a:xfrm>
            <a:off x="4233672" y="2825496"/>
            <a:ext cx="1847088" cy="164592"/>
          </a:xfrm>
          <a:prstGeom prst="rect">
            <a:avLst/>
          </a:prstGeom>
          <a:noFill/>
          <a:ln/>
        </p:spPr>
        <p:txBody>
          <a:bodyPr wrap="square" lIns="0" tIns="0" rIns="0" bIns="0" rtlCol="0" anchor="ctr"/>
          <a:lstStyle/>
          <a:p>
            <a:pPr indent="0" marL="0">
              <a:buNone/>
            </a:pPr>
            <a:r>
              <a:rPr lang="en-US" sz="800" b="1" dirty="0">
                <a:solidFill>
                  <a:srgbClr val="666666"/>
                </a:solidFill>
              </a:rPr>
              <a:t>1. </a:t>
            </a:r>
            <a:pPr indent="0" marL="0">
              <a:buNone/>
            </a:pPr>
            <a:r>
              <a:rPr lang="en-US" sz="800" dirty="0">
                <a:solidFill>
                  <a:srgbClr val="FFFFFF"/>
                </a:solidFill>
              </a:rPr>
              <a:t>Hamlet (1996)</a:t>
            </a:r>
            <a:endParaRPr lang="en-US" sz="800" dirty="0"/>
          </a:p>
        </p:txBody>
      </p:sp>
      <p:sp>
        <p:nvSpPr>
          <p:cNvPr id="38" name="Text 36"/>
          <p:cNvSpPr/>
          <p:nvPr/>
        </p:nvSpPr>
        <p:spPr>
          <a:xfrm>
            <a:off x="4233672" y="2999232"/>
            <a:ext cx="1847088" cy="164592"/>
          </a:xfrm>
          <a:prstGeom prst="rect">
            <a:avLst/>
          </a:prstGeom>
          <a:noFill/>
          <a:ln/>
        </p:spPr>
        <p:txBody>
          <a:bodyPr wrap="square" lIns="0" tIns="0" rIns="0" bIns="0" rtlCol="0" anchor="ctr"/>
          <a:lstStyle/>
          <a:p>
            <a:pPr indent="0" marL="0">
              <a:buNone/>
            </a:pPr>
            <a:r>
              <a:rPr lang="en-US" sz="800" b="1" dirty="0">
                <a:solidFill>
                  <a:srgbClr val="666666"/>
                </a:solidFill>
              </a:rPr>
              <a:t>2. </a:t>
            </a:r>
            <a:pPr indent="0" marL="0">
              <a:buNone/>
            </a:pPr>
            <a:r>
              <a:rPr lang="en-US" sz="800" dirty="0">
                <a:solidFill>
                  <a:srgbClr val="FFFFFF"/>
                </a:solidFill>
              </a:rPr>
              <a:t>Much Ado About Nothing (1993)</a:t>
            </a:r>
            <a:endParaRPr lang="en-US" sz="800" dirty="0"/>
          </a:p>
        </p:txBody>
      </p:sp>
      <p:sp>
        <p:nvSpPr>
          <p:cNvPr id="39" name="Text 37"/>
          <p:cNvSpPr/>
          <p:nvPr/>
        </p:nvSpPr>
        <p:spPr>
          <a:xfrm>
            <a:off x="4233672" y="3172968"/>
            <a:ext cx="1847088" cy="164592"/>
          </a:xfrm>
          <a:prstGeom prst="rect">
            <a:avLst/>
          </a:prstGeom>
          <a:noFill/>
          <a:ln/>
        </p:spPr>
        <p:txBody>
          <a:bodyPr wrap="square" lIns="0" tIns="0" rIns="0" bIns="0" rtlCol="0" anchor="ctr"/>
          <a:lstStyle/>
          <a:p>
            <a:pPr indent="0" marL="0">
              <a:buNone/>
            </a:pPr>
            <a:r>
              <a:rPr lang="en-US" sz="800" b="1" dirty="0">
                <a:solidFill>
                  <a:srgbClr val="666666"/>
                </a:solidFill>
              </a:rPr>
              <a:t>3. </a:t>
            </a:r>
            <a:pPr indent="0" marL="0">
              <a:buNone/>
            </a:pPr>
            <a:r>
              <a:rPr lang="en-US" sz="800" dirty="0">
                <a:solidFill>
                  <a:srgbClr val="FFFFFF"/>
                </a:solidFill>
              </a:rPr>
              <a:t>Henry V (1989)</a:t>
            </a:r>
            <a:endParaRPr lang="en-US" sz="800" dirty="0"/>
          </a:p>
        </p:txBody>
      </p:sp>
      <p:sp>
        <p:nvSpPr>
          <p:cNvPr id="40" name="Shape 38"/>
          <p:cNvSpPr/>
          <p:nvPr/>
        </p:nvSpPr>
        <p:spPr>
          <a:xfrm>
            <a:off x="6318504" y="2551176"/>
            <a:ext cx="2029968" cy="804672"/>
          </a:xfrm>
          <a:prstGeom prst="roundRect">
            <a:avLst>
              <a:gd name="adj" fmla="val 13636"/>
            </a:avLst>
          </a:prstGeom>
          <a:solidFill>
            <a:srgbClr val="1E1E1E"/>
          </a:solidFill>
          <a:ln w="12700">
            <a:solidFill>
              <a:srgbClr val="2A2A2A"/>
            </a:solidFill>
            <a:prstDash val="solid"/>
          </a:ln>
          <a:effectLst>
            <a:outerShdw sx="100000" sy="100000" kx="0" ky="0" algn="bl" rotWithShape="0" blurRad="127000" dist="38100" dir="2700000">
              <a:srgbClr val="000000">
                <a:alpha val="40000"/>
              </a:srgbClr>
            </a:outerShdw>
          </a:effectLst>
        </p:spPr>
      </p:sp>
      <p:sp>
        <p:nvSpPr>
          <p:cNvPr id="41" name="Text 39"/>
          <p:cNvSpPr/>
          <p:nvPr/>
        </p:nvSpPr>
        <p:spPr>
          <a:xfrm>
            <a:off x="6409944" y="2606040"/>
            <a:ext cx="1847088" cy="201168"/>
          </a:xfrm>
          <a:prstGeom prst="rect">
            <a:avLst/>
          </a:prstGeom>
          <a:noFill/>
          <a:ln/>
        </p:spPr>
        <p:txBody>
          <a:bodyPr wrap="square" lIns="0" tIns="0" rIns="0" bIns="0" rtlCol="0" anchor="ctr"/>
          <a:lstStyle/>
          <a:p>
            <a:pPr indent="0" marL="0">
              <a:buNone/>
            </a:pPr>
            <a:r>
              <a:rPr lang="en-US" sz="900" b="1" dirty="0">
                <a:solidFill>
                  <a:srgbClr val="E50914"/>
                </a:solidFill>
              </a:rPr>
              <a:t>Matrix Factor.</a:t>
            </a:r>
            <a:endParaRPr lang="en-US" sz="900" dirty="0"/>
          </a:p>
        </p:txBody>
      </p:sp>
      <p:sp>
        <p:nvSpPr>
          <p:cNvPr id="42" name="Text 40"/>
          <p:cNvSpPr/>
          <p:nvPr/>
        </p:nvSpPr>
        <p:spPr>
          <a:xfrm>
            <a:off x="6409944" y="2825496"/>
            <a:ext cx="1847088" cy="164592"/>
          </a:xfrm>
          <a:prstGeom prst="rect">
            <a:avLst/>
          </a:prstGeom>
          <a:noFill/>
          <a:ln/>
        </p:spPr>
        <p:txBody>
          <a:bodyPr wrap="square" lIns="0" tIns="0" rIns="0" bIns="0" rtlCol="0" anchor="ctr"/>
          <a:lstStyle/>
          <a:p>
            <a:pPr indent="0" marL="0">
              <a:buNone/>
            </a:pPr>
            <a:r>
              <a:rPr lang="en-US" sz="800" b="1" dirty="0">
                <a:solidFill>
                  <a:srgbClr val="666666"/>
                </a:solidFill>
              </a:rPr>
              <a:t>1. </a:t>
            </a:r>
            <a:pPr indent="0" marL="0">
              <a:buNone/>
            </a:pPr>
            <a:r>
              <a:rPr lang="en-US" sz="800" dirty="0">
                <a:solidFill>
                  <a:srgbClr val="FFFFFF"/>
                </a:solidFill>
              </a:rPr>
              <a:t>Fargo (1996)</a:t>
            </a:r>
            <a:endParaRPr lang="en-US" sz="800" dirty="0"/>
          </a:p>
        </p:txBody>
      </p:sp>
      <p:sp>
        <p:nvSpPr>
          <p:cNvPr id="43" name="Text 41"/>
          <p:cNvSpPr/>
          <p:nvPr/>
        </p:nvSpPr>
        <p:spPr>
          <a:xfrm>
            <a:off x="6409944" y="2999232"/>
            <a:ext cx="1847088" cy="164592"/>
          </a:xfrm>
          <a:prstGeom prst="rect">
            <a:avLst/>
          </a:prstGeom>
          <a:noFill/>
          <a:ln/>
        </p:spPr>
        <p:txBody>
          <a:bodyPr wrap="square" lIns="0" tIns="0" rIns="0" bIns="0" rtlCol="0" anchor="ctr"/>
          <a:lstStyle/>
          <a:p>
            <a:pPr indent="0" marL="0">
              <a:buNone/>
            </a:pPr>
            <a:r>
              <a:rPr lang="en-US" sz="800" b="1" dirty="0">
                <a:solidFill>
                  <a:srgbClr val="666666"/>
                </a:solidFill>
              </a:rPr>
              <a:t>2. </a:t>
            </a:r>
            <a:pPr indent="0" marL="0">
              <a:buNone/>
            </a:pPr>
            <a:r>
              <a:rPr lang="en-US" sz="800" dirty="0">
                <a:solidFill>
                  <a:srgbClr val="FFFFFF"/>
                </a:solidFill>
              </a:rPr>
              <a:t>Pulp Fiction (1994)</a:t>
            </a:r>
            <a:endParaRPr lang="en-US" sz="800" dirty="0"/>
          </a:p>
        </p:txBody>
      </p:sp>
      <p:sp>
        <p:nvSpPr>
          <p:cNvPr id="44" name="Text 42"/>
          <p:cNvSpPr/>
          <p:nvPr/>
        </p:nvSpPr>
        <p:spPr>
          <a:xfrm>
            <a:off x="6409944" y="3172968"/>
            <a:ext cx="1847088" cy="164592"/>
          </a:xfrm>
          <a:prstGeom prst="rect">
            <a:avLst/>
          </a:prstGeom>
          <a:noFill/>
          <a:ln/>
        </p:spPr>
        <p:txBody>
          <a:bodyPr wrap="square" lIns="0" tIns="0" rIns="0" bIns="0" rtlCol="0" anchor="ctr"/>
          <a:lstStyle/>
          <a:p>
            <a:pPr indent="0" marL="0">
              <a:buNone/>
            </a:pPr>
            <a:r>
              <a:rPr lang="en-US" sz="800" b="1" dirty="0">
                <a:solidFill>
                  <a:srgbClr val="666666"/>
                </a:solidFill>
              </a:rPr>
              <a:t>3. </a:t>
            </a:r>
            <a:pPr indent="0" marL="0">
              <a:buNone/>
            </a:pPr>
            <a:r>
              <a:rPr lang="en-US" sz="800" dirty="0">
                <a:solidFill>
                  <a:srgbClr val="FFFFFF"/>
                </a:solidFill>
              </a:rPr>
              <a:t>Goodfellas (1990)</a:t>
            </a:r>
            <a:endParaRPr lang="en-US" sz="800" dirty="0"/>
          </a:p>
        </p:txBody>
      </p:sp>
      <p:sp>
        <p:nvSpPr>
          <p:cNvPr id="45" name="Text 43"/>
          <p:cNvSpPr/>
          <p:nvPr/>
        </p:nvSpPr>
        <p:spPr>
          <a:xfrm>
            <a:off x="8321040" y="2624328"/>
            <a:ext cx="685800" cy="914400"/>
          </a:xfrm>
          <a:prstGeom prst="rect">
            <a:avLst/>
          </a:prstGeom>
          <a:noFill/>
          <a:ln/>
        </p:spPr>
        <p:txBody>
          <a:bodyPr wrap="square" lIns="0" tIns="0" rIns="0" bIns="0" rtlCol="0" anchor="ctr"/>
          <a:lstStyle/>
          <a:p>
            <a:pPr indent="0" marL="0">
              <a:buNone/>
            </a:pPr>
            <a:r>
              <a:rPr lang="en-US" sz="700" dirty="0">
                <a:solidFill>
                  <a:srgbClr val="B3B3B3"/>
                </a:solidFill>
              </a:rPr>
              <a:t>All three methods agree on drama/classics. CF and MF capture taste via rating overlap; CBF gets there via genre text. Overlap here means high confidence.</a:t>
            </a:r>
            <a:endParaRPr lang="en-US" sz="700" dirty="0"/>
          </a:p>
        </p:txBody>
      </p:sp>
      <p:sp>
        <p:nvSpPr>
          <p:cNvPr id="46" name="Shape 44"/>
          <p:cNvSpPr/>
          <p:nvPr/>
        </p:nvSpPr>
        <p:spPr>
          <a:xfrm>
            <a:off x="457200" y="3776472"/>
            <a:ext cx="1371600" cy="1051560"/>
          </a:xfrm>
          <a:prstGeom prst="roundRect">
            <a:avLst>
              <a:gd name="adj" fmla="val 8696"/>
            </a:avLst>
          </a:prstGeom>
          <a:solidFill>
            <a:srgbClr val="B20710"/>
          </a:solidFill>
          <a:ln w="12700">
            <a:solidFill>
              <a:srgbClr val="B20710"/>
            </a:solidFill>
            <a:prstDash val="solid"/>
          </a:ln>
        </p:spPr>
      </p:sp>
      <p:sp>
        <p:nvSpPr>
          <p:cNvPr id="47" name="Text 45"/>
          <p:cNvSpPr/>
          <p:nvPr/>
        </p:nvSpPr>
        <p:spPr>
          <a:xfrm>
            <a:off x="457200" y="3867912"/>
            <a:ext cx="1371600" cy="347472"/>
          </a:xfrm>
          <a:prstGeom prst="rect">
            <a:avLst/>
          </a:prstGeom>
          <a:noFill/>
          <a:ln/>
        </p:spPr>
        <p:txBody>
          <a:bodyPr wrap="square" lIns="0" tIns="0" rIns="0" bIns="0" rtlCol="0" anchor="ctr"/>
          <a:lstStyle/>
          <a:p>
            <a:pPr algn="ctr" indent="0" marL="0">
              <a:buNone/>
            </a:pPr>
            <a:r>
              <a:rPr lang="en-US" sz="1300" b="1" dirty="0">
                <a:solidFill>
                  <a:srgbClr val="FFFFFF"/>
                </a:solidFill>
              </a:rPr>
              <a:t>User 200</a:t>
            </a:r>
            <a:endParaRPr lang="en-US" sz="1300" dirty="0"/>
          </a:p>
        </p:txBody>
      </p:sp>
      <p:sp>
        <p:nvSpPr>
          <p:cNvPr id="48" name="Text 46"/>
          <p:cNvSpPr/>
          <p:nvPr/>
        </p:nvSpPr>
        <p:spPr>
          <a:xfrm>
            <a:off x="457200" y="4233672"/>
            <a:ext cx="1371600" cy="365760"/>
          </a:xfrm>
          <a:prstGeom prst="rect">
            <a:avLst/>
          </a:prstGeom>
          <a:noFill/>
          <a:ln/>
        </p:spPr>
        <p:txBody>
          <a:bodyPr wrap="square" lIns="0" tIns="0" rIns="0" bIns="0" rtlCol="0" anchor="ctr"/>
          <a:lstStyle/>
          <a:p>
            <a:pPr algn="ctr" indent="0" marL="0">
              <a:buNone/>
            </a:pPr>
            <a:r>
              <a:rPr lang="en-US" sz="800" dirty="0">
                <a:solidFill>
                  <a:srgbClr val="FFB3B3"/>
                </a:solidFill>
              </a:rPr>
              <a:t>Family / Comedy fan</a:t>
            </a:r>
            <a:endParaRPr lang="en-US" sz="800" dirty="0"/>
          </a:p>
        </p:txBody>
      </p:sp>
      <p:sp>
        <p:nvSpPr>
          <p:cNvPr id="49" name="Shape 47"/>
          <p:cNvSpPr/>
          <p:nvPr/>
        </p:nvSpPr>
        <p:spPr>
          <a:xfrm>
            <a:off x="1965960" y="3776472"/>
            <a:ext cx="2029968" cy="804672"/>
          </a:xfrm>
          <a:prstGeom prst="roundRect">
            <a:avLst>
              <a:gd name="adj" fmla="val 13636"/>
            </a:avLst>
          </a:prstGeom>
          <a:solidFill>
            <a:srgbClr val="1E1E1E"/>
          </a:solidFill>
          <a:ln w="12700">
            <a:solidFill>
              <a:srgbClr val="2A2A2A"/>
            </a:solidFill>
            <a:prstDash val="solid"/>
          </a:ln>
          <a:effectLst>
            <a:outerShdw sx="100000" sy="100000" kx="0" ky="0" algn="bl" rotWithShape="0" blurRad="127000" dist="38100" dir="2700000">
              <a:srgbClr val="000000">
                <a:alpha val="40000"/>
              </a:srgbClr>
            </a:outerShdw>
          </a:effectLst>
        </p:spPr>
      </p:sp>
      <p:sp>
        <p:nvSpPr>
          <p:cNvPr id="50" name="Text 48"/>
          <p:cNvSpPr/>
          <p:nvPr/>
        </p:nvSpPr>
        <p:spPr>
          <a:xfrm>
            <a:off x="2057400" y="3831336"/>
            <a:ext cx="1847088" cy="201168"/>
          </a:xfrm>
          <a:prstGeom prst="rect">
            <a:avLst/>
          </a:prstGeom>
          <a:noFill/>
          <a:ln/>
        </p:spPr>
        <p:txBody>
          <a:bodyPr wrap="square" lIns="0" tIns="0" rIns="0" bIns="0" rtlCol="0" anchor="ctr"/>
          <a:lstStyle/>
          <a:p>
            <a:pPr indent="0" marL="0">
              <a:buNone/>
            </a:pPr>
            <a:r>
              <a:rPr lang="en-US" sz="900" b="1" dirty="0">
                <a:solidFill>
                  <a:srgbClr val="E50914"/>
                </a:solidFill>
              </a:rPr>
              <a:t>User-Based CF</a:t>
            </a:r>
            <a:endParaRPr lang="en-US" sz="900" dirty="0"/>
          </a:p>
        </p:txBody>
      </p:sp>
      <p:sp>
        <p:nvSpPr>
          <p:cNvPr id="51" name="Text 49"/>
          <p:cNvSpPr/>
          <p:nvPr/>
        </p:nvSpPr>
        <p:spPr>
          <a:xfrm>
            <a:off x="2057400" y="4050792"/>
            <a:ext cx="1847088" cy="164592"/>
          </a:xfrm>
          <a:prstGeom prst="rect">
            <a:avLst/>
          </a:prstGeom>
          <a:noFill/>
          <a:ln/>
        </p:spPr>
        <p:txBody>
          <a:bodyPr wrap="square" lIns="0" tIns="0" rIns="0" bIns="0" rtlCol="0" anchor="ctr"/>
          <a:lstStyle/>
          <a:p>
            <a:pPr indent="0" marL="0">
              <a:buNone/>
            </a:pPr>
            <a:r>
              <a:rPr lang="en-US" sz="800" b="1" dirty="0">
                <a:solidFill>
                  <a:srgbClr val="666666"/>
                </a:solidFill>
              </a:rPr>
              <a:t>1. </a:t>
            </a:r>
            <a:pPr indent="0" marL="0">
              <a:buNone/>
            </a:pPr>
            <a:r>
              <a:rPr lang="en-US" sz="800" dirty="0">
                <a:solidFill>
                  <a:srgbClr val="FFFFFF"/>
                </a:solidFill>
              </a:rPr>
              <a:t>Lion King, The (1994)</a:t>
            </a:r>
            <a:endParaRPr lang="en-US" sz="800" dirty="0"/>
          </a:p>
        </p:txBody>
      </p:sp>
      <p:sp>
        <p:nvSpPr>
          <p:cNvPr id="52" name="Text 50"/>
          <p:cNvSpPr/>
          <p:nvPr/>
        </p:nvSpPr>
        <p:spPr>
          <a:xfrm>
            <a:off x="2057400" y="4224528"/>
            <a:ext cx="1847088" cy="164592"/>
          </a:xfrm>
          <a:prstGeom prst="rect">
            <a:avLst/>
          </a:prstGeom>
          <a:noFill/>
          <a:ln/>
        </p:spPr>
        <p:txBody>
          <a:bodyPr wrap="square" lIns="0" tIns="0" rIns="0" bIns="0" rtlCol="0" anchor="ctr"/>
          <a:lstStyle/>
          <a:p>
            <a:pPr indent="0" marL="0">
              <a:buNone/>
            </a:pPr>
            <a:r>
              <a:rPr lang="en-US" sz="800" b="1" dirty="0">
                <a:solidFill>
                  <a:srgbClr val="666666"/>
                </a:solidFill>
              </a:rPr>
              <a:t>2. </a:t>
            </a:r>
            <a:pPr indent="0" marL="0">
              <a:buNone/>
            </a:pPr>
            <a:r>
              <a:rPr lang="en-US" sz="800" dirty="0">
                <a:solidFill>
                  <a:srgbClr val="FFFFFF"/>
                </a:solidFill>
              </a:rPr>
              <a:t>Groundhog Day (1993)</a:t>
            </a:r>
            <a:endParaRPr lang="en-US" sz="800" dirty="0"/>
          </a:p>
        </p:txBody>
      </p:sp>
      <p:sp>
        <p:nvSpPr>
          <p:cNvPr id="53" name="Text 51"/>
          <p:cNvSpPr/>
          <p:nvPr/>
        </p:nvSpPr>
        <p:spPr>
          <a:xfrm>
            <a:off x="2057400" y="4398264"/>
            <a:ext cx="1847088" cy="164592"/>
          </a:xfrm>
          <a:prstGeom prst="rect">
            <a:avLst/>
          </a:prstGeom>
          <a:noFill/>
          <a:ln/>
        </p:spPr>
        <p:txBody>
          <a:bodyPr wrap="square" lIns="0" tIns="0" rIns="0" bIns="0" rtlCol="0" anchor="ctr"/>
          <a:lstStyle/>
          <a:p>
            <a:pPr indent="0" marL="0">
              <a:buNone/>
            </a:pPr>
            <a:r>
              <a:rPr lang="en-US" sz="800" b="1" dirty="0">
                <a:solidFill>
                  <a:srgbClr val="666666"/>
                </a:solidFill>
              </a:rPr>
              <a:t>3. </a:t>
            </a:r>
            <a:pPr indent="0" marL="0">
              <a:buNone/>
            </a:pPr>
            <a:r>
              <a:rPr lang="en-US" sz="800" dirty="0">
                <a:solidFill>
                  <a:srgbClr val="FFFFFF"/>
                </a:solidFill>
              </a:rPr>
              <a:t>American History X (1998)</a:t>
            </a:r>
            <a:endParaRPr lang="en-US" sz="800" dirty="0"/>
          </a:p>
        </p:txBody>
      </p:sp>
      <p:sp>
        <p:nvSpPr>
          <p:cNvPr id="54" name="Shape 52"/>
          <p:cNvSpPr/>
          <p:nvPr/>
        </p:nvSpPr>
        <p:spPr>
          <a:xfrm>
            <a:off x="4142232" y="3776472"/>
            <a:ext cx="2029968" cy="804672"/>
          </a:xfrm>
          <a:prstGeom prst="roundRect">
            <a:avLst>
              <a:gd name="adj" fmla="val 13636"/>
            </a:avLst>
          </a:prstGeom>
          <a:solidFill>
            <a:srgbClr val="1E1E1E"/>
          </a:solidFill>
          <a:ln w="12700">
            <a:solidFill>
              <a:srgbClr val="2A2A2A"/>
            </a:solidFill>
            <a:prstDash val="solid"/>
          </a:ln>
          <a:effectLst>
            <a:outerShdw sx="100000" sy="100000" kx="0" ky="0" algn="bl" rotWithShape="0" blurRad="127000" dist="38100" dir="2700000">
              <a:srgbClr val="000000">
                <a:alpha val="40000"/>
              </a:srgbClr>
            </a:outerShdw>
          </a:effectLst>
        </p:spPr>
      </p:sp>
      <p:sp>
        <p:nvSpPr>
          <p:cNvPr id="55" name="Text 53"/>
          <p:cNvSpPr/>
          <p:nvPr/>
        </p:nvSpPr>
        <p:spPr>
          <a:xfrm>
            <a:off x="4233672" y="3831336"/>
            <a:ext cx="1847088" cy="201168"/>
          </a:xfrm>
          <a:prstGeom prst="rect">
            <a:avLst/>
          </a:prstGeom>
          <a:noFill/>
          <a:ln/>
        </p:spPr>
        <p:txBody>
          <a:bodyPr wrap="square" lIns="0" tIns="0" rIns="0" bIns="0" rtlCol="0" anchor="ctr"/>
          <a:lstStyle/>
          <a:p>
            <a:pPr indent="0" marL="0">
              <a:buNone/>
            </a:pPr>
            <a:r>
              <a:rPr lang="en-US" sz="900" b="1" dirty="0">
                <a:solidFill>
                  <a:srgbClr val="E50914"/>
                </a:solidFill>
              </a:rPr>
              <a:t>Content-Based</a:t>
            </a:r>
            <a:endParaRPr lang="en-US" sz="900" dirty="0"/>
          </a:p>
        </p:txBody>
      </p:sp>
      <p:sp>
        <p:nvSpPr>
          <p:cNvPr id="56" name="Text 54"/>
          <p:cNvSpPr/>
          <p:nvPr/>
        </p:nvSpPr>
        <p:spPr>
          <a:xfrm>
            <a:off x="4233672" y="4050792"/>
            <a:ext cx="1847088" cy="164592"/>
          </a:xfrm>
          <a:prstGeom prst="rect">
            <a:avLst/>
          </a:prstGeom>
          <a:noFill/>
          <a:ln/>
        </p:spPr>
        <p:txBody>
          <a:bodyPr wrap="square" lIns="0" tIns="0" rIns="0" bIns="0" rtlCol="0" anchor="ctr"/>
          <a:lstStyle/>
          <a:p>
            <a:pPr indent="0" marL="0">
              <a:buNone/>
            </a:pPr>
            <a:r>
              <a:rPr lang="en-US" sz="800" b="1" dirty="0">
                <a:solidFill>
                  <a:srgbClr val="666666"/>
                </a:solidFill>
              </a:rPr>
              <a:t>1. </a:t>
            </a:r>
            <a:pPr indent="0" marL="0">
              <a:buNone/>
            </a:pPr>
            <a:r>
              <a:rPr lang="en-US" sz="800" dirty="0">
                <a:solidFill>
                  <a:srgbClr val="FFFFFF"/>
                </a:solidFill>
              </a:rPr>
              <a:t>Toy Story 2 (1999)</a:t>
            </a:r>
            <a:endParaRPr lang="en-US" sz="800" dirty="0"/>
          </a:p>
        </p:txBody>
      </p:sp>
      <p:sp>
        <p:nvSpPr>
          <p:cNvPr id="57" name="Text 55"/>
          <p:cNvSpPr/>
          <p:nvPr/>
        </p:nvSpPr>
        <p:spPr>
          <a:xfrm>
            <a:off x="4233672" y="4224528"/>
            <a:ext cx="1847088" cy="164592"/>
          </a:xfrm>
          <a:prstGeom prst="rect">
            <a:avLst/>
          </a:prstGeom>
          <a:noFill/>
          <a:ln/>
        </p:spPr>
        <p:txBody>
          <a:bodyPr wrap="square" lIns="0" tIns="0" rIns="0" bIns="0" rtlCol="0" anchor="ctr"/>
          <a:lstStyle/>
          <a:p>
            <a:pPr indent="0" marL="0">
              <a:buNone/>
            </a:pPr>
            <a:r>
              <a:rPr lang="en-US" sz="800" b="1" dirty="0">
                <a:solidFill>
                  <a:srgbClr val="666666"/>
                </a:solidFill>
              </a:rPr>
              <a:t>2. </a:t>
            </a:r>
            <a:pPr indent="0" marL="0">
              <a:buNone/>
            </a:pPr>
            <a:r>
              <a:rPr lang="en-US" sz="800" dirty="0">
                <a:solidFill>
                  <a:srgbClr val="FFFFFF"/>
                </a:solidFill>
              </a:rPr>
              <a:t>A Bug's Life (1998)</a:t>
            </a:r>
            <a:endParaRPr lang="en-US" sz="800" dirty="0"/>
          </a:p>
        </p:txBody>
      </p:sp>
      <p:sp>
        <p:nvSpPr>
          <p:cNvPr id="58" name="Text 56"/>
          <p:cNvSpPr/>
          <p:nvPr/>
        </p:nvSpPr>
        <p:spPr>
          <a:xfrm>
            <a:off x="4233672" y="4398264"/>
            <a:ext cx="1847088" cy="164592"/>
          </a:xfrm>
          <a:prstGeom prst="rect">
            <a:avLst/>
          </a:prstGeom>
          <a:noFill/>
          <a:ln/>
        </p:spPr>
        <p:txBody>
          <a:bodyPr wrap="square" lIns="0" tIns="0" rIns="0" bIns="0" rtlCol="0" anchor="ctr"/>
          <a:lstStyle/>
          <a:p>
            <a:pPr indent="0" marL="0">
              <a:buNone/>
            </a:pPr>
            <a:r>
              <a:rPr lang="en-US" sz="800" b="1" dirty="0">
                <a:solidFill>
                  <a:srgbClr val="666666"/>
                </a:solidFill>
              </a:rPr>
              <a:t>3. </a:t>
            </a:r>
            <a:pPr indent="0" marL="0">
              <a:buNone/>
            </a:pPr>
            <a:r>
              <a:rPr lang="en-US" sz="800" dirty="0">
                <a:solidFill>
                  <a:srgbClr val="FFFFFF"/>
                </a:solidFill>
              </a:rPr>
              <a:t>Monsters, Inc. (2001)</a:t>
            </a:r>
            <a:endParaRPr lang="en-US" sz="800" dirty="0"/>
          </a:p>
        </p:txBody>
      </p:sp>
      <p:sp>
        <p:nvSpPr>
          <p:cNvPr id="59" name="Shape 57"/>
          <p:cNvSpPr/>
          <p:nvPr/>
        </p:nvSpPr>
        <p:spPr>
          <a:xfrm>
            <a:off x="6318504" y="3776472"/>
            <a:ext cx="2029968" cy="804672"/>
          </a:xfrm>
          <a:prstGeom prst="roundRect">
            <a:avLst>
              <a:gd name="adj" fmla="val 13636"/>
            </a:avLst>
          </a:prstGeom>
          <a:solidFill>
            <a:srgbClr val="1E1E1E"/>
          </a:solidFill>
          <a:ln w="12700">
            <a:solidFill>
              <a:srgbClr val="2A2A2A"/>
            </a:solidFill>
            <a:prstDash val="solid"/>
          </a:ln>
          <a:effectLst>
            <a:outerShdw sx="100000" sy="100000" kx="0" ky="0" algn="bl" rotWithShape="0" blurRad="127000" dist="38100" dir="2700000">
              <a:srgbClr val="000000">
                <a:alpha val="40000"/>
              </a:srgbClr>
            </a:outerShdw>
          </a:effectLst>
        </p:spPr>
      </p:sp>
      <p:sp>
        <p:nvSpPr>
          <p:cNvPr id="60" name="Text 58"/>
          <p:cNvSpPr/>
          <p:nvPr/>
        </p:nvSpPr>
        <p:spPr>
          <a:xfrm>
            <a:off x="6409944" y="3831336"/>
            <a:ext cx="1847088" cy="201168"/>
          </a:xfrm>
          <a:prstGeom prst="rect">
            <a:avLst/>
          </a:prstGeom>
          <a:noFill/>
          <a:ln/>
        </p:spPr>
        <p:txBody>
          <a:bodyPr wrap="square" lIns="0" tIns="0" rIns="0" bIns="0" rtlCol="0" anchor="ctr"/>
          <a:lstStyle/>
          <a:p>
            <a:pPr indent="0" marL="0">
              <a:buNone/>
            </a:pPr>
            <a:r>
              <a:rPr lang="en-US" sz="900" b="1" dirty="0">
                <a:solidFill>
                  <a:srgbClr val="E50914"/>
                </a:solidFill>
              </a:rPr>
              <a:t>Matrix Factor.</a:t>
            </a:r>
            <a:endParaRPr lang="en-US" sz="900" dirty="0"/>
          </a:p>
        </p:txBody>
      </p:sp>
      <p:sp>
        <p:nvSpPr>
          <p:cNvPr id="61" name="Text 59"/>
          <p:cNvSpPr/>
          <p:nvPr/>
        </p:nvSpPr>
        <p:spPr>
          <a:xfrm>
            <a:off x="6409944" y="4050792"/>
            <a:ext cx="1847088" cy="164592"/>
          </a:xfrm>
          <a:prstGeom prst="rect">
            <a:avLst/>
          </a:prstGeom>
          <a:noFill/>
          <a:ln/>
        </p:spPr>
        <p:txBody>
          <a:bodyPr wrap="square" lIns="0" tIns="0" rIns="0" bIns="0" rtlCol="0" anchor="ctr"/>
          <a:lstStyle/>
          <a:p>
            <a:pPr indent="0" marL="0">
              <a:buNone/>
            </a:pPr>
            <a:r>
              <a:rPr lang="en-US" sz="800" b="1" dirty="0">
                <a:solidFill>
                  <a:srgbClr val="666666"/>
                </a:solidFill>
              </a:rPr>
              <a:t>1. </a:t>
            </a:r>
            <a:pPr indent="0" marL="0">
              <a:buNone/>
            </a:pPr>
            <a:r>
              <a:rPr lang="en-US" sz="800" dirty="0">
                <a:solidFill>
                  <a:srgbClr val="FFFFFF"/>
                </a:solidFill>
              </a:rPr>
              <a:t>Shrek (2001)</a:t>
            </a:r>
            <a:endParaRPr lang="en-US" sz="800" dirty="0"/>
          </a:p>
        </p:txBody>
      </p:sp>
      <p:sp>
        <p:nvSpPr>
          <p:cNvPr id="62" name="Text 60"/>
          <p:cNvSpPr/>
          <p:nvPr/>
        </p:nvSpPr>
        <p:spPr>
          <a:xfrm>
            <a:off x="6409944" y="4224528"/>
            <a:ext cx="1847088" cy="164592"/>
          </a:xfrm>
          <a:prstGeom prst="rect">
            <a:avLst/>
          </a:prstGeom>
          <a:noFill/>
          <a:ln/>
        </p:spPr>
        <p:txBody>
          <a:bodyPr wrap="square" lIns="0" tIns="0" rIns="0" bIns="0" rtlCol="0" anchor="ctr"/>
          <a:lstStyle/>
          <a:p>
            <a:pPr indent="0" marL="0">
              <a:buNone/>
            </a:pPr>
            <a:r>
              <a:rPr lang="en-US" sz="800" b="1" dirty="0">
                <a:solidFill>
                  <a:srgbClr val="666666"/>
                </a:solidFill>
              </a:rPr>
              <a:t>2. </a:t>
            </a:r>
            <a:pPr indent="0" marL="0">
              <a:buNone/>
            </a:pPr>
            <a:r>
              <a:rPr lang="en-US" sz="800" dirty="0">
                <a:solidFill>
                  <a:srgbClr val="FFFFFF"/>
                </a:solidFill>
              </a:rPr>
              <a:t>Home Alone (1990)</a:t>
            </a:r>
            <a:endParaRPr lang="en-US" sz="800" dirty="0"/>
          </a:p>
        </p:txBody>
      </p:sp>
      <p:sp>
        <p:nvSpPr>
          <p:cNvPr id="63" name="Text 61"/>
          <p:cNvSpPr/>
          <p:nvPr/>
        </p:nvSpPr>
        <p:spPr>
          <a:xfrm>
            <a:off x="6409944" y="4398264"/>
            <a:ext cx="1847088" cy="164592"/>
          </a:xfrm>
          <a:prstGeom prst="rect">
            <a:avLst/>
          </a:prstGeom>
          <a:noFill/>
          <a:ln/>
        </p:spPr>
        <p:txBody>
          <a:bodyPr wrap="square" lIns="0" tIns="0" rIns="0" bIns="0" rtlCol="0" anchor="ctr"/>
          <a:lstStyle/>
          <a:p>
            <a:pPr indent="0" marL="0">
              <a:buNone/>
            </a:pPr>
            <a:r>
              <a:rPr lang="en-US" sz="800" b="1" dirty="0">
                <a:solidFill>
                  <a:srgbClr val="666666"/>
                </a:solidFill>
              </a:rPr>
              <a:t>3. </a:t>
            </a:r>
            <a:pPr indent="0" marL="0">
              <a:buNone/>
            </a:pPr>
            <a:r>
              <a:rPr lang="en-US" sz="800" dirty="0">
                <a:solidFill>
                  <a:srgbClr val="FFFFFF"/>
                </a:solidFill>
              </a:rPr>
              <a:t>Mrs. Doubtfire (1993)</a:t>
            </a:r>
            <a:endParaRPr lang="en-US" sz="800" dirty="0"/>
          </a:p>
        </p:txBody>
      </p:sp>
      <p:sp>
        <p:nvSpPr>
          <p:cNvPr id="64" name="Text 62"/>
          <p:cNvSpPr/>
          <p:nvPr/>
        </p:nvSpPr>
        <p:spPr>
          <a:xfrm>
            <a:off x="8321040" y="3849624"/>
            <a:ext cx="685800" cy="914400"/>
          </a:xfrm>
          <a:prstGeom prst="rect">
            <a:avLst/>
          </a:prstGeom>
          <a:noFill/>
          <a:ln/>
        </p:spPr>
        <p:txBody>
          <a:bodyPr wrap="square" lIns="0" tIns="0" rIns="0" bIns="0" rtlCol="0" anchor="ctr"/>
          <a:lstStyle/>
          <a:p>
            <a:pPr indent="0" marL="0">
              <a:buNone/>
            </a:pPr>
            <a:r>
              <a:rPr lang="en-US" sz="700" dirty="0">
                <a:solidFill>
                  <a:srgbClr val="B3B3B3"/>
                </a:solidFill>
              </a:rPr>
              <a:t>CBF stays tightly in animation/family. CF and MF pull in broader picks (history, comedy). Illustrates the accuracy vs. novelty trade-off across methods.</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50914"/>
          </a:solidFill>
          <a:ln w="12700">
            <a:solidFill>
              <a:srgbClr val="E50914"/>
            </a:solidFill>
            <a:prstDash val="solid"/>
          </a:ln>
        </p:spPr>
      </p:sp>
      <p:sp>
        <p:nvSpPr>
          <p:cNvPr id="3" name="Shape 1"/>
          <p:cNvSpPr/>
          <p:nvPr/>
        </p:nvSpPr>
        <p:spPr>
          <a:xfrm>
            <a:off x="0" y="5088636"/>
            <a:ext cx="9144000" cy="54864"/>
          </a:xfrm>
          <a:prstGeom prst="rect">
            <a:avLst/>
          </a:prstGeom>
          <a:solidFill>
            <a:srgbClr val="E50914"/>
          </a:solidFill>
          <a:ln w="12700">
            <a:solidFill>
              <a:srgbClr val="E50914"/>
            </a:solidFill>
            <a:prstDash val="solid"/>
          </a:ln>
        </p:spPr>
      </p:sp>
      <p:sp>
        <p:nvSpPr>
          <p:cNvPr id="4" name="Shape 2"/>
          <p:cNvSpPr/>
          <p:nvPr/>
        </p:nvSpPr>
        <p:spPr>
          <a:xfrm>
            <a:off x="457200" y="164592"/>
            <a:ext cx="1463040" cy="256032"/>
          </a:xfrm>
          <a:prstGeom prst="roundRect">
            <a:avLst>
              <a:gd name="adj" fmla="val 50000"/>
            </a:avLst>
          </a:prstGeom>
          <a:solidFill>
            <a:srgbClr val="E50914"/>
          </a:solidFill>
          <a:ln w="12700">
            <a:solidFill>
              <a:srgbClr val="E50914"/>
            </a:solidFill>
            <a:prstDash val="solid"/>
          </a:ln>
        </p:spPr>
      </p:sp>
      <p:sp>
        <p:nvSpPr>
          <p:cNvPr id="5" name="Text 3"/>
          <p:cNvSpPr/>
          <p:nvPr/>
        </p:nvSpPr>
        <p:spPr>
          <a:xfrm>
            <a:off x="457200" y="164592"/>
            <a:ext cx="1463040" cy="256032"/>
          </a:xfrm>
          <a:prstGeom prst="rect">
            <a:avLst/>
          </a:prstGeom>
          <a:noFill/>
          <a:ln/>
        </p:spPr>
        <p:txBody>
          <a:bodyPr wrap="square" lIns="0" tIns="0" rIns="0" bIns="0" rtlCol="0" anchor="ctr"/>
          <a:lstStyle/>
          <a:p>
            <a:pPr algn="ctr" indent="0" marL="0">
              <a:buNone/>
            </a:pPr>
            <a:r>
              <a:rPr lang="en-US" sz="700" b="1" dirty="0">
                <a:solidFill>
                  <a:srgbClr val="FFFFFF"/>
                </a:solidFill>
              </a:rPr>
              <a:t>LIMITATIONS</a:t>
            </a:r>
            <a:endParaRPr lang="en-US" sz="700" dirty="0"/>
          </a:p>
        </p:txBody>
      </p:sp>
      <p:sp>
        <p:nvSpPr>
          <p:cNvPr id="6" name="Text 4"/>
          <p:cNvSpPr/>
          <p:nvPr/>
        </p:nvSpPr>
        <p:spPr>
          <a:xfrm>
            <a:off x="457200" y="475488"/>
            <a:ext cx="8229600" cy="50292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Discussion of Limitations</a:t>
            </a:r>
            <a:endParaRPr lang="en-US" sz="3000" dirty="0"/>
          </a:p>
        </p:txBody>
      </p:sp>
      <p:sp>
        <p:nvSpPr>
          <p:cNvPr id="7" name="Shape 5"/>
          <p:cNvSpPr/>
          <p:nvPr/>
        </p:nvSpPr>
        <p:spPr>
          <a:xfrm>
            <a:off x="457200" y="1143000"/>
            <a:ext cx="4023360" cy="1133856"/>
          </a:xfrm>
          <a:prstGeom prst="roundRect">
            <a:avLst>
              <a:gd name="adj" fmla="val 9677"/>
            </a:avLst>
          </a:prstGeom>
          <a:solidFill>
            <a:srgbClr val="1E1E1E"/>
          </a:solidFill>
          <a:ln w="12700">
            <a:solidFill>
              <a:srgbClr val="2A2A2A"/>
            </a:solidFill>
            <a:prstDash val="solid"/>
          </a:ln>
          <a:effectLst>
            <a:outerShdw sx="100000" sy="100000" kx="0" ky="0" algn="bl" rotWithShape="0" blurRad="127000" dist="38100" dir="2700000">
              <a:srgbClr val="000000">
                <a:alpha val="40000"/>
              </a:srgbClr>
            </a:outerShdw>
          </a:effectLst>
        </p:spPr>
      </p:sp>
      <p:sp>
        <p:nvSpPr>
          <p:cNvPr id="8" name="Text 6"/>
          <p:cNvSpPr/>
          <p:nvPr/>
        </p:nvSpPr>
        <p:spPr>
          <a:xfrm>
            <a:off x="585216" y="1234440"/>
            <a:ext cx="3749040" cy="274320"/>
          </a:xfrm>
          <a:prstGeom prst="rect">
            <a:avLst/>
          </a:prstGeom>
          <a:noFill/>
          <a:ln/>
        </p:spPr>
        <p:txBody>
          <a:bodyPr wrap="square" lIns="0" tIns="0" rIns="0" bIns="0" rtlCol="0" anchor="ctr"/>
          <a:lstStyle/>
          <a:p>
            <a:pPr indent="0" marL="0">
              <a:buNone/>
            </a:pPr>
            <a:r>
              <a:rPr lang="en-US" sz="1200" b="1" dirty="0">
                <a:solidFill>
                  <a:srgbClr val="E50914"/>
                </a:solidFill>
              </a:rPr>
              <a:t>Cold Start</a:t>
            </a:r>
            <a:endParaRPr lang="en-US" sz="1200" dirty="0"/>
          </a:p>
        </p:txBody>
      </p:sp>
      <p:sp>
        <p:nvSpPr>
          <p:cNvPr id="9" name="Text 7"/>
          <p:cNvSpPr/>
          <p:nvPr/>
        </p:nvSpPr>
        <p:spPr>
          <a:xfrm>
            <a:off x="585216" y="1545336"/>
            <a:ext cx="3749040" cy="658368"/>
          </a:xfrm>
          <a:prstGeom prst="rect">
            <a:avLst/>
          </a:prstGeom>
          <a:noFill/>
          <a:ln/>
        </p:spPr>
        <p:txBody>
          <a:bodyPr wrap="square" lIns="0" tIns="0" rIns="0" bIns="0" rtlCol="0" anchor="ctr"/>
          <a:lstStyle/>
          <a:p>
            <a:pPr indent="0" marL="0">
              <a:buNone/>
            </a:pPr>
            <a:r>
              <a:rPr lang="en-US" sz="1000" dirty="0">
                <a:solidFill>
                  <a:srgbClr val="FFFFFF"/>
                </a:solidFill>
              </a:rPr>
              <a:t>New users or items with no ratings get no personalised recs. CF and MF both fail; CBF can partly cover new items via metadata.</a:t>
            </a:r>
            <a:endParaRPr lang="en-US" sz="1000" dirty="0"/>
          </a:p>
        </p:txBody>
      </p:sp>
      <p:sp>
        <p:nvSpPr>
          <p:cNvPr id="10" name="Shape 8"/>
          <p:cNvSpPr/>
          <p:nvPr/>
        </p:nvSpPr>
        <p:spPr>
          <a:xfrm>
            <a:off x="4800600" y="1143000"/>
            <a:ext cx="4023360" cy="1133856"/>
          </a:xfrm>
          <a:prstGeom prst="roundRect">
            <a:avLst>
              <a:gd name="adj" fmla="val 9677"/>
            </a:avLst>
          </a:prstGeom>
          <a:solidFill>
            <a:srgbClr val="1E1E1E"/>
          </a:solidFill>
          <a:ln w="12700">
            <a:solidFill>
              <a:srgbClr val="2A2A2A"/>
            </a:solidFill>
            <a:prstDash val="solid"/>
          </a:ln>
          <a:effectLst>
            <a:outerShdw sx="100000" sy="100000" kx="0" ky="0" algn="bl" rotWithShape="0" blurRad="127000" dist="38100" dir="2700000">
              <a:srgbClr val="000000">
                <a:alpha val="40000"/>
              </a:srgbClr>
            </a:outerShdw>
          </a:effectLst>
        </p:spPr>
      </p:sp>
      <p:sp>
        <p:nvSpPr>
          <p:cNvPr id="11" name="Text 9"/>
          <p:cNvSpPr/>
          <p:nvPr/>
        </p:nvSpPr>
        <p:spPr>
          <a:xfrm>
            <a:off x="4928616" y="1234440"/>
            <a:ext cx="3749040" cy="274320"/>
          </a:xfrm>
          <a:prstGeom prst="rect">
            <a:avLst/>
          </a:prstGeom>
          <a:noFill/>
          <a:ln/>
        </p:spPr>
        <p:txBody>
          <a:bodyPr wrap="square" lIns="0" tIns="0" rIns="0" bIns="0" rtlCol="0" anchor="ctr"/>
          <a:lstStyle/>
          <a:p>
            <a:pPr indent="0" marL="0">
              <a:buNone/>
            </a:pPr>
            <a:r>
              <a:rPr lang="en-US" sz="1200" b="1" dirty="0">
                <a:solidFill>
                  <a:srgbClr val="E50914"/>
                </a:solidFill>
              </a:rPr>
              <a:t>Popularity Bias</a:t>
            </a:r>
            <a:endParaRPr lang="en-US" sz="1200" dirty="0"/>
          </a:p>
        </p:txBody>
      </p:sp>
      <p:sp>
        <p:nvSpPr>
          <p:cNvPr id="12" name="Text 10"/>
          <p:cNvSpPr/>
          <p:nvPr/>
        </p:nvSpPr>
        <p:spPr>
          <a:xfrm>
            <a:off x="4928616" y="1545336"/>
            <a:ext cx="3749040" cy="658368"/>
          </a:xfrm>
          <a:prstGeom prst="rect">
            <a:avLst/>
          </a:prstGeom>
          <a:noFill/>
          <a:ln/>
        </p:spPr>
        <p:txBody>
          <a:bodyPr wrap="square" lIns="0" tIns="0" rIns="0" bIns="0" rtlCol="0" anchor="ctr"/>
          <a:lstStyle/>
          <a:p>
            <a:pPr indent="0" marL="0">
              <a:buNone/>
            </a:pPr>
            <a:r>
              <a:rPr lang="en-US" sz="1000" dirty="0">
                <a:solidFill>
                  <a:srgbClr val="FFFFFF"/>
                </a:solidFill>
              </a:rPr>
              <a:t>CF and MF push already-popular films. Long-tail items rarely appear even if a user would like them.</a:t>
            </a:r>
            <a:endParaRPr lang="en-US" sz="1000" dirty="0"/>
          </a:p>
        </p:txBody>
      </p:sp>
      <p:sp>
        <p:nvSpPr>
          <p:cNvPr id="13" name="Shape 11"/>
          <p:cNvSpPr/>
          <p:nvPr/>
        </p:nvSpPr>
        <p:spPr>
          <a:xfrm>
            <a:off x="457200" y="2441448"/>
            <a:ext cx="4023360" cy="1133856"/>
          </a:xfrm>
          <a:prstGeom prst="roundRect">
            <a:avLst>
              <a:gd name="adj" fmla="val 9677"/>
            </a:avLst>
          </a:prstGeom>
          <a:solidFill>
            <a:srgbClr val="1E1E1E"/>
          </a:solidFill>
          <a:ln w="12700">
            <a:solidFill>
              <a:srgbClr val="2A2A2A"/>
            </a:solidFill>
            <a:prstDash val="solid"/>
          </a:ln>
          <a:effectLst>
            <a:outerShdw sx="100000" sy="100000" kx="0" ky="0" algn="bl" rotWithShape="0" blurRad="127000" dist="38100" dir="2700000">
              <a:srgbClr val="000000">
                <a:alpha val="40000"/>
              </a:srgbClr>
            </a:outerShdw>
          </a:effectLst>
        </p:spPr>
      </p:sp>
      <p:sp>
        <p:nvSpPr>
          <p:cNvPr id="14" name="Text 12"/>
          <p:cNvSpPr/>
          <p:nvPr/>
        </p:nvSpPr>
        <p:spPr>
          <a:xfrm>
            <a:off x="585216" y="2532888"/>
            <a:ext cx="3749040" cy="274320"/>
          </a:xfrm>
          <a:prstGeom prst="rect">
            <a:avLst/>
          </a:prstGeom>
          <a:noFill/>
          <a:ln/>
        </p:spPr>
        <p:txBody>
          <a:bodyPr wrap="square" lIns="0" tIns="0" rIns="0" bIns="0" rtlCol="0" anchor="ctr"/>
          <a:lstStyle/>
          <a:p>
            <a:pPr indent="0" marL="0">
              <a:buNone/>
            </a:pPr>
            <a:r>
              <a:rPr lang="en-US" sz="1200" b="1" dirty="0">
                <a:solidFill>
                  <a:srgbClr val="E50914"/>
                </a:solidFill>
              </a:rPr>
              <a:t>Sparsity (98.3%)</a:t>
            </a:r>
            <a:endParaRPr lang="en-US" sz="1200" dirty="0"/>
          </a:p>
        </p:txBody>
      </p:sp>
      <p:sp>
        <p:nvSpPr>
          <p:cNvPr id="15" name="Text 13"/>
          <p:cNvSpPr/>
          <p:nvPr/>
        </p:nvSpPr>
        <p:spPr>
          <a:xfrm>
            <a:off x="585216" y="2843784"/>
            <a:ext cx="3749040" cy="658368"/>
          </a:xfrm>
          <a:prstGeom prst="rect">
            <a:avLst/>
          </a:prstGeom>
          <a:noFill/>
          <a:ln/>
        </p:spPr>
        <p:txBody>
          <a:bodyPr wrap="square" lIns="0" tIns="0" rIns="0" bIns="0" rtlCol="0" anchor="ctr"/>
          <a:lstStyle/>
          <a:p>
            <a:pPr indent="0" marL="0">
              <a:buNone/>
            </a:pPr>
            <a:r>
              <a:rPr lang="en-US" sz="1000" dirty="0">
                <a:solidFill>
                  <a:srgbClr val="FFFFFF"/>
                </a:solidFill>
              </a:rPr>
              <a:t>Most user-item pairs are unrated. Cosine sim on sparse vectors is noisy; Pearson helps by centering, but does not fully solve it.</a:t>
            </a:r>
            <a:endParaRPr lang="en-US" sz="1000" dirty="0"/>
          </a:p>
        </p:txBody>
      </p:sp>
      <p:sp>
        <p:nvSpPr>
          <p:cNvPr id="16" name="Shape 14"/>
          <p:cNvSpPr/>
          <p:nvPr/>
        </p:nvSpPr>
        <p:spPr>
          <a:xfrm>
            <a:off x="4800600" y="2441448"/>
            <a:ext cx="4023360" cy="1133856"/>
          </a:xfrm>
          <a:prstGeom prst="roundRect">
            <a:avLst>
              <a:gd name="adj" fmla="val 9677"/>
            </a:avLst>
          </a:prstGeom>
          <a:solidFill>
            <a:srgbClr val="1E1E1E"/>
          </a:solidFill>
          <a:ln w="12700">
            <a:solidFill>
              <a:srgbClr val="2A2A2A"/>
            </a:solidFill>
            <a:prstDash val="solid"/>
          </a:ln>
          <a:effectLst>
            <a:outerShdw sx="100000" sy="100000" kx="0" ky="0" algn="bl" rotWithShape="0" blurRad="127000" dist="38100" dir="2700000">
              <a:srgbClr val="000000">
                <a:alpha val="40000"/>
              </a:srgbClr>
            </a:outerShdw>
          </a:effectLst>
        </p:spPr>
      </p:sp>
      <p:sp>
        <p:nvSpPr>
          <p:cNvPr id="17" name="Text 15"/>
          <p:cNvSpPr/>
          <p:nvPr/>
        </p:nvSpPr>
        <p:spPr>
          <a:xfrm>
            <a:off x="4928616" y="2532888"/>
            <a:ext cx="3749040" cy="274320"/>
          </a:xfrm>
          <a:prstGeom prst="rect">
            <a:avLst/>
          </a:prstGeom>
          <a:noFill/>
          <a:ln/>
        </p:spPr>
        <p:txBody>
          <a:bodyPr wrap="square" lIns="0" tIns="0" rIns="0" bIns="0" rtlCol="0" anchor="ctr"/>
          <a:lstStyle/>
          <a:p>
            <a:pPr indent="0" marL="0">
              <a:buNone/>
            </a:pPr>
            <a:r>
              <a:rPr lang="en-US" sz="1200" b="1" dirty="0">
                <a:solidFill>
                  <a:srgbClr val="E50914"/>
                </a:solidFill>
              </a:rPr>
              <a:t>Latent Factor Opacity</a:t>
            </a:r>
            <a:endParaRPr lang="en-US" sz="1200" dirty="0"/>
          </a:p>
        </p:txBody>
      </p:sp>
      <p:sp>
        <p:nvSpPr>
          <p:cNvPr id="18" name="Text 16"/>
          <p:cNvSpPr/>
          <p:nvPr/>
        </p:nvSpPr>
        <p:spPr>
          <a:xfrm>
            <a:off x="4928616" y="2843784"/>
            <a:ext cx="3749040" cy="658368"/>
          </a:xfrm>
          <a:prstGeom prst="rect">
            <a:avLst/>
          </a:prstGeom>
          <a:noFill/>
          <a:ln/>
        </p:spPr>
        <p:txBody>
          <a:bodyPr wrap="square" lIns="0" tIns="0" rIns="0" bIns="0" rtlCol="0" anchor="ctr"/>
          <a:lstStyle/>
          <a:p>
            <a:pPr indent="0" marL="0">
              <a:buNone/>
            </a:pPr>
            <a:r>
              <a:rPr lang="en-US" sz="1000" dirty="0">
                <a:solidFill>
                  <a:srgbClr val="FFFFFF"/>
                </a:solidFill>
              </a:rPr>
              <a:t>SVD factors have no readable meaning. We cannot explain to a user why a film was recommended.</a:t>
            </a:r>
            <a:endParaRPr lang="en-US" sz="1000" dirty="0"/>
          </a:p>
        </p:txBody>
      </p:sp>
      <p:sp>
        <p:nvSpPr>
          <p:cNvPr id="19" name="Shape 17"/>
          <p:cNvSpPr/>
          <p:nvPr/>
        </p:nvSpPr>
        <p:spPr>
          <a:xfrm>
            <a:off x="457200" y="3739896"/>
            <a:ext cx="4023360" cy="1133856"/>
          </a:xfrm>
          <a:prstGeom prst="roundRect">
            <a:avLst>
              <a:gd name="adj" fmla="val 9677"/>
            </a:avLst>
          </a:prstGeom>
          <a:solidFill>
            <a:srgbClr val="1E1E1E"/>
          </a:solidFill>
          <a:ln w="12700">
            <a:solidFill>
              <a:srgbClr val="2A2A2A"/>
            </a:solidFill>
            <a:prstDash val="solid"/>
          </a:ln>
          <a:effectLst>
            <a:outerShdw sx="100000" sy="100000" kx="0" ky="0" algn="bl" rotWithShape="0" blurRad="127000" dist="38100" dir="2700000">
              <a:srgbClr val="000000">
                <a:alpha val="40000"/>
              </a:srgbClr>
            </a:outerShdw>
          </a:effectLst>
        </p:spPr>
      </p:sp>
      <p:sp>
        <p:nvSpPr>
          <p:cNvPr id="20" name="Text 18"/>
          <p:cNvSpPr/>
          <p:nvPr/>
        </p:nvSpPr>
        <p:spPr>
          <a:xfrm>
            <a:off x="585216" y="3831336"/>
            <a:ext cx="3749040" cy="274320"/>
          </a:xfrm>
          <a:prstGeom prst="rect">
            <a:avLst/>
          </a:prstGeom>
          <a:noFill/>
          <a:ln/>
        </p:spPr>
        <p:txBody>
          <a:bodyPr wrap="square" lIns="0" tIns="0" rIns="0" bIns="0" rtlCol="0" anchor="ctr"/>
          <a:lstStyle/>
          <a:p>
            <a:pPr indent="0" marL="0">
              <a:buNone/>
            </a:pPr>
            <a:r>
              <a:rPr lang="en-US" sz="1200" b="1" dirty="0">
                <a:solidFill>
                  <a:srgbClr val="E50914"/>
                </a:solidFill>
              </a:rPr>
              <a:t>TF-IDF cap at 500</a:t>
            </a:r>
            <a:endParaRPr lang="en-US" sz="1200" dirty="0"/>
          </a:p>
        </p:txBody>
      </p:sp>
      <p:sp>
        <p:nvSpPr>
          <p:cNvPr id="21" name="Text 19"/>
          <p:cNvSpPr/>
          <p:nvPr/>
        </p:nvSpPr>
        <p:spPr>
          <a:xfrm>
            <a:off x="585216" y="4142232"/>
            <a:ext cx="3749040" cy="658368"/>
          </a:xfrm>
          <a:prstGeom prst="rect">
            <a:avLst/>
          </a:prstGeom>
          <a:noFill/>
          <a:ln/>
        </p:spPr>
        <p:txBody>
          <a:bodyPr wrap="square" lIns="0" tIns="0" rIns="0" bIns="0" rtlCol="0" anchor="ctr"/>
          <a:lstStyle/>
          <a:p>
            <a:pPr indent="0" marL="0">
              <a:buNone/>
            </a:pPr>
            <a:r>
              <a:rPr lang="en-US" sz="1000" dirty="0">
                <a:solidFill>
                  <a:srgbClr val="FFFFFF"/>
                </a:solidFill>
              </a:rPr>
              <a:t>Rare or very specific tags get dropped. A richer vocabulary would improve CBF for niche genres.</a:t>
            </a:r>
            <a:endParaRPr lang="en-US" sz="1000" dirty="0"/>
          </a:p>
        </p:txBody>
      </p:sp>
      <p:sp>
        <p:nvSpPr>
          <p:cNvPr id="22" name="Shape 20"/>
          <p:cNvSpPr/>
          <p:nvPr/>
        </p:nvSpPr>
        <p:spPr>
          <a:xfrm>
            <a:off x="4800600" y="3739896"/>
            <a:ext cx="4023360" cy="1133856"/>
          </a:xfrm>
          <a:prstGeom prst="roundRect">
            <a:avLst>
              <a:gd name="adj" fmla="val 9677"/>
            </a:avLst>
          </a:prstGeom>
          <a:solidFill>
            <a:srgbClr val="1E1E1E"/>
          </a:solidFill>
          <a:ln w="12700">
            <a:solidFill>
              <a:srgbClr val="2A2A2A"/>
            </a:solidFill>
            <a:prstDash val="solid"/>
          </a:ln>
          <a:effectLst>
            <a:outerShdw sx="100000" sy="100000" kx="0" ky="0" algn="bl" rotWithShape="0" blurRad="127000" dist="38100" dir="2700000">
              <a:srgbClr val="000000">
                <a:alpha val="40000"/>
              </a:srgbClr>
            </a:outerShdw>
          </a:effectLst>
        </p:spPr>
      </p:sp>
      <p:sp>
        <p:nvSpPr>
          <p:cNvPr id="23" name="Text 21"/>
          <p:cNvSpPr/>
          <p:nvPr/>
        </p:nvSpPr>
        <p:spPr>
          <a:xfrm>
            <a:off x="4928616" y="3831336"/>
            <a:ext cx="3749040" cy="274320"/>
          </a:xfrm>
          <a:prstGeom prst="rect">
            <a:avLst/>
          </a:prstGeom>
          <a:noFill/>
          <a:ln/>
        </p:spPr>
        <p:txBody>
          <a:bodyPr wrap="square" lIns="0" tIns="0" rIns="0" bIns="0" rtlCol="0" anchor="ctr"/>
          <a:lstStyle/>
          <a:p>
            <a:pPr indent="0" marL="0">
              <a:buNone/>
            </a:pPr>
            <a:r>
              <a:rPr lang="en-US" sz="1200" b="1" dirty="0">
                <a:solidFill>
                  <a:srgbClr val="E50914"/>
                </a:solidFill>
              </a:rPr>
              <a:t>Offline Eval Gap</a:t>
            </a:r>
            <a:endParaRPr lang="en-US" sz="1200" dirty="0"/>
          </a:p>
        </p:txBody>
      </p:sp>
      <p:sp>
        <p:nvSpPr>
          <p:cNvPr id="24" name="Text 22"/>
          <p:cNvSpPr/>
          <p:nvPr/>
        </p:nvSpPr>
        <p:spPr>
          <a:xfrm>
            <a:off x="4928616" y="4142232"/>
            <a:ext cx="3749040" cy="658368"/>
          </a:xfrm>
          <a:prstGeom prst="rect">
            <a:avLst/>
          </a:prstGeom>
          <a:noFill/>
          <a:ln/>
        </p:spPr>
        <p:txBody>
          <a:bodyPr wrap="square" lIns="0" tIns="0" rIns="0" bIns="0" rtlCol="0" anchor="ctr"/>
          <a:lstStyle/>
          <a:p>
            <a:pPr indent="0" marL="0">
              <a:buNone/>
            </a:pPr>
            <a:r>
              <a:rPr lang="en-US" sz="1000" dirty="0">
                <a:solidFill>
                  <a:srgbClr val="FFFFFF"/>
                </a:solidFill>
              </a:rPr>
              <a:t>Precision/Recall only check whether held-out items resurface. A user might have liked other films too - online testing would give a truer picture.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50914"/>
          </a:solidFill>
          <a:ln w="12700">
            <a:solidFill>
              <a:srgbClr val="E50914"/>
            </a:solidFill>
            <a:prstDash val="solid"/>
          </a:ln>
        </p:spPr>
      </p:sp>
      <p:sp>
        <p:nvSpPr>
          <p:cNvPr id="3" name="Shape 1"/>
          <p:cNvSpPr/>
          <p:nvPr/>
        </p:nvSpPr>
        <p:spPr>
          <a:xfrm>
            <a:off x="0" y="5088636"/>
            <a:ext cx="9144000" cy="54864"/>
          </a:xfrm>
          <a:prstGeom prst="rect">
            <a:avLst/>
          </a:prstGeom>
          <a:solidFill>
            <a:srgbClr val="E50914"/>
          </a:solidFill>
          <a:ln w="12700">
            <a:solidFill>
              <a:srgbClr val="E50914"/>
            </a:solidFill>
            <a:prstDash val="solid"/>
          </a:ln>
        </p:spPr>
      </p:sp>
      <p:sp>
        <p:nvSpPr>
          <p:cNvPr id="4" name="Shape 2"/>
          <p:cNvSpPr/>
          <p:nvPr/>
        </p:nvSpPr>
        <p:spPr>
          <a:xfrm>
            <a:off x="164592" y="274320"/>
            <a:ext cx="201168" cy="320040"/>
          </a:xfrm>
          <a:prstGeom prst="roundRect">
            <a:avLst>
              <a:gd name="adj" fmla="val 18182"/>
            </a:avLst>
          </a:prstGeom>
          <a:solidFill>
            <a:srgbClr val="2A2A2A"/>
          </a:solidFill>
          <a:ln w="12700">
            <a:solidFill>
              <a:srgbClr val="333333"/>
            </a:solidFill>
            <a:prstDash val="solid"/>
          </a:ln>
        </p:spPr>
      </p:sp>
      <p:sp>
        <p:nvSpPr>
          <p:cNvPr id="5" name="Shape 3"/>
          <p:cNvSpPr/>
          <p:nvPr/>
        </p:nvSpPr>
        <p:spPr>
          <a:xfrm>
            <a:off x="8778240" y="274320"/>
            <a:ext cx="201168" cy="320040"/>
          </a:xfrm>
          <a:prstGeom prst="roundRect">
            <a:avLst>
              <a:gd name="adj" fmla="val 18182"/>
            </a:avLst>
          </a:prstGeom>
          <a:solidFill>
            <a:srgbClr val="2A2A2A"/>
          </a:solidFill>
          <a:ln w="12700">
            <a:solidFill>
              <a:srgbClr val="333333"/>
            </a:solidFill>
            <a:prstDash val="solid"/>
          </a:ln>
        </p:spPr>
      </p:sp>
      <p:sp>
        <p:nvSpPr>
          <p:cNvPr id="6" name="Shape 4"/>
          <p:cNvSpPr/>
          <p:nvPr/>
        </p:nvSpPr>
        <p:spPr>
          <a:xfrm>
            <a:off x="164592" y="804672"/>
            <a:ext cx="201168" cy="320040"/>
          </a:xfrm>
          <a:prstGeom prst="roundRect">
            <a:avLst>
              <a:gd name="adj" fmla="val 18182"/>
            </a:avLst>
          </a:prstGeom>
          <a:solidFill>
            <a:srgbClr val="2A2A2A"/>
          </a:solidFill>
          <a:ln w="12700">
            <a:solidFill>
              <a:srgbClr val="333333"/>
            </a:solidFill>
            <a:prstDash val="solid"/>
          </a:ln>
        </p:spPr>
      </p:sp>
      <p:sp>
        <p:nvSpPr>
          <p:cNvPr id="7" name="Shape 5"/>
          <p:cNvSpPr/>
          <p:nvPr/>
        </p:nvSpPr>
        <p:spPr>
          <a:xfrm>
            <a:off x="8778240" y="804672"/>
            <a:ext cx="201168" cy="320040"/>
          </a:xfrm>
          <a:prstGeom prst="roundRect">
            <a:avLst>
              <a:gd name="adj" fmla="val 18182"/>
            </a:avLst>
          </a:prstGeom>
          <a:solidFill>
            <a:srgbClr val="2A2A2A"/>
          </a:solidFill>
          <a:ln w="12700">
            <a:solidFill>
              <a:srgbClr val="333333"/>
            </a:solidFill>
            <a:prstDash val="solid"/>
          </a:ln>
        </p:spPr>
      </p:sp>
      <p:sp>
        <p:nvSpPr>
          <p:cNvPr id="8" name="Shape 6"/>
          <p:cNvSpPr/>
          <p:nvPr/>
        </p:nvSpPr>
        <p:spPr>
          <a:xfrm>
            <a:off x="164592" y="1335024"/>
            <a:ext cx="201168" cy="320040"/>
          </a:xfrm>
          <a:prstGeom prst="roundRect">
            <a:avLst>
              <a:gd name="adj" fmla="val 18182"/>
            </a:avLst>
          </a:prstGeom>
          <a:solidFill>
            <a:srgbClr val="2A2A2A"/>
          </a:solidFill>
          <a:ln w="12700">
            <a:solidFill>
              <a:srgbClr val="333333"/>
            </a:solidFill>
            <a:prstDash val="solid"/>
          </a:ln>
        </p:spPr>
      </p:sp>
      <p:sp>
        <p:nvSpPr>
          <p:cNvPr id="9" name="Shape 7"/>
          <p:cNvSpPr/>
          <p:nvPr/>
        </p:nvSpPr>
        <p:spPr>
          <a:xfrm>
            <a:off x="8778240" y="1335024"/>
            <a:ext cx="201168" cy="320040"/>
          </a:xfrm>
          <a:prstGeom prst="roundRect">
            <a:avLst>
              <a:gd name="adj" fmla="val 18182"/>
            </a:avLst>
          </a:prstGeom>
          <a:solidFill>
            <a:srgbClr val="2A2A2A"/>
          </a:solidFill>
          <a:ln w="12700">
            <a:solidFill>
              <a:srgbClr val="333333"/>
            </a:solidFill>
            <a:prstDash val="solid"/>
          </a:ln>
        </p:spPr>
      </p:sp>
      <p:sp>
        <p:nvSpPr>
          <p:cNvPr id="10" name="Shape 8"/>
          <p:cNvSpPr/>
          <p:nvPr/>
        </p:nvSpPr>
        <p:spPr>
          <a:xfrm>
            <a:off x="164592" y="1865376"/>
            <a:ext cx="201168" cy="320040"/>
          </a:xfrm>
          <a:prstGeom prst="roundRect">
            <a:avLst>
              <a:gd name="adj" fmla="val 18182"/>
            </a:avLst>
          </a:prstGeom>
          <a:solidFill>
            <a:srgbClr val="2A2A2A"/>
          </a:solidFill>
          <a:ln w="12700">
            <a:solidFill>
              <a:srgbClr val="333333"/>
            </a:solidFill>
            <a:prstDash val="solid"/>
          </a:ln>
        </p:spPr>
      </p:sp>
      <p:sp>
        <p:nvSpPr>
          <p:cNvPr id="11" name="Shape 9"/>
          <p:cNvSpPr/>
          <p:nvPr/>
        </p:nvSpPr>
        <p:spPr>
          <a:xfrm>
            <a:off x="8778240" y="1865376"/>
            <a:ext cx="201168" cy="320040"/>
          </a:xfrm>
          <a:prstGeom prst="roundRect">
            <a:avLst>
              <a:gd name="adj" fmla="val 18182"/>
            </a:avLst>
          </a:prstGeom>
          <a:solidFill>
            <a:srgbClr val="2A2A2A"/>
          </a:solidFill>
          <a:ln w="12700">
            <a:solidFill>
              <a:srgbClr val="333333"/>
            </a:solidFill>
            <a:prstDash val="solid"/>
          </a:ln>
        </p:spPr>
      </p:sp>
      <p:sp>
        <p:nvSpPr>
          <p:cNvPr id="12" name="Shape 10"/>
          <p:cNvSpPr/>
          <p:nvPr/>
        </p:nvSpPr>
        <p:spPr>
          <a:xfrm>
            <a:off x="164592" y="2395728"/>
            <a:ext cx="201168" cy="320040"/>
          </a:xfrm>
          <a:prstGeom prst="roundRect">
            <a:avLst>
              <a:gd name="adj" fmla="val 18182"/>
            </a:avLst>
          </a:prstGeom>
          <a:solidFill>
            <a:srgbClr val="2A2A2A"/>
          </a:solidFill>
          <a:ln w="12700">
            <a:solidFill>
              <a:srgbClr val="333333"/>
            </a:solidFill>
            <a:prstDash val="solid"/>
          </a:ln>
        </p:spPr>
      </p:sp>
      <p:sp>
        <p:nvSpPr>
          <p:cNvPr id="13" name="Shape 11"/>
          <p:cNvSpPr/>
          <p:nvPr/>
        </p:nvSpPr>
        <p:spPr>
          <a:xfrm>
            <a:off x="8778240" y="2395728"/>
            <a:ext cx="201168" cy="320040"/>
          </a:xfrm>
          <a:prstGeom prst="roundRect">
            <a:avLst>
              <a:gd name="adj" fmla="val 18182"/>
            </a:avLst>
          </a:prstGeom>
          <a:solidFill>
            <a:srgbClr val="2A2A2A"/>
          </a:solidFill>
          <a:ln w="12700">
            <a:solidFill>
              <a:srgbClr val="333333"/>
            </a:solidFill>
            <a:prstDash val="solid"/>
          </a:ln>
        </p:spPr>
      </p:sp>
      <p:sp>
        <p:nvSpPr>
          <p:cNvPr id="14" name="Shape 12"/>
          <p:cNvSpPr/>
          <p:nvPr/>
        </p:nvSpPr>
        <p:spPr>
          <a:xfrm>
            <a:off x="164592" y="2926080"/>
            <a:ext cx="201168" cy="320040"/>
          </a:xfrm>
          <a:prstGeom prst="roundRect">
            <a:avLst>
              <a:gd name="adj" fmla="val 18182"/>
            </a:avLst>
          </a:prstGeom>
          <a:solidFill>
            <a:srgbClr val="2A2A2A"/>
          </a:solidFill>
          <a:ln w="12700">
            <a:solidFill>
              <a:srgbClr val="333333"/>
            </a:solidFill>
            <a:prstDash val="solid"/>
          </a:ln>
        </p:spPr>
      </p:sp>
      <p:sp>
        <p:nvSpPr>
          <p:cNvPr id="15" name="Shape 13"/>
          <p:cNvSpPr/>
          <p:nvPr/>
        </p:nvSpPr>
        <p:spPr>
          <a:xfrm>
            <a:off x="8778240" y="2926080"/>
            <a:ext cx="201168" cy="320040"/>
          </a:xfrm>
          <a:prstGeom prst="roundRect">
            <a:avLst>
              <a:gd name="adj" fmla="val 18182"/>
            </a:avLst>
          </a:prstGeom>
          <a:solidFill>
            <a:srgbClr val="2A2A2A"/>
          </a:solidFill>
          <a:ln w="12700">
            <a:solidFill>
              <a:srgbClr val="333333"/>
            </a:solidFill>
            <a:prstDash val="solid"/>
          </a:ln>
        </p:spPr>
      </p:sp>
      <p:sp>
        <p:nvSpPr>
          <p:cNvPr id="16" name="Shape 14"/>
          <p:cNvSpPr/>
          <p:nvPr/>
        </p:nvSpPr>
        <p:spPr>
          <a:xfrm>
            <a:off x="164592" y="3456432"/>
            <a:ext cx="201168" cy="320040"/>
          </a:xfrm>
          <a:prstGeom prst="roundRect">
            <a:avLst>
              <a:gd name="adj" fmla="val 18182"/>
            </a:avLst>
          </a:prstGeom>
          <a:solidFill>
            <a:srgbClr val="2A2A2A"/>
          </a:solidFill>
          <a:ln w="12700">
            <a:solidFill>
              <a:srgbClr val="333333"/>
            </a:solidFill>
            <a:prstDash val="solid"/>
          </a:ln>
        </p:spPr>
      </p:sp>
      <p:sp>
        <p:nvSpPr>
          <p:cNvPr id="17" name="Shape 15"/>
          <p:cNvSpPr/>
          <p:nvPr/>
        </p:nvSpPr>
        <p:spPr>
          <a:xfrm>
            <a:off x="8778240" y="3456432"/>
            <a:ext cx="201168" cy="320040"/>
          </a:xfrm>
          <a:prstGeom prst="roundRect">
            <a:avLst>
              <a:gd name="adj" fmla="val 18182"/>
            </a:avLst>
          </a:prstGeom>
          <a:solidFill>
            <a:srgbClr val="2A2A2A"/>
          </a:solidFill>
          <a:ln w="12700">
            <a:solidFill>
              <a:srgbClr val="333333"/>
            </a:solidFill>
            <a:prstDash val="solid"/>
          </a:ln>
        </p:spPr>
      </p:sp>
      <p:sp>
        <p:nvSpPr>
          <p:cNvPr id="18" name="Shape 16"/>
          <p:cNvSpPr/>
          <p:nvPr/>
        </p:nvSpPr>
        <p:spPr>
          <a:xfrm>
            <a:off x="164592" y="3986784"/>
            <a:ext cx="201168" cy="320040"/>
          </a:xfrm>
          <a:prstGeom prst="roundRect">
            <a:avLst>
              <a:gd name="adj" fmla="val 18182"/>
            </a:avLst>
          </a:prstGeom>
          <a:solidFill>
            <a:srgbClr val="2A2A2A"/>
          </a:solidFill>
          <a:ln w="12700">
            <a:solidFill>
              <a:srgbClr val="333333"/>
            </a:solidFill>
            <a:prstDash val="solid"/>
          </a:ln>
        </p:spPr>
      </p:sp>
      <p:sp>
        <p:nvSpPr>
          <p:cNvPr id="19" name="Shape 17"/>
          <p:cNvSpPr/>
          <p:nvPr/>
        </p:nvSpPr>
        <p:spPr>
          <a:xfrm>
            <a:off x="8778240" y="3986784"/>
            <a:ext cx="201168" cy="320040"/>
          </a:xfrm>
          <a:prstGeom prst="roundRect">
            <a:avLst>
              <a:gd name="adj" fmla="val 18182"/>
            </a:avLst>
          </a:prstGeom>
          <a:solidFill>
            <a:srgbClr val="2A2A2A"/>
          </a:solidFill>
          <a:ln w="12700">
            <a:solidFill>
              <a:srgbClr val="333333"/>
            </a:solidFill>
            <a:prstDash val="solid"/>
          </a:ln>
        </p:spPr>
      </p:sp>
      <p:sp>
        <p:nvSpPr>
          <p:cNvPr id="20" name="Shape 18"/>
          <p:cNvSpPr/>
          <p:nvPr/>
        </p:nvSpPr>
        <p:spPr>
          <a:xfrm>
            <a:off x="164592" y="4517136"/>
            <a:ext cx="201168" cy="320040"/>
          </a:xfrm>
          <a:prstGeom prst="roundRect">
            <a:avLst>
              <a:gd name="adj" fmla="val 18182"/>
            </a:avLst>
          </a:prstGeom>
          <a:solidFill>
            <a:srgbClr val="2A2A2A"/>
          </a:solidFill>
          <a:ln w="12700">
            <a:solidFill>
              <a:srgbClr val="333333"/>
            </a:solidFill>
            <a:prstDash val="solid"/>
          </a:ln>
        </p:spPr>
      </p:sp>
      <p:sp>
        <p:nvSpPr>
          <p:cNvPr id="21" name="Shape 19"/>
          <p:cNvSpPr/>
          <p:nvPr/>
        </p:nvSpPr>
        <p:spPr>
          <a:xfrm>
            <a:off x="8778240" y="4517136"/>
            <a:ext cx="201168" cy="320040"/>
          </a:xfrm>
          <a:prstGeom prst="roundRect">
            <a:avLst>
              <a:gd name="adj" fmla="val 18182"/>
            </a:avLst>
          </a:prstGeom>
          <a:solidFill>
            <a:srgbClr val="2A2A2A"/>
          </a:solidFill>
          <a:ln w="12700">
            <a:solidFill>
              <a:srgbClr val="333333"/>
            </a:solidFill>
            <a:prstDash val="solid"/>
          </a:ln>
        </p:spPr>
      </p:sp>
      <p:sp>
        <p:nvSpPr>
          <p:cNvPr id="22" name="Shape 20"/>
          <p:cNvSpPr/>
          <p:nvPr/>
        </p:nvSpPr>
        <p:spPr>
          <a:xfrm>
            <a:off x="457200" y="164592"/>
            <a:ext cx="1463040" cy="256032"/>
          </a:xfrm>
          <a:prstGeom prst="roundRect">
            <a:avLst>
              <a:gd name="adj" fmla="val 50000"/>
            </a:avLst>
          </a:prstGeom>
          <a:solidFill>
            <a:srgbClr val="E50914"/>
          </a:solidFill>
          <a:ln w="12700">
            <a:solidFill>
              <a:srgbClr val="E50914"/>
            </a:solidFill>
            <a:prstDash val="solid"/>
          </a:ln>
        </p:spPr>
      </p:sp>
      <p:sp>
        <p:nvSpPr>
          <p:cNvPr id="23" name="Text 21"/>
          <p:cNvSpPr/>
          <p:nvPr/>
        </p:nvSpPr>
        <p:spPr>
          <a:xfrm>
            <a:off x="457200" y="164592"/>
            <a:ext cx="1463040" cy="256032"/>
          </a:xfrm>
          <a:prstGeom prst="rect">
            <a:avLst/>
          </a:prstGeom>
          <a:noFill/>
          <a:ln/>
        </p:spPr>
        <p:txBody>
          <a:bodyPr wrap="square" lIns="0" tIns="0" rIns="0" bIns="0" rtlCol="0" anchor="ctr"/>
          <a:lstStyle/>
          <a:p>
            <a:pPr algn="ctr" indent="0" marL="0">
              <a:buNone/>
            </a:pPr>
            <a:r>
              <a:rPr lang="en-US" sz="700" b="1" dirty="0">
                <a:solidFill>
                  <a:srgbClr val="FFFFFF"/>
                </a:solidFill>
              </a:rPr>
              <a:t>CONCLUSION</a:t>
            </a:r>
            <a:endParaRPr lang="en-US" sz="700" dirty="0"/>
          </a:p>
        </p:txBody>
      </p:sp>
      <p:sp>
        <p:nvSpPr>
          <p:cNvPr id="24" name="Text 22"/>
          <p:cNvSpPr/>
          <p:nvPr/>
        </p:nvSpPr>
        <p:spPr>
          <a:xfrm>
            <a:off x="457200" y="475488"/>
            <a:ext cx="8229600" cy="50292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Conclusion</a:t>
            </a:r>
            <a:endParaRPr lang="en-US" sz="3000" dirty="0"/>
          </a:p>
        </p:txBody>
      </p:sp>
      <p:sp>
        <p:nvSpPr>
          <p:cNvPr id="25" name="Shape 23"/>
          <p:cNvSpPr/>
          <p:nvPr/>
        </p:nvSpPr>
        <p:spPr>
          <a:xfrm>
            <a:off x="457200" y="1097280"/>
            <a:ext cx="4937760" cy="2103120"/>
          </a:xfrm>
          <a:prstGeom prst="roundRect">
            <a:avLst>
              <a:gd name="adj" fmla="val 5217"/>
            </a:avLst>
          </a:prstGeom>
          <a:solidFill>
            <a:srgbClr val="1E1E1E"/>
          </a:solidFill>
          <a:ln w="12700">
            <a:solidFill>
              <a:srgbClr val="2A2A2A"/>
            </a:solidFill>
            <a:prstDash val="solid"/>
          </a:ln>
          <a:effectLst>
            <a:outerShdw sx="100000" sy="100000" kx="0" ky="0" algn="bl" rotWithShape="0" blurRad="127000" dist="38100" dir="2700000">
              <a:srgbClr val="000000">
                <a:alpha val="40000"/>
              </a:srgbClr>
            </a:outerShdw>
          </a:effectLst>
        </p:spPr>
      </p:sp>
      <p:sp>
        <p:nvSpPr>
          <p:cNvPr id="26" name="Text 24"/>
          <p:cNvSpPr/>
          <p:nvPr/>
        </p:nvSpPr>
        <p:spPr>
          <a:xfrm>
            <a:off x="640080" y="1188720"/>
            <a:ext cx="4572000" cy="292608"/>
          </a:xfrm>
          <a:prstGeom prst="rect">
            <a:avLst/>
          </a:prstGeom>
          <a:noFill/>
          <a:ln/>
        </p:spPr>
        <p:txBody>
          <a:bodyPr wrap="square" lIns="0" tIns="0" rIns="0" bIns="0" rtlCol="0" anchor="ctr"/>
          <a:lstStyle/>
          <a:p>
            <a:pPr indent="0" marL="0">
              <a:buNone/>
            </a:pPr>
            <a:r>
              <a:rPr lang="en-US" sz="1300" b="1" dirty="0">
                <a:solidFill>
                  <a:srgbClr val="E50914"/>
                </a:solidFill>
              </a:rPr>
              <a:t>What was built</a:t>
            </a:r>
            <a:endParaRPr lang="en-US" sz="1300" dirty="0"/>
          </a:p>
        </p:txBody>
      </p:sp>
      <p:sp>
        <p:nvSpPr>
          <p:cNvPr id="27" name="Text 25"/>
          <p:cNvSpPr/>
          <p:nvPr/>
        </p:nvSpPr>
        <p:spPr>
          <a:xfrm>
            <a:off x="640080" y="1536192"/>
            <a:ext cx="4572000" cy="274320"/>
          </a:xfrm>
          <a:prstGeom prst="rect">
            <a:avLst/>
          </a:prstGeom>
          <a:noFill/>
          <a:ln/>
        </p:spPr>
        <p:txBody>
          <a:bodyPr wrap="square" lIns="0" tIns="0" rIns="0" bIns="0" rtlCol="0" anchor="ctr"/>
          <a:lstStyle/>
          <a:p>
            <a:pPr indent="0" marL="0">
              <a:buNone/>
            </a:pPr>
            <a:r>
              <a:rPr lang="en-US" sz="1050" b="1" dirty="0">
                <a:solidFill>
                  <a:srgbClr val="E50914"/>
                </a:solidFill>
              </a:rPr>
              <a:t>+ </a:t>
            </a:r>
            <a:pPr indent="0" marL="0">
              <a:buNone/>
            </a:pPr>
            <a:r>
              <a:rPr lang="en-US" sz="1050" dirty="0">
                <a:solidFill>
                  <a:srgbClr val="FFFFFF"/>
                </a:solidFill>
              </a:rPr>
              <a:t>Full Streamlit prototype on MovieLens ml-latest-small</a:t>
            </a:r>
            <a:endParaRPr lang="en-US" sz="1050" dirty="0"/>
          </a:p>
        </p:txBody>
      </p:sp>
      <p:sp>
        <p:nvSpPr>
          <p:cNvPr id="28" name="Text 26"/>
          <p:cNvSpPr/>
          <p:nvPr/>
        </p:nvSpPr>
        <p:spPr>
          <a:xfrm>
            <a:off x="640080" y="1847088"/>
            <a:ext cx="4572000" cy="274320"/>
          </a:xfrm>
          <a:prstGeom prst="rect">
            <a:avLst/>
          </a:prstGeom>
          <a:noFill/>
          <a:ln/>
        </p:spPr>
        <p:txBody>
          <a:bodyPr wrap="square" lIns="0" tIns="0" rIns="0" bIns="0" rtlCol="0" anchor="ctr"/>
          <a:lstStyle/>
          <a:p>
            <a:pPr indent="0" marL="0">
              <a:buNone/>
            </a:pPr>
            <a:r>
              <a:rPr lang="en-US" sz="1050" b="1" dirty="0">
                <a:solidFill>
                  <a:srgbClr val="E50914"/>
                </a:solidFill>
              </a:rPr>
              <a:t>+ </a:t>
            </a:r>
            <a:pPr indent="0" marL="0">
              <a:buNone/>
            </a:pPr>
            <a:r>
              <a:rPr lang="en-US" sz="1050" dirty="0">
                <a:solidFill>
                  <a:srgbClr val="FFFFFF"/>
                </a:solidFill>
              </a:rPr>
              <a:t>4 recommendation approaches + 3 non-personalised baselines</a:t>
            </a:r>
            <a:endParaRPr lang="en-US" sz="1050" dirty="0"/>
          </a:p>
        </p:txBody>
      </p:sp>
      <p:sp>
        <p:nvSpPr>
          <p:cNvPr id="29" name="Text 27"/>
          <p:cNvSpPr/>
          <p:nvPr/>
        </p:nvSpPr>
        <p:spPr>
          <a:xfrm>
            <a:off x="640080" y="2157984"/>
            <a:ext cx="4572000" cy="274320"/>
          </a:xfrm>
          <a:prstGeom prst="rect">
            <a:avLst/>
          </a:prstGeom>
          <a:noFill/>
          <a:ln/>
        </p:spPr>
        <p:txBody>
          <a:bodyPr wrap="square" lIns="0" tIns="0" rIns="0" bIns="0" rtlCol="0" anchor="ctr"/>
          <a:lstStyle/>
          <a:p>
            <a:pPr indent="0" marL="0">
              <a:buNone/>
            </a:pPr>
            <a:r>
              <a:rPr lang="en-US" sz="1050" b="1" dirty="0">
                <a:solidFill>
                  <a:srgbClr val="E50914"/>
                </a:solidFill>
              </a:rPr>
              <a:t>+ </a:t>
            </a:r>
            <a:pPr indent="0" marL="0">
              <a:buNone/>
            </a:pPr>
            <a:r>
              <a:rPr lang="en-US" sz="1050" dirty="0">
                <a:solidFill>
                  <a:srgbClr val="FFFFFF"/>
                </a:solidFill>
              </a:rPr>
              <a:t>Cosine + Pearson similarity options in CF</a:t>
            </a:r>
            <a:endParaRPr lang="en-US" sz="1050" dirty="0"/>
          </a:p>
        </p:txBody>
      </p:sp>
      <p:sp>
        <p:nvSpPr>
          <p:cNvPr id="30" name="Text 28"/>
          <p:cNvSpPr/>
          <p:nvPr/>
        </p:nvSpPr>
        <p:spPr>
          <a:xfrm>
            <a:off x="640080" y="2468880"/>
            <a:ext cx="4572000" cy="274320"/>
          </a:xfrm>
          <a:prstGeom prst="rect">
            <a:avLst/>
          </a:prstGeom>
          <a:noFill/>
          <a:ln/>
        </p:spPr>
        <p:txBody>
          <a:bodyPr wrap="square" lIns="0" tIns="0" rIns="0" bIns="0" rtlCol="0" anchor="ctr"/>
          <a:lstStyle/>
          <a:p>
            <a:pPr indent="0" marL="0">
              <a:buNone/>
            </a:pPr>
            <a:r>
              <a:rPr lang="en-US" sz="1050" b="1" dirty="0">
                <a:solidFill>
                  <a:srgbClr val="E50914"/>
                </a:solidFill>
              </a:rPr>
              <a:t>+ </a:t>
            </a:r>
            <a:pPr indent="0" marL="0">
              <a:buNone/>
            </a:pPr>
            <a:r>
              <a:rPr lang="en-US" sz="1050" dirty="0">
                <a:solidFill>
                  <a:srgbClr val="FFFFFF"/>
                </a:solidFill>
              </a:rPr>
              <a:t>5 evaluation metrics: Precision, Recall, NDCG, Diversity, Novelty</a:t>
            </a:r>
            <a:endParaRPr lang="en-US" sz="1050" dirty="0"/>
          </a:p>
        </p:txBody>
      </p:sp>
      <p:sp>
        <p:nvSpPr>
          <p:cNvPr id="31" name="Text 29"/>
          <p:cNvSpPr/>
          <p:nvPr/>
        </p:nvSpPr>
        <p:spPr>
          <a:xfrm>
            <a:off x="640080" y="2779776"/>
            <a:ext cx="4572000" cy="274320"/>
          </a:xfrm>
          <a:prstGeom prst="rect">
            <a:avLst/>
          </a:prstGeom>
          <a:noFill/>
          <a:ln/>
        </p:spPr>
        <p:txBody>
          <a:bodyPr wrap="square" lIns="0" tIns="0" rIns="0" bIns="0" rtlCol="0" anchor="ctr"/>
          <a:lstStyle/>
          <a:p>
            <a:pPr indent="0" marL="0">
              <a:buNone/>
            </a:pPr>
            <a:r>
              <a:rPr lang="en-US" sz="1050" b="1" dirty="0">
                <a:solidFill>
                  <a:srgbClr val="E50914"/>
                </a:solidFill>
              </a:rPr>
              <a:t>+ </a:t>
            </a:r>
            <a:pPr indent="0" marL="0">
              <a:buNone/>
            </a:pPr>
            <a:r>
              <a:rPr lang="en-US" sz="1050" dirty="0">
                <a:solidFill>
                  <a:srgbClr val="FFFFFF"/>
                </a:solidFill>
              </a:rPr>
              <a:t>Side-by-side comparison for 3 users across all algorithms</a:t>
            </a:r>
            <a:endParaRPr lang="en-US" sz="1050" dirty="0"/>
          </a:p>
        </p:txBody>
      </p:sp>
      <p:sp>
        <p:nvSpPr>
          <p:cNvPr id="32" name="Shape 30"/>
          <p:cNvSpPr/>
          <p:nvPr/>
        </p:nvSpPr>
        <p:spPr>
          <a:xfrm>
            <a:off x="5577840" y="1097280"/>
            <a:ext cx="3246120" cy="2103120"/>
          </a:xfrm>
          <a:prstGeom prst="roundRect">
            <a:avLst>
              <a:gd name="adj" fmla="val 5217"/>
            </a:avLst>
          </a:prstGeom>
          <a:solidFill>
            <a:srgbClr val="1E1E1E"/>
          </a:solidFill>
          <a:ln w="12700">
            <a:solidFill>
              <a:srgbClr val="2A2A2A"/>
            </a:solidFill>
            <a:prstDash val="solid"/>
          </a:ln>
          <a:effectLst>
            <a:outerShdw sx="100000" sy="100000" kx="0" ky="0" algn="bl" rotWithShape="0" blurRad="127000" dist="38100" dir="2700000">
              <a:srgbClr val="000000">
                <a:alpha val="40000"/>
              </a:srgbClr>
            </a:outerShdw>
          </a:effectLst>
        </p:spPr>
      </p:sp>
      <p:sp>
        <p:nvSpPr>
          <p:cNvPr id="33" name="Text 31"/>
          <p:cNvSpPr/>
          <p:nvPr/>
        </p:nvSpPr>
        <p:spPr>
          <a:xfrm>
            <a:off x="5760720" y="1188720"/>
            <a:ext cx="2926080" cy="292608"/>
          </a:xfrm>
          <a:prstGeom prst="rect">
            <a:avLst/>
          </a:prstGeom>
          <a:noFill/>
          <a:ln/>
        </p:spPr>
        <p:txBody>
          <a:bodyPr wrap="square" lIns="0" tIns="0" rIns="0" bIns="0" rtlCol="0" anchor="ctr"/>
          <a:lstStyle/>
          <a:p>
            <a:pPr indent="0" marL="0">
              <a:buNone/>
            </a:pPr>
            <a:r>
              <a:rPr lang="en-US" sz="1300" b="1" dirty="0">
                <a:solidFill>
                  <a:srgbClr val="E50914"/>
                </a:solidFill>
              </a:rPr>
              <a:t>Extensions added + why</a:t>
            </a:r>
            <a:endParaRPr lang="en-US" sz="1300" dirty="0"/>
          </a:p>
        </p:txBody>
      </p:sp>
      <p:sp>
        <p:nvSpPr>
          <p:cNvPr id="34" name="Text 32"/>
          <p:cNvSpPr/>
          <p:nvPr/>
        </p:nvSpPr>
        <p:spPr>
          <a:xfrm>
            <a:off x="5760720" y="1536192"/>
            <a:ext cx="2971800" cy="237744"/>
          </a:xfrm>
          <a:prstGeom prst="rect">
            <a:avLst/>
          </a:prstGeom>
          <a:noFill/>
          <a:ln/>
        </p:spPr>
        <p:txBody>
          <a:bodyPr wrap="square" lIns="0" tIns="0" rIns="0" bIns="0" rtlCol="0" anchor="ctr"/>
          <a:lstStyle/>
          <a:p>
            <a:pPr indent="0" marL="0">
              <a:buNone/>
            </a:pPr>
            <a:r>
              <a:rPr lang="en-US" sz="1000" b="1" dirty="0">
                <a:solidFill>
                  <a:srgbClr val="E50914"/>
                </a:solidFill>
              </a:rPr>
              <a:t>Streamlit UI </a:t>
            </a:r>
            <a:pPr indent="0" marL="0">
              <a:buNone/>
            </a:pPr>
            <a:r>
              <a:rPr lang="en-US" sz="1000" dirty="0">
                <a:solidFill>
                  <a:srgbClr val="B3B3B3"/>
                </a:solidFill>
              </a:rPr>
              <a:t>- interactive demo, not just a script</a:t>
            </a:r>
            <a:endParaRPr lang="en-US" sz="1000" dirty="0"/>
          </a:p>
        </p:txBody>
      </p:sp>
      <p:sp>
        <p:nvSpPr>
          <p:cNvPr id="35" name="Text 33"/>
          <p:cNvSpPr/>
          <p:nvPr/>
        </p:nvSpPr>
        <p:spPr>
          <a:xfrm>
            <a:off x="5760720" y="1810512"/>
            <a:ext cx="2971800" cy="237744"/>
          </a:xfrm>
          <a:prstGeom prst="rect">
            <a:avLst/>
          </a:prstGeom>
          <a:noFill/>
          <a:ln/>
        </p:spPr>
        <p:txBody>
          <a:bodyPr wrap="square" lIns="0" tIns="0" rIns="0" bIns="0" rtlCol="0" anchor="ctr"/>
          <a:lstStyle/>
          <a:p>
            <a:pPr indent="0" marL="0">
              <a:buNone/>
            </a:pPr>
            <a:r>
              <a:rPr lang="en-US" sz="1000" b="1" dirty="0">
                <a:solidFill>
                  <a:srgbClr val="E50914"/>
                </a:solidFill>
              </a:rPr>
              <a:t>Pearson sim </a:t>
            </a:r>
            <a:pPr indent="0" marL="0">
              <a:buNone/>
            </a:pPr>
            <a:r>
              <a:rPr lang="en-US" sz="1000" dirty="0">
                <a:solidFill>
                  <a:srgbClr val="B3B3B3"/>
                </a:solidFill>
              </a:rPr>
              <a:t>- corrects for rating scale bias</a:t>
            </a:r>
            <a:endParaRPr lang="en-US" sz="1000" dirty="0"/>
          </a:p>
        </p:txBody>
      </p:sp>
      <p:sp>
        <p:nvSpPr>
          <p:cNvPr id="36" name="Text 34"/>
          <p:cNvSpPr/>
          <p:nvPr/>
        </p:nvSpPr>
        <p:spPr>
          <a:xfrm>
            <a:off x="5760720" y="2084832"/>
            <a:ext cx="2971800" cy="237744"/>
          </a:xfrm>
          <a:prstGeom prst="rect">
            <a:avLst/>
          </a:prstGeom>
          <a:noFill/>
          <a:ln/>
        </p:spPr>
        <p:txBody>
          <a:bodyPr wrap="square" lIns="0" tIns="0" rIns="0" bIns="0" rtlCol="0" anchor="ctr"/>
          <a:lstStyle/>
          <a:p>
            <a:pPr indent="0" marL="0">
              <a:buNone/>
            </a:pPr>
            <a:r>
              <a:rPr lang="en-US" sz="1000" b="1" dirty="0">
                <a:solidFill>
                  <a:srgbClr val="E50914"/>
                </a:solidFill>
              </a:rPr>
              <a:t>Diversity </a:t>
            </a:r>
            <a:pPr indent="0" marL="0">
              <a:buNone/>
            </a:pPr>
            <a:r>
              <a:rPr lang="en-US" sz="1000" dirty="0">
                <a:solidFill>
                  <a:srgbClr val="B3B3B3"/>
                </a:solidFill>
              </a:rPr>
              <a:t>- catches when all 10 recs are the same genre</a:t>
            </a:r>
            <a:endParaRPr lang="en-US" sz="1000" dirty="0"/>
          </a:p>
        </p:txBody>
      </p:sp>
      <p:sp>
        <p:nvSpPr>
          <p:cNvPr id="37" name="Text 35"/>
          <p:cNvSpPr/>
          <p:nvPr/>
        </p:nvSpPr>
        <p:spPr>
          <a:xfrm>
            <a:off x="5760720" y="2359152"/>
            <a:ext cx="2971800" cy="237744"/>
          </a:xfrm>
          <a:prstGeom prst="rect">
            <a:avLst/>
          </a:prstGeom>
          <a:noFill/>
          <a:ln/>
        </p:spPr>
        <p:txBody>
          <a:bodyPr wrap="square" lIns="0" tIns="0" rIns="0" bIns="0" rtlCol="0" anchor="ctr"/>
          <a:lstStyle/>
          <a:p>
            <a:pPr indent="0" marL="0">
              <a:buNone/>
            </a:pPr>
            <a:r>
              <a:rPr lang="en-US" sz="1000" b="1" dirty="0">
                <a:solidFill>
                  <a:srgbClr val="E50914"/>
                </a:solidFill>
              </a:rPr>
              <a:t>Novelty </a:t>
            </a:r>
            <a:pPr indent="0" marL="0">
              <a:buNone/>
            </a:pPr>
            <a:r>
              <a:rPr lang="en-US" sz="1000" dirty="0">
                <a:solidFill>
                  <a:srgbClr val="B3B3B3"/>
                </a:solidFill>
              </a:rPr>
              <a:t>- measures how niche vs. mainstream the recs are</a:t>
            </a:r>
            <a:endParaRPr lang="en-US" sz="1000" dirty="0"/>
          </a:p>
        </p:txBody>
      </p:sp>
      <p:sp>
        <p:nvSpPr>
          <p:cNvPr id="38" name="Text 36"/>
          <p:cNvSpPr/>
          <p:nvPr/>
        </p:nvSpPr>
        <p:spPr>
          <a:xfrm>
            <a:off x="5760720" y="2633472"/>
            <a:ext cx="2971800" cy="237744"/>
          </a:xfrm>
          <a:prstGeom prst="rect">
            <a:avLst/>
          </a:prstGeom>
          <a:noFill/>
          <a:ln/>
        </p:spPr>
        <p:txBody>
          <a:bodyPr wrap="square" lIns="0" tIns="0" rIns="0" bIns="0" rtlCol="0" anchor="ctr"/>
          <a:lstStyle/>
          <a:p>
            <a:pPr indent="0" marL="0">
              <a:buNone/>
            </a:pPr>
            <a:r>
              <a:rPr lang="en-US" sz="1000" b="1" dirty="0">
                <a:solidFill>
                  <a:srgbClr val="E50914"/>
                </a:solidFill>
              </a:rPr>
              <a:t>Bayesian avg </a:t>
            </a:r>
            <a:pPr indent="0" marL="0">
              <a:buNone/>
            </a:pPr>
            <a:r>
              <a:rPr lang="en-US" sz="1000" dirty="0">
                <a:solidFill>
                  <a:srgbClr val="B3B3B3"/>
                </a:solidFill>
              </a:rPr>
              <a:t>- fairer ranking for movies with few votes</a:t>
            </a:r>
            <a:endParaRPr lang="en-US" sz="1000" dirty="0"/>
          </a:p>
        </p:txBody>
      </p:sp>
      <p:sp>
        <p:nvSpPr>
          <p:cNvPr id="39" name="Text 37"/>
          <p:cNvSpPr/>
          <p:nvPr/>
        </p:nvSpPr>
        <p:spPr>
          <a:xfrm>
            <a:off x="5760720" y="2907792"/>
            <a:ext cx="2971800" cy="237744"/>
          </a:xfrm>
          <a:prstGeom prst="rect">
            <a:avLst/>
          </a:prstGeom>
          <a:noFill/>
          <a:ln/>
        </p:spPr>
        <p:txBody>
          <a:bodyPr wrap="square" lIns="0" tIns="0" rIns="0" bIns="0" rtlCol="0" anchor="ctr"/>
          <a:lstStyle/>
          <a:p>
            <a:pPr indent="0" marL="0">
              <a:buNone/>
            </a:pPr>
            <a:r>
              <a:rPr lang="en-US" sz="1000" b="1" dirty="0">
                <a:solidFill>
                  <a:srgbClr val="E50914"/>
                </a:solidFill>
              </a:rPr>
              <a:t>Genre filter </a:t>
            </a:r>
            <a:pPr indent="0" marL="0">
              <a:buNone/>
            </a:pPr>
            <a:r>
              <a:rPr lang="en-US" sz="1000" dirty="0">
                <a:solidFill>
                  <a:srgbClr val="B3B3B3"/>
                </a:solidFill>
              </a:rPr>
              <a:t>- lets users explore non-personalised recs by genre</a:t>
            </a:r>
            <a:endParaRPr lang="en-US" sz="1000" dirty="0"/>
          </a:p>
        </p:txBody>
      </p:sp>
      <p:sp>
        <p:nvSpPr>
          <p:cNvPr id="40" name="Shape 38"/>
          <p:cNvSpPr/>
          <p:nvPr/>
        </p:nvSpPr>
        <p:spPr>
          <a:xfrm>
            <a:off x="457200" y="3364992"/>
            <a:ext cx="8366760" cy="1417320"/>
          </a:xfrm>
          <a:prstGeom prst="roundRect">
            <a:avLst>
              <a:gd name="adj" fmla="val 7742"/>
            </a:avLst>
          </a:prstGeom>
          <a:solidFill>
            <a:srgbClr val="1E1E1E"/>
          </a:solidFill>
          <a:ln w="12700">
            <a:solidFill>
              <a:srgbClr val="2A2A2A"/>
            </a:solidFill>
            <a:prstDash val="solid"/>
          </a:ln>
          <a:effectLst>
            <a:outerShdw sx="100000" sy="100000" kx="0" ky="0" algn="bl" rotWithShape="0" blurRad="127000" dist="38100" dir="2700000">
              <a:srgbClr val="000000">
                <a:alpha val="40000"/>
              </a:srgbClr>
            </a:outerShdw>
          </a:effectLst>
        </p:spPr>
      </p:sp>
      <p:sp>
        <p:nvSpPr>
          <p:cNvPr id="41" name="Text 39"/>
          <p:cNvSpPr/>
          <p:nvPr/>
        </p:nvSpPr>
        <p:spPr>
          <a:xfrm>
            <a:off x="640080" y="3456432"/>
            <a:ext cx="7955280" cy="292608"/>
          </a:xfrm>
          <a:prstGeom prst="rect">
            <a:avLst/>
          </a:prstGeom>
          <a:noFill/>
          <a:ln/>
        </p:spPr>
        <p:txBody>
          <a:bodyPr wrap="square" lIns="0" tIns="0" rIns="0" bIns="0" rtlCol="0" anchor="ctr"/>
          <a:lstStyle/>
          <a:p>
            <a:pPr indent="0" marL="0">
              <a:buNone/>
            </a:pPr>
            <a:r>
              <a:rPr lang="en-US" sz="1300" b="1" dirty="0">
                <a:solidFill>
                  <a:srgbClr val="E50914"/>
                </a:solidFill>
              </a:rPr>
              <a:t>Key takeaway</a:t>
            </a:r>
            <a:endParaRPr lang="en-US" sz="1300" dirty="0"/>
          </a:p>
        </p:txBody>
      </p:sp>
      <p:sp>
        <p:nvSpPr>
          <p:cNvPr id="42" name="Text 40"/>
          <p:cNvSpPr/>
          <p:nvPr/>
        </p:nvSpPr>
        <p:spPr>
          <a:xfrm>
            <a:off x="640080" y="3785616"/>
            <a:ext cx="7955280" cy="868680"/>
          </a:xfrm>
          <a:prstGeom prst="rect">
            <a:avLst/>
          </a:prstGeom>
          <a:noFill/>
          <a:ln/>
        </p:spPr>
        <p:txBody>
          <a:bodyPr wrap="square" lIns="0" tIns="0" rIns="0" bIns="0" rtlCol="0" anchor="ctr"/>
          <a:lstStyle/>
          <a:p>
            <a:pPr indent="0" marL="0">
              <a:buNone/>
            </a:pPr>
            <a:r>
              <a:rPr lang="en-US" sz="1100" dirty="0">
                <a:solidFill>
                  <a:srgbClr val="FFFFFF"/>
                </a:solidFill>
              </a:rPr>
              <a:t>No method wins on all metrics. CF scores highest on accuracy but favours popular items. Content-based finds niche picks with higher novelty. MF sits in between. The right choice depends on what matters more: hitting relevant items or surfacing something the user would not have found on their own.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MovieLens Recommender System</dc:title>
  <dc:subject>PptxGenJS Presentation</dc:subject>
  <dc:creator>Esade</dc:creator>
  <cp:lastModifiedBy>Esade</cp:lastModifiedBy>
  <cp:revision>1</cp:revision>
  <dcterms:created xsi:type="dcterms:W3CDTF">2026-06-30T10:57:42Z</dcterms:created>
  <dcterms:modified xsi:type="dcterms:W3CDTF">2026-06-30T10:57:42Z</dcterms:modified>
</cp:coreProperties>
</file>